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685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9" d="100"/>
          <a:sy n="49" d="100"/>
        </p:scale>
        <p:origin x="212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E90FD-6F4F-E0A3-134D-8A5D60F56B88}"/>
              </a:ext>
            </a:extLst>
          </p:cNvPr>
          <p:cNvSpPr>
            <a:spLocks noGrp="1"/>
          </p:cNvSpPr>
          <p:nvPr>
            <p:ph type="ctrTitle"/>
          </p:nvPr>
        </p:nvSpPr>
        <p:spPr>
          <a:xfrm>
            <a:off x="857250" y="1683545"/>
            <a:ext cx="5143500" cy="3581400"/>
          </a:xfrm>
        </p:spPr>
        <p:txBody>
          <a:bodyPr anchor="b"/>
          <a:lstStyle>
            <a:lvl1pPr algn="ctr">
              <a:defRPr sz="3375"/>
            </a:lvl1pPr>
          </a:lstStyle>
          <a:p>
            <a:r>
              <a:rPr lang="en-US"/>
              <a:t>Click to edit Master title style</a:t>
            </a:r>
            <a:endParaRPr lang="en-AU"/>
          </a:p>
        </p:txBody>
      </p:sp>
      <p:sp>
        <p:nvSpPr>
          <p:cNvPr id="3" name="Subtitle 2">
            <a:extLst>
              <a:ext uri="{FF2B5EF4-FFF2-40B4-BE49-F238E27FC236}">
                <a16:creationId xmlns:a16="http://schemas.microsoft.com/office/drawing/2014/main" id="{D4E846B0-AC04-9954-0BE9-3ABB78E33FED}"/>
              </a:ext>
            </a:extLst>
          </p:cNvPr>
          <p:cNvSpPr>
            <a:spLocks noGrp="1"/>
          </p:cNvSpPr>
          <p:nvPr>
            <p:ph type="subTitle" idx="1"/>
          </p:nvPr>
        </p:nvSpPr>
        <p:spPr>
          <a:xfrm>
            <a:off x="857250" y="5403057"/>
            <a:ext cx="5143500" cy="2483643"/>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7B56681-F42B-B3BE-A7C0-2D38455894D9}"/>
              </a:ext>
            </a:extLst>
          </p:cNvPr>
          <p:cNvSpPr>
            <a:spLocks noGrp="1"/>
          </p:cNvSpPr>
          <p:nvPr>
            <p:ph type="dt" sz="half" idx="10"/>
          </p:nvPr>
        </p:nvSpPr>
        <p:spPr/>
        <p:txBody>
          <a:bodyPr/>
          <a:lstStyle/>
          <a:p>
            <a:fld id="{97F4198F-1954-4C15-88DC-809F34E01C6F}" type="datetimeFigureOut">
              <a:rPr lang="en-AU" smtClean="0"/>
              <a:t>11/06/2026</a:t>
            </a:fld>
            <a:endParaRPr lang="en-AU"/>
          </a:p>
        </p:txBody>
      </p:sp>
      <p:sp>
        <p:nvSpPr>
          <p:cNvPr id="5" name="Footer Placeholder 4">
            <a:extLst>
              <a:ext uri="{FF2B5EF4-FFF2-40B4-BE49-F238E27FC236}">
                <a16:creationId xmlns:a16="http://schemas.microsoft.com/office/drawing/2014/main" id="{6F6E5F8F-7F11-2A7D-926B-C3287D19129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6266FE0-BB52-DDE7-033E-4DF6CCB4284C}"/>
              </a:ext>
            </a:extLst>
          </p:cNvPr>
          <p:cNvSpPr>
            <a:spLocks noGrp="1"/>
          </p:cNvSpPr>
          <p:nvPr>
            <p:ph type="sldNum" sz="quarter" idx="12"/>
          </p:nvPr>
        </p:nvSpPr>
        <p:spPr/>
        <p:txBody>
          <a:bodyPr/>
          <a:lstStyle/>
          <a:p>
            <a:fld id="{4AF58E3D-9623-404F-A1C3-608A8D576A8B}" type="slidenum">
              <a:rPr lang="en-AU" smtClean="0"/>
              <a:t>‹#›</a:t>
            </a:fld>
            <a:endParaRPr lang="en-AU"/>
          </a:p>
        </p:txBody>
      </p:sp>
    </p:spTree>
    <p:extLst>
      <p:ext uri="{BB962C8B-B14F-4D97-AF65-F5344CB8AC3E}">
        <p14:creationId xmlns:p14="http://schemas.microsoft.com/office/powerpoint/2010/main" val="1084696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9DE11-19B4-90C8-56F8-7BF4A20770D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224F6AE-270C-1A07-5102-27BEBF7A41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99ABC56-365D-7E13-79AB-1AF0CDCE80EB}"/>
              </a:ext>
            </a:extLst>
          </p:cNvPr>
          <p:cNvSpPr>
            <a:spLocks noGrp="1"/>
          </p:cNvSpPr>
          <p:nvPr>
            <p:ph type="dt" sz="half" idx="10"/>
          </p:nvPr>
        </p:nvSpPr>
        <p:spPr/>
        <p:txBody>
          <a:bodyPr/>
          <a:lstStyle/>
          <a:p>
            <a:fld id="{97F4198F-1954-4C15-88DC-809F34E01C6F}" type="datetimeFigureOut">
              <a:rPr lang="en-AU" smtClean="0"/>
              <a:t>11/06/2026</a:t>
            </a:fld>
            <a:endParaRPr lang="en-AU"/>
          </a:p>
        </p:txBody>
      </p:sp>
      <p:sp>
        <p:nvSpPr>
          <p:cNvPr id="5" name="Footer Placeholder 4">
            <a:extLst>
              <a:ext uri="{FF2B5EF4-FFF2-40B4-BE49-F238E27FC236}">
                <a16:creationId xmlns:a16="http://schemas.microsoft.com/office/drawing/2014/main" id="{C573B554-37F1-0FBE-3ED9-C043F04CAD4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0B6424F-20B0-E25A-1902-2841BEBF853D}"/>
              </a:ext>
            </a:extLst>
          </p:cNvPr>
          <p:cNvSpPr>
            <a:spLocks noGrp="1"/>
          </p:cNvSpPr>
          <p:nvPr>
            <p:ph type="sldNum" sz="quarter" idx="12"/>
          </p:nvPr>
        </p:nvSpPr>
        <p:spPr/>
        <p:txBody>
          <a:bodyPr/>
          <a:lstStyle/>
          <a:p>
            <a:fld id="{4AF58E3D-9623-404F-A1C3-608A8D576A8B}" type="slidenum">
              <a:rPr lang="en-AU" smtClean="0"/>
              <a:t>‹#›</a:t>
            </a:fld>
            <a:endParaRPr lang="en-AU"/>
          </a:p>
        </p:txBody>
      </p:sp>
    </p:spTree>
    <p:extLst>
      <p:ext uri="{BB962C8B-B14F-4D97-AF65-F5344CB8AC3E}">
        <p14:creationId xmlns:p14="http://schemas.microsoft.com/office/powerpoint/2010/main" val="1424055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63ADB-EA2A-23F8-16CD-8BFDCED03897}"/>
              </a:ext>
            </a:extLst>
          </p:cNvPr>
          <p:cNvSpPr>
            <a:spLocks noGrp="1"/>
          </p:cNvSpPr>
          <p:nvPr>
            <p:ph type="title"/>
          </p:nvPr>
        </p:nvSpPr>
        <p:spPr>
          <a:xfrm>
            <a:off x="467917" y="2564609"/>
            <a:ext cx="5915025" cy="4279106"/>
          </a:xfrm>
        </p:spPr>
        <p:txBody>
          <a:bodyPr anchor="b"/>
          <a:lstStyle>
            <a:lvl1pPr>
              <a:defRPr sz="3375"/>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5E41749-E1A0-A604-372D-AB07A5DDA6FA}"/>
              </a:ext>
            </a:extLst>
          </p:cNvPr>
          <p:cNvSpPr>
            <a:spLocks noGrp="1"/>
          </p:cNvSpPr>
          <p:nvPr>
            <p:ph type="body" idx="1"/>
          </p:nvPr>
        </p:nvSpPr>
        <p:spPr>
          <a:xfrm>
            <a:off x="467917" y="6884197"/>
            <a:ext cx="5915025" cy="2250281"/>
          </a:xfrm>
        </p:spPr>
        <p:txBody>
          <a:bodyPr/>
          <a:lstStyle>
            <a:lvl1pPr marL="0" indent="0">
              <a:buNone/>
              <a:defRPr sz="1350">
                <a:solidFill>
                  <a:schemeClr val="tx1">
                    <a:tint val="82000"/>
                  </a:schemeClr>
                </a:solidFill>
              </a:defRPr>
            </a:lvl1pPr>
            <a:lvl2pPr marL="257175" indent="0">
              <a:buNone/>
              <a:defRPr sz="1125">
                <a:solidFill>
                  <a:schemeClr val="tx1">
                    <a:tint val="82000"/>
                  </a:schemeClr>
                </a:solidFill>
              </a:defRPr>
            </a:lvl2pPr>
            <a:lvl3pPr marL="514350" indent="0">
              <a:buNone/>
              <a:defRPr sz="1013">
                <a:solidFill>
                  <a:schemeClr val="tx1">
                    <a:tint val="82000"/>
                  </a:schemeClr>
                </a:solidFill>
              </a:defRPr>
            </a:lvl3pPr>
            <a:lvl4pPr marL="771525" indent="0">
              <a:buNone/>
              <a:defRPr sz="900">
                <a:solidFill>
                  <a:schemeClr val="tx1">
                    <a:tint val="82000"/>
                  </a:schemeClr>
                </a:solidFill>
              </a:defRPr>
            </a:lvl4pPr>
            <a:lvl5pPr marL="1028700" indent="0">
              <a:buNone/>
              <a:defRPr sz="900">
                <a:solidFill>
                  <a:schemeClr val="tx1">
                    <a:tint val="82000"/>
                  </a:schemeClr>
                </a:solidFill>
              </a:defRPr>
            </a:lvl5pPr>
            <a:lvl6pPr marL="1285875" indent="0">
              <a:buNone/>
              <a:defRPr sz="900">
                <a:solidFill>
                  <a:schemeClr val="tx1">
                    <a:tint val="82000"/>
                  </a:schemeClr>
                </a:solidFill>
              </a:defRPr>
            </a:lvl6pPr>
            <a:lvl7pPr marL="1543050" indent="0">
              <a:buNone/>
              <a:defRPr sz="900">
                <a:solidFill>
                  <a:schemeClr val="tx1">
                    <a:tint val="82000"/>
                  </a:schemeClr>
                </a:solidFill>
              </a:defRPr>
            </a:lvl7pPr>
            <a:lvl8pPr marL="1800225" indent="0">
              <a:buNone/>
              <a:defRPr sz="900">
                <a:solidFill>
                  <a:schemeClr val="tx1">
                    <a:tint val="82000"/>
                  </a:schemeClr>
                </a:solidFill>
              </a:defRPr>
            </a:lvl8pPr>
            <a:lvl9pPr marL="2057400" indent="0">
              <a:buNone/>
              <a:defRPr sz="9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2973ED-D3B8-8C76-83CC-3F7380EF0D38}"/>
              </a:ext>
            </a:extLst>
          </p:cNvPr>
          <p:cNvSpPr>
            <a:spLocks noGrp="1"/>
          </p:cNvSpPr>
          <p:nvPr>
            <p:ph type="dt" sz="half" idx="10"/>
          </p:nvPr>
        </p:nvSpPr>
        <p:spPr/>
        <p:txBody>
          <a:bodyPr/>
          <a:lstStyle/>
          <a:p>
            <a:fld id="{97F4198F-1954-4C15-88DC-809F34E01C6F}" type="datetimeFigureOut">
              <a:rPr lang="en-AU" smtClean="0"/>
              <a:t>11/06/2026</a:t>
            </a:fld>
            <a:endParaRPr lang="en-AU"/>
          </a:p>
        </p:txBody>
      </p:sp>
      <p:sp>
        <p:nvSpPr>
          <p:cNvPr id="5" name="Footer Placeholder 4">
            <a:extLst>
              <a:ext uri="{FF2B5EF4-FFF2-40B4-BE49-F238E27FC236}">
                <a16:creationId xmlns:a16="http://schemas.microsoft.com/office/drawing/2014/main" id="{3C81BCF9-A567-BE94-A4FF-FE1B08459B3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8E039CE-8E7E-8AE6-BCBB-900842D9416E}"/>
              </a:ext>
            </a:extLst>
          </p:cNvPr>
          <p:cNvSpPr>
            <a:spLocks noGrp="1"/>
          </p:cNvSpPr>
          <p:nvPr>
            <p:ph type="sldNum" sz="quarter" idx="12"/>
          </p:nvPr>
        </p:nvSpPr>
        <p:spPr/>
        <p:txBody>
          <a:bodyPr/>
          <a:lstStyle/>
          <a:p>
            <a:fld id="{4AF58E3D-9623-404F-A1C3-608A8D576A8B}" type="slidenum">
              <a:rPr lang="en-AU" smtClean="0"/>
              <a:t>‹#›</a:t>
            </a:fld>
            <a:endParaRPr lang="en-AU"/>
          </a:p>
        </p:txBody>
      </p:sp>
    </p:spTree>
    <p:extLst>
      <p:ext uri="{BB962C8B-B14F-4D97-AF65-F5344CB8AC3E}">
        <p14:creationId xmlns:p14="http://schemas.microsoft.com/office/powerpoint/2010/main" val="3748387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1A87B-FBEE-91ED-D8E8-D1ABE1F2853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E2A12FE-F30E-B162-749F-DBCC950EC85F}"/>
              </a:ext>
            </a:extLst>
          </p:cNvPr>
          <p:cNvSpPr>
            <a:spLocks noGrp="1"/>
          </p:cNvSpPr>
          <p:nvPr>
            <p:ph sz="half" idx="1"/>
          </p:nvPr>
        </p:nvSpPr>
        <p:spPr>
          <a:xfrm>
            <a:off x="471488" y="2738438"/>
            <a:ext cx="291465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1B9EED4-D83B-B76B-C7FD-C2CC7E646039}"/>
              </a:ext>
            </a:extLst>
          </p:cNvPr>
          <p:cNvSpPr>
            <a:spLocks noGrp="1"/>
          </p:cNvSpPr>
          <p:nvPr>
            <p:ph sz="half" idx="2"/>
          </p:nvPr>
        </p:nvSpPr>
        <p:spPr>
          <a:xfrm>
            <a:off x="3471863" y="2738438"/>
            <a:ext cx="291465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944C2D2F-5BF5-DC3A-1832-E2FA211D5E58}"/>
              </a:ext>
            </a:extLst>
          </p:cNvPr>
          <p:cNvSpPr>
            <a:spLocks noGrp="1"/>
          </p:cNvSpPr>
          <p:nvPr>
            <p:ph type="dt" sz="half" idx="10"/>
          </p:nvPr>
        </p:nvSpPr>
        <p:spPr/>
        <p:txBody>
          <a:bodyPr/>
          <a:lstStyle/>
          <a:p>
            <a:fld id="{97F4198F-1954-4C15-88DC-809F34E01C6F}" type="datetimeFigureOut">
              <a:rPr lang="en-AU" smtClean="0"/>
              <a:t>11/06/2026</a:t>
            </a:fld>
            <a:endParaRPr lang="en-AU"/>
          </a:p>
        </p:txBody>
      </p:sp>
      <p:sp>
        <p:nvSpPr>
          <p:cNvPr id="6" name="Footer Placeholder 5">
            <a:extLst>
              <a:ext uri="{FF2B5EF4-FFF2-40B4-BE49-F238E27FC236}">
                <a16:creationId xmlns:a16="http://schemas.microsoft.com/office/drawing/2014/main" id="{8BCF1A7E-5542-E82D-5DEC-EE30F7A2C20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A629D1E-CA55-5F07-623B-4B6F4F9F4B5B}"/>
              </a:ext>
            </a:extLst>
          </p:cNvPr>
          <p:cNvSpPr>
            <a:spLocks noGrp="1"/>
          </p:cNvSpPr>
          <p:nvPr>
            <p:ph type="sldNum" sz="quarter" idx="12"/>
          </p:nvPr>
        </p:nvSpPr>
        <p:spPr/>
        <p:txBody>
          <a:bodyPr/>
          <a:lstStyle/>
          <a:p>
            <a:fld id="{4AF58E3D-9623-404F-A1C3-608A8D576A8B}" type="slidenum">
              <a:rPr lang="en-AU" smtClean="0"/>
              <a:t>‹#›</a:t>
            </a:fld>
            <a:endParaRPr lang="en-AU"/>
          </a:p>
        </p:txBody>
      </p:sp>
    </p:spTree>
    <p:extLst>
      <p:ext uri="{BB962C8B-B14F-4D97-AF65-F5344CB8AC3E}">
        <p14:creationId xmlns:p14="http://schemas.microsoft.com/office/powerpoint/2010/main" val="3918324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17B0E-7AB6-ABA0-F280-9A169FDAF13F}"/>
              </a:ext>
            </a:extLst>
          </p:cNvPr>
          <p:cNvSpPr>
            <a:spLocks noGrp="1"/>
          </p:cNvSpPr>
          <p:nvPr>
            <p:ph type="title"/>
          </p:nvPr>
        </p:nvSpPr>
        <p:spPr>
          <a:xfrm>
            <a:off x="472382" y="547690"/>
            <a:ext cx="5915025" cy="1988345"/>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ACA8B48-C1FC-B42B-84BC-812DF229EE52}"/>
              </a:ext>
            </a:extLst>
          </p:cNvPr>
          <p:cNvSpPr>
            <a:spLocks noGrp="1"/>
          </p:cNvSpPr>
          <p:nvPr>
            <p:ph type="body" idx="1"/>
          </p:nvPr>
        </p:nvSpPr>
        <p:spPr>
          <a:xfrm>
            <a:off x="472381" y="2521745"/>
            <a:ext cx="2901255" cy="1235868"/>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a:extLst>
              <a:ext uri="{FF2B5EF4-FFF2-40B4-BE49-F238E27FC236}">
                <a16:creationId xmlns:a16="http://schemas.microsoft.com/office/drawing/2014/main" id="{05279007-EBE7-E14E-F448-2D1EC9F3E67C}"/>
              </a:ext>
            </a:extLst>
          </p:cNvPr>
          <p:cNvSpPr>
            <a:spLocks noGrp="1"/>
          </p:cNvSpPr>
          <p:nvPr>
            <p:ph sz="half" idx="2"/>
          </p:nvPr>
        </p:nvSpPr>
        <p:spPr>
          <a:xfrm>
            <a:off x="472381" y="3757613"/>
            <a:ext cx="2901255"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E778FC9A-6FA4-5A56-DE4F-CF3823A4794E}"/>
              </a:ext>
            </a:extLst>
          </p:cNvPr>
          <p:cNvSpPr>
            <a:spLocks noGrp="1"/>
          </p:cNvSpPr>
          <p:nvPr>
            <p:ph type="body" sz="quarter" idx="3"/>
          </p:nvPr>
        </p:nvSpPr>
        <p:spPr>
          <a:xfrm>
            <a:off x="3471864" y="2521745"/>
            <a:ext cx="2915543" cy="1235868"/>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a:extLst>
              <a:ext uri="{FF2B5EF4-FFF2-40B4-BE49-F238E27FC236}">
                <a16:creationId xmlns:a16="http://schemas.microsoft.com/office/drawing/2014/main" id="{68C352DA-6AA5-E2C6-F226-F5046DD5F6E8}"/>
              </a:ext>
            </a:extLst>
          </p:cNvPr>
          <p:cNvSpPr>
            <a:spLocks noGrp="1"/>
          </p:cNvSpPr>
          <p:nvPr>
            <p:ph sz="quarter" idx="4"/>
          </p:nvPr>
        </p:nvSpPr>
        <p:spPr>
          <a:xfrm>
            <a:off x="3471864" y="3757613"/>
            <a:ext cx="2915543"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BEEE8CDF-5F66-B6F0-27ED-F394332D687B}"/>
              </a:ext>
            </a:extLst>
          </p:cNvPr>
          <p:cNvSpPr>
            <a:spLocks noGrp="1"/>
          </p:cNvSpPr>
          <p:nvPr>
            <p:ph type="dt" sz="half" idx="10"/>
          </p:nvPr>
        </p:nvSpPr>
        <p:spPr/>
        <p:txBody>
          <a:bodyPr/>
          <a:lstStyle/>
          <a:p>
            <a:fld id="{97F4198F-1954-4C15-88DC-809F34E01C6F}" type="datetimeFigureOut">
              <a:rPr lang="en-AU" smtClean="0"/>
              <a:t>11/06/2026</a:t>
            </a:fld>
            <a:endParaRPr lang="en-AU"/>
          </a:p>
        </p:txBody>
      </p:sp>
      <p:sp>
        <p:nvSpPr>
          <p:cNvPr id="8" name="Footer Placeholder 7">
            <a:extLst>
              <a:ext uri="{FF2B5EF4-FFF2-40B4-BE49-F238E27FC236}">
                <a16:creationId xmlns:a16="http://schemas.microsoft.com/office/drawing/2014/main" id="{19B44FAE-3A32-66EB-35CC-9785B2F82F2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22810C09-6D5D-54A0-EB75-ED4A5D594933}"/>
              </a:ext>
            </a:extLst>
          </p:cNvPr>
          <p:cNvSpPr>
            <a:spLocks noGrp="1"/>
          </p:cNvSpPr>
          <p:nvPr>
            <p:ph type="sldNum" sz="quarter" idx="12"/>
          </p:nvPr>
        </p:nvSpPr>
        <p:spPr/>
        <p:txBody>
          <a:bodyPr/>
          <a:lstStyle/>
          <a:p>
            <a:fld id="{4AF58E3D-9623-404F-A1C3-608A8D576A8B}" type="slidenum">
              <a:rPr lang="en-AU" smtClean="0"/>
              <a:t>‹#›</a:t>
            </a:fld>
            <a:endParaRPr lang="en-AU"/>
          </a:p>
        </p:txBody>
      </p:sp>
    </p:spTree>
    <p:extLst>
      <p:ext uri="{BB962C8B-B14F-4D97-AF65-F5344CB8AC3E}">
        <p14:creationId xmlns:p14="http://schemas.microsoft.com/office/powerpoint/2010/main" val="3472835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50342-885B-5293-1B74-3E38AAA15A71}"/>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A7ED23D3-81E1-115D-0E29-4B7AEF727169}"/>
              </a:ext>
            </a:extLst>
          </p:cNvPr>
          <p:cNvSpPr>
            <a:spLocks noGrp="1"/>
          </p:cNvSpPr>
          <p:nvPr>
            <p:ph type="dt" sz="half" idx="10"/>
          </p:nvPr>
        </p:nvSpPr>
        <p:spPr/>
        <p:txBody>
          <a:bodyPr/>
          <a:lstStyle/>
          <a:p>
            <a:fld id="{97F4198F-1954-4C15-88DC-809F34E01C6F}" type="datetimeFigureOut">
              <a:rPr lang="en-AU" smtClean="0"/>
              <a:t>11/06/2026</a:t>
            </a:fld>
            <a:endParaRPr lang="en-AU"/>
          </a:p>
        </p:txBody>
      </p:sp>
      <p:sp>
        <p:nvSpPr>
          <p:cNvPr id="4" name="Footer Placeholder 3">
            <a:extLst>
              <a:ext uri="{FF2B5EF4-FFF2-40B4-BE49-F238E27FC236}">
                <a16:creationId xmlns:a16="http://schemas.microsoft.com/office/drawing/2014/main" id="{8842EA3A-78D5-970A-2FF0-E0217FA1369C}"/>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36F78154-2457-4DAF-FA3F-1F477D7E70D1}"/>
              </a:ext>
            </a:extLst>
          </p:cNvPr>
          <p:cNvSpPr>
            <a:spLocks noGrp="1"/>
          </p:cNvSpPr>
          <p:nvPr>
            <p:ph type="sldNum" sz="quarter" idx="12"/>
          </p:nvPr>
        </p:nvSpPr>
        <p:spPr/>
        <p:txBody>
          <a:bodyPr/>
          <a:lstStyle/>
          <a:p>
            <a:fld id="{4AF58E3D-9623-404F-A1C3-608A8D576A8B}" type="slidenum">
              <a:rPr lang="en-AU" smtClean="0"/>
              <a:t>‹#›</a:t>
            </a:fld>
            <a:endParaRPr lang="en-AU"/>
          </a:p>
        </p:txBody>
      </p:sp>
    </p:spTree>
    <p:extLst>
      <p:ext uri="{BB962C8B-B14F-4D97-AF65-F5344CB8AC3E}">
        <p14:creationId xmlns:p14="http://schemas.microsoft.com/office/powerpoint/2010/main" val="2700032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1D5C22-7A70-A77D-65C9-86BD033DDB73}"/>
              </a:ext>
            </a:extLst>
          </p:cNvPr>
          <p:cNvSpPr>
            <a:spLocks noGrp="1"/>
          </p:cNvSpPr>
          <p:nvPr>
            <p:ph type="dt" sz="half" idx="10"/>
          </p:nvPr>
        </p:nvSpPr>
        <p:spPr/>
        <p:txBody>
          <a:bodyPr/>
          <a:lstStyle/>
          <a:p>
            <a:fld id="{97F4198F-1954-4C15-88DC-809F34E01C6F}" type="datetimeFigureOut">
              <a:rPr lang="en-AU" smtClean="0"/>
              <a:t>11/06/2026</a:t>
            </a:fld>
            <a:endParaRPr lang="en-AU"/>
          </a:p>
        </p:txBody>
      </p:sp>
      <p:sp>
        <p:nvSpPr>
          <p:cNvPr id="3" name="Footer Placeholder 2">
            <a:extLst>
              <a:ext uri="{FF2B5EF4-FFF2-40B4-BE49-F238E27FC236}">
                <a16:creationId xmlns:a16="http://schemas.microsoft.com/office/drawing/2014/main" id="{04BEF9CA-D0C0-4655-EA5A-99AB7ACE788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8F4B18E-6BFA-F502-AE52-E7DB2ABCA327}"/>
              </a:ext>
            </a:extLst>
          </p:cNvPr>
          <p:cNvSpPr>
            <a:spLocks noGrp="1"/>
          </p:cNvSpPr>
          <p:nvPr>
            <p:ph type="sldNum" sz="quarter" idx="12"/>
          </p:nvPr>
        </p:nvSpPr>
        <p:spPr/>
        <p:txBody>
          <a:bodyPr/>
          <a:lstStyle/>
          <a:p>
            <a:fld id="{4AF58E3D-9623-404F-A1C3-608A8D576A8B}" type="slidenum">
              <a:rPr lang="en-AU" smtClean="0"/>
              <a:t>‹#›</a:t>
            </a:fld>
            <a:endParaRPr lang="en-AU"/>
          </a:p>
        </p:txBody>
      </p:sp>
    </p:spTree>
    <p:extLst>
      <p:ext uri="{BB962C8B-B14F-4D97-AF65-F5344CB8AC3E}">
        <p14:creationId xmlns:p14="http://schemas.microsoft.com/office/powerpoint/2010/main" val="3531678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A446-5A60-DE89-29E1-C0EB1C48398C}"/>
              </a:ext>
            </a:extLst>
          </p:cNvPr>
          <p:cNvSpPr>
            <a:spLocks noGrp="1"/>
          </p:cNvSpPr>
          <p:nvPr>
            <p:ph type="title"/>
          </p:nvPr>
        </p:nvSpPr>
        <p:spPr>
          <a:xfrm>
            <a:off x="472382" y="685800"/>
            <a:ext cx="2211883" cy="2400300"/>
          </a:xfrm>
        </p:spPr>
        <p:txBody>
          <a:bodyPr anchor="b"/>
          <a:lstStyle>
            <a:lvl1pPr>
              <a:defRPr sz="18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D76203E8-5FAC-3225-E68F-6AD29F7C9D61}"/>
              </a:ext>
            </a:extLst>
          </p:cNvPr>
          <p:cNvSpPr>
            <a:spLocks noGrp="1"/>
          </p:cNvSpPr>
          <p:nvPr>
            <p:ph idx="1"/>
          </p:nvPr>
        </p:nvSpPr>
        <p:spPr>
          <a:xfrm>
            <a:off x="2915544" y="1481140"/>
            <a:ext cx="3471863" cy="731043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9EA6FEB-B1A9-0448-EBC2-44550BF0D213}"/>
              </a:ext>
            </a:extLst>
          </p:cNvPr>
          <p:cNvSpPr>
            <a:spLocks noGrp="1"/>
          </p:cNvSpPr>
          <p:nvPr>
            <p:ph type="body" sz="half" idx="2"/>
          </p:nvPr>
        </p:nvSpPr>
        <p:spPr>
          <a:xfrm>
            <a:off x="472382" y="3086100"/>
            <a:ext cx="2211883" cy="5717382"/>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edit Master text styles</a:t>
            </a:r>
          </a:p>
        </p:txBody>
      </p:sp>
      <p:sp>
        <p:nvSpPr>
          <p:cNvPr id="5" name="Date Placeholder 4">
            <a:extLst>
              <a:ext uri="{FF2B5EF4-FFF2-40B4-BE49-F238E27FC236}">
                <a16:creationId xmlns:a16="http://schemas.microsoft.com/office/drawing/2014/main" id="{4A7436AB-477A-8F85-9AF9-A64158CB7BD9}"/>
              </a:ext>
            </a:extLst>
          </p:cNvPr>
          <p:cNvSpPr>
            <a:spLocks noGrp="1"/>
          </p:cNvSpPr>
          <p:nvPr>
            <p:ph type="dt" sz="half" idx="10"/>
          </p:nvPr>
        </p:nvSpPr>
        <p:spPr/>
        <p:txBody>
          <a:bodyPr/>
          <a:lstStyle/>
          <a:p>
            <a:fld id="{97F4198F-1954-4C15-88DC-809F34E01C6F}" type="datetimeFigureOut">
              <a:rPr lang="en-AU" smtClean="0"/>
              <a:t>11/06/2026</a:t>
            </a:fld>
            <a:endParaRPr lang="en-AU"/>
          </a:p>
        </p:txBody>
      </p:sp>
      <p:sp>
        <p:nvSpPr>
          <p:cNvPr id="6" name="Footer Placeholder 5">
            <a:extLst>
              <a:ext uri="{FF2B5EF4-FFF2-40B4-BE49-F238E27FC236}">
                <a16:creationId xmlns:a16="http://schemas.microsoft.com/office/drawing/2014/main" id="{C0911D6A-877F-9269-4CDD-CBDD8F0F33A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A865881-3B63-7DFF-59BD-57351A891BD5}"/>
              </a:ext>
            </a:extLst>
          </p:cNvPr>
          <p:cNvSpPr>
            <a:spLocks noGrp="1"/>
          </p:cNvSpPr>
          <p:nvPr>
            <p:ph type="sldNum" sz="quarter" idx="12"/>
          </p:nvPr>
        </p:nvSpPr>
        <p:spPr/>
        <p:txBody>
          <a:bodyPr/>
          <a:lstStyle/>
          <a:p>
            <a:fld id="{4AF58E3D-9623-404F-A1C3-608A8D576A8B}" type="slidenum">
              <a:rPr lang="en-AU" smtClean="0"/>
              <a:t>‹#›</a:t>
            </a:fld>
            <a:endParaRPr lang="en-AU"/>
          </a:p>
        </p:txBody>
      </p:sp>
    </p:spTree>
    <p:extLst>
      <p:ext uri="{BB962C8B-B14F-4D97-AF65-F5344CB8AC3E}">
        <p14:creationId xmlns:p14="http://schemas.microsoft.com/office/powerpoint/2010/main" val="381285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1F7B-CAC8-CF9E-746A-7A5E240911AC}"/>
              </a:ext>
            </a:extLst>
          </p:cNvPr>
          <p:cNvSpPr>
            <a:spLocks noGrp="1"/>
          </p:cNvSpPr>
          <p:nvPr>
            <p:ph type="title"/>
          </p:nvPr>
        </p:nvSpPr>
        <p:spPr>
          <a:xfrm>
            <a:off x="472382" y="685800"/>
            <a:ext cx="2211883" cy="2400300"/>
          </a:xfrm>
        </p:spPr>
        <p:txBody>
          <a:bodyPr anchor="b"/>
          <a:lstStyle>
            <a:lvl1pPr>
              <a:defRPr sz="18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37CA241-D4C0-CA94-EA12-8A511F13B416}"/>
              </a:ext>
            </a:extLst>
          </p:cNvPr>
          <p:cNvSpPr>
            <a:spLocks noGrp="1"/>
          </p:cNvSpPr>
          <p:nvPr>
            <p:ph type="pic" idx="1"/>
          </p:nvPr>
        </p:nvSpPr>
        <p:spPr>
          <a:xfrm>
            <a:off x="2915544" y="1481140"/>
            <a:ext cx="3471863" cy="7310438"/>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AU"/>
          </a:p>
        </p:txBody>
      </p:sp>
      <p:sp>
        <p:nvSpPr>
          <p:cNvPr id="4" name="Text Placeholder 3">
            <a:extLst>
              <a:ext uri="{FF2B5EF4-FFF2-40B4-BE49-F238E27FC236}">
                <a16:creationId xmlns:a16="http://schemas.microsoft.com/office/drawing/2014/main" id="{45A79730-C023-9187-5945-038EF01F9DD9}"/>
              </a:ext>
            </a:extLst>
          </p:cNvPr>
          <p:cNvSpPr>
            <a:spLocks noGrp="1"/>
          </p:cNvSpPr>
          <p:nvPr>
            <p:ph type="body" sz="half" idx="2"/>
          </p:nvPr>
        </p:nvSpPr>
        <p:spPr>
          <a:xfrm>
            <a:off x="472382" y="3086100"/>
            <a:ext cx="2211883" cy="5717382"/>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edit Master text styles</a:t>
            </a:r>
          </a:p>
        </p:txBody>
      </p:sp>
      <p:sp>
        <p:nvSpPr>
          <p:cNvPr id="5" name="Date Placeholder 4">
            <a:extLst>
              <a:ext uri="{FF2B5EF4-FFF2-40B4-BE49-F238E27FC236}">
                <a16:creationId xmlns:a16="http://schemas.microsoft.com/office/drawing/2014/main" id="{E224C042-3BE9-581D-11BB-017E98E732D2}"/>
              </a:ext>
            </a:extLst>
          </p:cNvPr>
          <p:cNvSpPr>
            <a:spLocks noGrp="1"/>
          </p:cNvSpPr>
          <p:nvPr>
            <p:ph type="dt" sz="half" idx="10"/>
          </p:nvPr>
        </p:nvSpPr>
        <p:spPr/>
        <p:txBody>
          <a:bodyPr/>
          <a:lstStyle/>
          <a:p>
            <a:fld id="{97F4198F-1954-4C15-88DC-809F34E01C6F}" type="datetimeFigureOut">
              <a:rPr lang="en-AU" smtClean="0"/>
              <a:t>11/06/2026</a:t>
            </a:fld>
            <a:endParaRPr lang="en-AU"/>
          </a:p>
        </p:txBody>
      </p:sp>
      <p:sp>
        <p:nvSpPr>
          <p:cNvPr id="6" name="Footer Placeholder 5">
            <a:extLst>
              <a:ext uri="{FF2B5EF4-FFF2-40B4-BE49-F238E27FC236}">
                <a16:creationId xmlns:a16="http://schemas.microsoft.com/office/drawing/2014/main" id="{6644120A-BA18-6E7F-CACF-FD111425C45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2DBBBC8-7938-1DD9-2668-78B500A6F998}"/>
              </a:ext>
            </a:extLst>
          </p:cNvPr>
          <p:cNvSpPr>
            <a:spLocks noGrp="1"/>
          </p:cNvSpPr>
          <p:nvPr>
            <p:ph type="sldNum" sz="quarter" idx="12"/>
          </p:nvPr>
        </p:nvSpPr>
        <p:spPr/>
        <p:txBody>
          <a:bodyPr/>
          <a:lstStyle/>
          <a:p>
            <a:fld id="{4AF58E3D-9623-404F-A1C3-608A8D576A8B}" type="slidenum">
              <a:rPr lang="en-AU" smtClean="0"/>
              <a:t>‹#›</a:t>
            </a:fld>
            <a:endParaRPr lang="en-AU"/>
          </a:p>
        </p:txBody>
      </p:sp>
    </p:spTree>
    <p:extLst>
      <p:ext uri="{BB962C8B-B14F-4D97-AF65-F5344CB8AC3E}">
        <p14:creationId xmlns:p14="http://schemas.microsoft.com/office/powerpoint/2010/main" val="4293349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B4014-77F1-17D4-E059-5ADD23D87CC6}"/>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CC45B23-9D81-E99B-F0F7-9FC1566588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28236A1-D7B3-84B6-57AA-1F9648A2FC0A}"/>
              </a:ext>
            </a:extLst>
          </p:cNvPr>
          <p:cNvSpPr>
            <a:spLocks noGrp="1"/>
          </p:cNvSpPr>
          <p:nvPr>
            <p:ph type="dt" sz="half" idx="10"/>
          </p:nvPr>
        </p:nvSpPr>
        <p:spPr/>
        <p:txBody>
          <a:bodyPr/>
          <a:lstStyle/>
          <a:p>
            <a:fld id="{97F4198F-1954-4C15-88DC-809F34E01C6F}" type="datetimeFigureOut">
              <a:rPr lang="en-AU" smtClean="0"/>
              <a:t>11/06/2026</a:t>
            </a:fld>
            <a:endParaRPr lang="en-AU"/>
          </a:p>
        </p:txBody>
      </p:sp>
      <p:sp>
        <p:nvSpPr>
          <p:cNvPr id="5" name="Footer Placeholder 4">
            <a:extLst>
              <a:ext uri="{FF2B5EF4-FFF2-40B4-BE49-F238E27FC236}">
                <a16:creationId xmlns:a16="http://schemas.microsoft.com/office/drawing/2014/main" id="{DBD4C3C0-C60F-FDD5-FB3A-B2590497C45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AEA8EB-DCD5-8FAC-28A8-561A7DF62F70}"/>
              </a:ext>
            </a:extLst>
          </p:cNvPr>
          <p:cNvSpPr>
            <a:spLocks noGrp="1"/>
          </p:cNvSpPr>
          <p:nvPr>
            <p:ph type="sldNum" sz="quarter" idx="12"/>
          </p:nvPr>
        </p:nvSpPr>
        <p:spPr/>
        <p:txBody>
          <a:bodyPr/>
          <a:lstStyle/>
          <a:p>
            <a:fld id="{4AF58E3D-9623-404F-A1C3-608A8D576A8B}" type="slidenum">
              <a:rPr lang="en-AU" smtClean="0"/>
              <a:t>‹#›</a:t>
            </a:fld>
            <a:endParaRPr lang="en-AU"/>
          </a:p>
        </p:txBody>
      </p:sp>
    </p:spTree>
    <p:extLst>
      <p:ext uri="{BB962C8B-B14F-4D97-AF65-F5344CB8AC3E}">
        <p14:creationId xmlns:p14="http://schemas.microsoft.com/office/powerpoint/2010/main" val="2508527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E155B2-3C1C-F313-48AC-E02859124782}"/>
              </a:ext>
            </a:extLst>
          </p:cNvPr>
          <p:cNvSpPr>
            <a:spLocks noGrp="1"/>
          </p:cNvSpPr>
          <p:nvPr>
            <p:ph type="title" orient="vert"/>
          </p:nvPr>
        </p:nvSpPr>
        <p:spPr>
          <a:xfrm>
            <a:off x="4907756" y="547688"/>
            <a:ext cx="1478756" cy="8717757"/>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3E9D370-B1CC-4A53-4621-4FF3DFEDB413}"/>
              </a:ext>
            </a:extLst>
          </p:cNvPr>
          <p:cNvSpPr>
            <a:spLocks noGrp="1"/>
          </p:cNvSpPr>
          <p:nvPr>
            <p:ph type="body" orient="vert" idx="1"/>
          </p:nvPr>
        </p:nvSpPr>
        <p:spPr>
          <a:xfrm>
            <a:off x="471487" y="547688"/>
            <a:ext cx="4350544"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D8AF09C-D9CC-2A2A-892B-229241094A21}"/>
              </a:ext>
            </a:extLst>
          </p:cNvPr>
          <p:cNvSpPr>
            <a:spLocks noGrp="1"/>
          </p:cNvSpPr>
          <p:nvPr>
            <p:ph type="dt" sz="half" idx="10"/>
          </p:nvPr>
        </p:nvSpPr>
        <p:spPr/>
        <p:txBody>
          <a:bodyPr/>
          <a:lstStyle/>
          <a:p>
            <a:fld id="{97F4198F-1954-4C15-88DC-809F34E01C6F}" type="datetimeFigureOut">
              <a:rPr lang="en-AU" smtClean="0"/>
              <a:t>11/06/2026</a:t>
            </a:fld>
            <a:endParaRPr lang="en-AU"/>
          </a:p>
        </p:txBody>
      </p:sp>
      <p:sp>
        <p:nvSpPr>
          <p:cNvPr id="5" name="Footer Placeholder 4">
            <a:extLst>
              <a:ext uri="{FF2B5EF4-FFF2-40B4-BE49-F238E27FC236}">
                <a16:creationId xmlns:a16="http://schemas.microsoft.com/office/drawing/2014/main" id="{E28329C1-43DA-E7B2-5028-D9B6DF439ED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E18EE69-6E19-981A-B259-9697C072CF18}"/>
              </a:ext>
            </a:extLst>
          </p:cNvPr>
          <p:cNvSpPr>
            <a:spLocks noGrp="1"/>
          </p:cNvSpPr>
          <p:nvPr>
            <p:ph type="sldNum" sz="quarter" idx="12"/>
          </p:nvPr>
        </p:nvSpPr>
        <p:spPr/>
        <p:txBody>
          <a:bodyPr/>
          <a:lstStyle/>
          <a:p>
            <a:fld id="{4AF58E3D-9623-404F-A1C3-608A8D576A8B}" type="slidenum">
              <a:rPr lang="en-AU" smtClean="0"/>
              <a:t>‹#›</a:t>
            </a:fld>
            <a:endParaRPr lang="en-AU"/>
          </a:p>
        </p:txBody>
      </p:sp>
    </p:spTree>
    <p:extLst>
      <p:ext uri="{BB962C8B-B14F-4D97-AF65-F5344CB8AC3E}">
        <p14:creationId xmlns:p14="http://schemas.microsoft.com/office/powerpoint/2010/main" val="48425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06DDFF-0AFC-8AF2-77A3-65104AB44FAA}"/>
              </a:ext>
            </a:extLst>
          </p:cNvPr>
          <p:cNvSpPr>
            <a:spLocks noGrp="1"/>
          </p:cNvSpPr>
          <p:nvPr>
            <p:ph type="title"/>
          </p:nvPr>
        </p:nvSpPr>
        <p:spPr>
          <a:xfrm>
            <a:off x="471489" y="547690"/>
            <a:ext cx="5915025" cy="1988345"/>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A97E9AA-CAF6-0429-1E8E-5F3FA9E20E5E}"/>
              </a:ext>
            </a:extLst>
          </p:cNvPr>
          <p:cNvSpPr>
            <a:spLocks noGrp="1"/>
          </p:cNvSpPr>
          <p:nvPr>
            <p:ph type="body" idx="1"/>
          </p:nvPr>
        </p:nvSpPr>
        <p:spPr>
          <a:xfrm>
            <a:off x="471489" y="2738438"/>
            <a:ext cx="5915025"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6E563C4-E370-2709-BFCD-159956580E92}"/>
              </a:ext>
            </a:extLst>
          </p:cNvPr>
          <p:cNvSpPr>
            <a:spLocks noGrp="1"/>
          </p:cNvSpPr>
          <p:nvPr>
            <p:ph type="dt" sz="half" idx="2"/>
          </p:nvPr>
        </p:nvSpPr>
        <p:spPr>
          <a:xfrm>
            <a:off x="471488" y="9534527"/>
            <a:ext cx="1543050" cy="547688"/>
          </a:xfrm>
          <a:prstGeom prst="rect">
            <a:avLst/>
          </a:prstGeom>
        </p:spPr>
        <p:txBody>
          <a:bodyPr vert="horz" lIns="91440" tIns="45720" rIns="91440" bIns="45720" rtlCol="0" anchor="ctr"/>
          <a:lstStyle>
            <a:lvl1pPr algn="l">
              <a:defRPr sz="675">
                <a:solidFill>
                  <a:schemeClr val="tx1">
                    <a:tint val="82000"/>
                  </a:schemeClr>
                </a:solidFill>
              </a:defRPr>
            </a:lvl1pPr>
          </a:lstStyle>
          <a:p>
            <a:fld id="{97F4198F-1954-4C15-88DC-809F34E01C6F}" type="datetimeFigureOut">
              <a:rPr lang="en-AU" smtClean="0"/>
              <a:t>11/06/2026</a:t>
            </a:fld>
            <a:endParaRPr lang="en-AU"/>
          </a:p>
        </p:txBody>
      </p:sp>
      <p:sp>
        <p:nvSpPr>
          <p:cNvPr id="5" name="Footer Placeholder 4">
            <a:extLst>
              <a:ext uri="{FF2B5EF4-FFF2-40B4-BE49-F238E27FC236}">
                <a16:creationId xmlns:a16="http://schemas.microsoft.com/office/drawing/2014/main" id="{0DFFD7D7-D891-8AC0-F716-CD257249CB03}"/>
              </a:ext>
            </a:extLst>
          </p:cNvPr>
          <p:cNvSpPr>
            <a:spLocks noGrp="1"/>
          </p:cNvSpPr>
          <p:nvPr>
            <p:ph type="ftr" sz="quarter" idx="3"/>
          </p:nvPr>
        </p:nvSpPr>
        <p:spPr>
          <a:xfrm>
            <a:off x="2271714" y="9534527"/>
            <a:ext cx="2314575" cy="547688"/>
          </a:xfrm>
          <a:prstGeom prst="rect">
            <a:avLst/>
          </a:prstGeom>
        </p:spPr>
        <p:txBody>
          <a:bodyPr vert="horz" lIns="91440" tIns="45720" rIns="91440" bIns="45720" rtlCol="0" anchor="ctr"/>
          <a:lstStyle>
            <a:lvl1pPr algn="ctr">
              <a:defRPr sz="675">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21E22F53-4187-EA7B-9B6A-71F455A7126D}"/>
              </a:ext>
            </a:extLst>
          </p:cNvPr>
          <p:cNvSpPr>
            <a:spLocks noGrp="1"/>
          </p:cNvSpPr>
          <p:nvPr>
            <p:ph type="sldNum" sz="quarter" idx="4"/>
          </p:nvPr>
        </p:nvSpPr>
        <p:spPr>
          <a:xfrm>
            <a:off x="4843463" y="9534527"/>
            <a:ext cx="1543050" cy="547688"/>
          </a:xfrm>
          <a:prstGeom prst="rect">
            <a:avLst/>
          </a:prstGeom>
        </p:spPr>
        <p:txBody>
          <a:bodyPr vert="horz" lIns="91440" tIns="45720" rIns="91440" bIns="45720" rtlCol="0" anchor="ctr"/>
          <a:lstStyle>
            <a:lvl1pPr algn="r">
              <a:defRPr sz="675">
                <a:solidFill>
                  <a:schemeClr val="tx1">
                    <a:tint val="82000"/>
                  </a:schemeClr>
                </a:solidFill>
              </a:defRPr>
            </a:lvl1pPr>
          </a:lstStyle>
          <a:p>
            <a:fld id="{4AF58E3D-9623-404F-A1C3-608A8D576A8B}" type="slidenum">
              <a:rPr lang="en-AU" smtClean="0"/>
              <a:t>‹#›</a:t>
            </a:fld>
            <a:endParaRPr lang="en-AU"/>
          </a:p>
        </p:txBody>
      </p:sp>
    </p:spTree>
    <p:extLst>
      <p:ext uri="{BB962C8B-B14F-4D97-AF65-F5344CB8AC3E}">
        <p14:creationId xmlns:p14="http://schemas.microsoft.com/office/powerpoint/2010/main" val="2590149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EEA2FA-F41E-1B24-28A5-E770F8A38152}"/>
              </a:ext>
            </a:extLst>
          </p:cNvPr>
          <p:cNvSpPr/>
          <p:nvPr/>
        </p:nvSpPr>
        <p:spPr>
          <a:xfrm>
            <a:off x="0" y="0"/>
            <a:ext cx="6858000" cy="812800"/>
          </a:xfrm>
          <a:prstGeom prst="rect">
            <a:avLst/>
          </a:prstGeom>
          <a:solidFill>
            <a:srgbClr val="081F2F"/>
          </a:solidFill>
          <a:ln w="0">
            <a:solidFill>
              <a:srgbClr val="081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02DF16D4-21B3-9AD9-7F09-961B06EDEBC7}"/>
              </a:ext>
            </a:extLst>
          </p:cNvPr>
          <p:cNvSpPr/>
          <p:nvPr/>
        </p:nvSpPr>
        <p:spPr>
          <a:xfrm>
            <a:off x="355600" y="228600"/>
            <a:ext cx="889000" cy="228600"/>
          </a:xfrm>
          <a:prstGeom prst="rect">
            <a:avLst/>
          </a:prstGeom>
          <a:solidFill>
            <a:srgbClr val="0B2B3B"/>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59C3F477-AEA8-3747-B2A3-610C4D957AFB}"/>
              </a:ext>
            </a:extLst>
          </p:cNvPr>
          <p:cNvSpPr txBox="1"/>
          <p:nvPr/>
        </p:nvSpPr>
        <p:spPr>
          <a:xfrm>
            <a:off x="431800" y="254000"/>
            <a:ext cx="736600" cy="184666"/>
          </a:xfrm>
          <a:prstGeom prst="rect">
            <a:avLst/>
          </a:prstGeom>
          <a:noFill/>
        </p:spPr>
        <p:txBody>
          <a:bodyPr vert="horz" wrap="square" lIns="63500" tIns="38100" rIns="63500" bIns="38100" rtlCol="0">
            <a:spAutoFit/>
          </a:bodyPr>
          <a:lstStyle/>
          <a:p>
            <a:r>
              <a:rPr lang="en-AU" sz="700" b="1">
                <a:solidFill>
                  <a:srgbClr val="FFFFFF"/>
                </a:solidFill>
                <a:latin typeface="Arial" panose="020B0604020202020204" pitchFamily="34" charset="0"/>
              </a:rPr>
              <a:t>SECTION 1</a:t>
            </a:r>
          </a:p>
        </p:txBody>
      </p:sp>
      <p:sp>
        <p:nvSpPr>
          <p:cNvPr id="5" name="TextBox 4">
            <a:extLst>
              <a:ext uri="{FF2B5EF4-FFF2-40B4-BE49-F238E27FC236}">
                <a16:creationId xmlns:a16="http://schemas.microsoft.com/office/drawing/2014/main" id="{C574B314-2839-F529-69D3-6CC0BD237B32}"/>
              </a:ext>
            </a:extLst>
          </p:cNvPr>
          <p:cNvSpPr txBox="1"/>
          <p:nvPr/>
        </p:nvSpPr>
        <p:spPr>
          <a:xfrm>
            <a:off x="1422400" y="165100"/>
            <a:ext cx="3429000" cy="307777"/>
          </a:xfrm>
          <a:prstGeom prst="rect">
            <a:avLst/>
          </a:prstGeom>
          <a:noFill/>
        </p:spPr>
        <p:txBody>
          <a:bodyPr vert="horz" wrap="square" lIns="63500" tIns="38100" rIns="63500" bIns="38100" rtlCol="0">
            <a:spAutoFit/>
          </a:bodyPr>
          <a:lstStyle/>
          <a:p>
            <a:r>
              <a:rPr lang="en-AU" sz="1500" b="1">
                <a:solidFill>
                  <a:srgbClr val="FFFFFF"/>
                </a:solidFill>
                <a:latin typeface="Arial Narrow" panose="020B0606020202030204" pitchFamily="34" charset="0"/>
              </a:rPr>
              <a:t>BEST PRACTICE ANSWER</a:t>
            </a:r>
          </a:p>
        </p:txBody>
      </p:sp>
      <p:sp>
        <p:nvSpPr>
          <p:cNvPr id="6" name="Rectangle 5">
            <a:extLst>
              <a:ext uri="{FF2B5EF4-FFF2-40B4-BE49-F238E27FC236}">
                <a16:creationId xmlns:a16="http://schemas.microsoft.com/office/drawing/2014/main" id="{7453D5A1-F74F-0618-C0EC-15CD55EF42F2}"/>
              </a:ext>
            </a:extLst>
          </p:cNvPr>
          <p:cNvSpPr/>
          <p:nvPr/>
        </p:nvSpPr>
        <p:spPr>
          <a:xfrm>
            <a:off x="5207000" y="165100"/>
            <a:ext cx="1168400" cy="3556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98941ABA-6362-E9FF-BDFB-0FE630417FEC}"/>
              </a:ext>
            </a:extLst>
          </p:cNvPr>
          <p:cNvSpPr txBox="1"/>
          <p:nvPr/>
        </p:nvSpPr>
        <p:spPr>
          <a:xfrm>
            <a:off x="5257800" y="228600"/>
            <a:ext cx="1066800" cy="169277"/>
          </a:xfrm>
          <a:prstGeom prst="rect">
            <a:avLst/>
          </a:prstGeom>
          <a:noFill/>
        </p:spPr>
        <p:txBody>
          <a:bodyPr vert="horz" wrap="square" lIns="63500" tIns="38100" rIns="63500" bIns="38100" rtlCol="0">
            <a:spAutoFit/>
          </a:bodyPr>
          <a:lstStyle/>
          <a:p>
            <a:r>
              <a:rPr lang="en-AU" sz="600" b="1">
                <a:solidFill>
                  <a:srgbClr val="081F2F"/>
                </a:solidFill>
                <a:latin typeface="Arial" panose="020B0604020202020204" pitchFamily="34" charset="0"/>
              </a:rPr>
              <a:t>YEAR 9 ENGINEERING</a:t>
            </a:r>
          </a:p>
        </p:txBody>
      </p:sp>
      <p:sp>
        <p:nvSpPr>
          <p:cNvPr id="8" name="Rectangle 7">
            <a:extLst>
              <a:ext uri="{FF2B5EF4-FFF2-40B4-BE49-F238E27FC236}">
                <a16:creationId xmlns:a16="http://schemas.microsoft.com/office/drawing/2014/main" id="{A02F0A19-7D4B-23E9-9F9F-4A84E9D1E580}"/>
              </a:ext>
            </a:extLst>
          </p:cNvPr>
          <p:cNvSpPr/>
          <p:nvPr/>
        </p:nvSpPr>
        <p:spPr>
          <a:xfrm>
            <a:off x="0" y="812800"/>
            <a:ext cx="6858000" cy="76200"/>
          </a:xfrm>
          <a:prstGeom prst="rect">
            <a:avLst/>
          </a:prstGeom>
          <a:solidFill>
            <a:srgbClr val="F2C700"/>
          </a:solidFill>
          <a:ln w="0">
            <a:solidFill>
              <a:srgbClr val="F2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1285C0E1-4CD2-7B98-1187-5B71274EEA74}"/>
              </a:ext>
            </a:extLst>
          </p:cNvPr>
          <p:cNvSpPr txBox="1"/>
          <p:nvPr/>
        </p:nvSpPr>
        <p:spPr>
          <a:xfrm>
            <a:off x="355600" y="1041400"/>
            <a:ext cx="6146800" cy="353943"/>
          </a:xfrm>
          <a:prstGeom prst="rect">
            <a:avLst/>
          </a:prstGeom>
          <a:noFill/>
        </p:spPr>
        <p:txBody>
          <a:bodyPr vert="horz" wrap="square" lIns="63500" tIns="38100" rIns="63500" bIns="38100" rtlCol="0">
            <a:spAutoFit/>
          </a:bodyPr>
          <a:lstStyle/>
          <a:p>
            <a:r>
              <a:rPr lang="en-AU" b="1">
                <a:solidFill>
                  <a:srgbClr val="081F2F"/>
                </a:solidFill>
                <a:latin typeface="Arial Narrow" panose="020B0606020202030204" pitchFamily="34" charset="0"/>
              </a:rPr>
              <a:t>PROJECT BRIEF</a:t>
            </a:r>
          </a:p>
        </p:txBody>
      </p:sp>
      <p:sp>
        <p:nvSpPr>
          <p:cNvPr id="10" name="TextBox 9">
            <a:extLst>
              <a:ext uri="{FF2B5EF4-FFF2-40B4-BE49-F238E27FC236}">
                <a16:creationId xmlns:a16="http://schemas.microsoft.com/office/drawing/2014/main" id="{2A4D1BB7-0F42-6176-6A9D-40554ADE7716}"/>
              </a:ext>
            </a:extLst>
          </p:cNvPr>
          <p:cNvSpPr txBox="1"/>
          <p:nvPr/>
        </p:nvSpPr>
        <p:spPr>
          <a:xfrm>
            <a:off x="355600" y="1409700"/>
            <a:ext cx="6146800" cy="200055"/>
          </a:xfrm>
          <a:prstGeom prst="rect">
            <a:avLst/>
          </a:prstGeom>
          <a:noFill/>
        </p:spPr>
        <p:txBody>
          <a:bodyPr vert="horz" wrap="square" lIns="63500" tIns="38100" rIns="63500" bIns="38100" rtlCol="0">
            <a:spAutoFit/>
          </a:bodyPr>
          <a:lstStyle/>
          <a:p>
            <a:r>
              <a:rPr lang="en-GB" sz="800">
                <a:solidFill>
                  <a:srgbClr val="5B6B7A"/>
                </a:solidFill>
                <a:latin typeface="Arial" panose="020B0604020202020204" pitchFamily="34" charset="0"/>
              </a:rPr>
              <a:t>A strong answer defines the design challenge, success criteria, and the evidence that will prove the digger works.</a:t>
            </a:r>
            <a:endParaRPr lang="en-AU" sz="800">
              <a:solidFill>
                <a:srgbClr val="5B6B7A"/>
              </a:solidFill>
              <a:latin typeface="Arial" panose="020B0604020202020204" pitchFamily="34" charset="0"/>
            </a:endParaRPr>
          </a:p>
        </p:txBody>
      </p:sp>
      <p:pic>
        <p:nvPicPr>
          <p:cNvPr id="12" name="Picture 11">
            <a:extLst>
              <a:ext uri="{FF2B5EF4-FFF2-40B4-BE49-F238E27FC236}">
                <a16:creationId xmlns:a16="http://schemas.microsoft.com/office/drawing/2014/main" id="{75B9F19B-467B-5A01-99C9-28E5C1F6113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38867" y="1752600"/>
            <a:ext cx="2980267" cy="2235200"/>
          </a:xfrm>
          <a:prstGeom prst="rect">
            <a:avLst/>
          </a:prstGeom>
        </p:spPr>
      </p:pic>
      <p:sp>
        <p:nvSpPr>
          <p:cNvPr id="13" name="Rectangle 12">
            <a:extLst>
              <a:ext uri="{FF2B5EF4-FFF2-40B4-BE49-F238E27FC236}">
                <a16:creationId xmlns:a16="http://schemas.microsoft.com/office/drawing/2014/main" id="{1FFA4593-06B0-55E5-1F85-930F21710723}"/>
              </a:ext>
            </a:extLst>
          </p:cNvPr>
          <p:cNvSpPr/>
          <p:nvPr/>
        </p:nvSpPr>
        <p:spPr>
          <a:xfrm>
            <a:off x="355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EC66FEB1-6351-F930-36BC-B27F6739E164}"/>
              </a:ext>
            </a:extLst>
          </p:cNvPr>
          <p:cNvSpPr/>
          <p:nvPr/>
        </p:nvSpPr>
        <p:spPr>
          <a:xfrm>
            <a:off x="355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58DBAE68-CDDF-689C-E121-750E935978E2}"/>
              </a:ext>
            </a:extLst>
          </p:cNvPr>
          <p:cNvSpPr txBox="1"/>
          <p:nvPr/>
        </p:nvSpPr>
        <p:spPr>
          <a:xfrm>
            <a:off x="381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1</a:t>
            </a:r>
          </a:p>
        </p:txBody>
      </p:sp>
      <p:sp>
        <p:nvSpPr>
          <p:cNvPr id="16" name="TextBox 15">
            <a:extLst>
              <a:ext uri="{FF2B5EF4-FFF2-40B4-BE49-F238E27FC236}">
                <a16:creationId xmlns:a16="http://schemas.microsoft.com/office/drawing/2014/main" id="{0732ED16-05C3-43D5-BFE3-08EE707A7E49}"/>
              </a:ext>
            </a:extLst>
          </p:cNvPr>
          <p:cNvSpPr txBox="1"/>
          <p:nvPr/>
        </p:nvSpPr>
        <p:spPr>
          <a:xfrm>
            <a:off x="863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Design challenge</a:t>
            </a:r>
          </a:p>
        </p:txBody>
      </p:sp>
      <p:sp>
        <p:nvSpPr>
          <p:cNvPr id="17" name="TextBox 16">
            <a:extLst>
              <a:ext uri="{FF2B5EF4-FFF2-40B4-BE49-F238E27FC236}">
                <a16:creationId xmlns:a16="http://schemas.microsoft.com/office/drawing/2014/main" id="{930A53FF-46F7-69B4-E2FA-4D79B35CF9E3}"/>
              </a:ext>
            </a:extLst>
          </p:cNvPr>
          <p:cNvSpPr txBox="1"/>
          <p:nvPr/>
        </p:nvSpPr>
        <p:spPr>
          <a:xfrm>
            <a:off x="457200" y="4622800"/>
            <a:ext cx="1752600" cy="692497"/>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Create a tabletop hydraulic digger</a:t>
            </a:r>
          </a:p>
          <a:p>
            <a:r>
              <a:rPr lang="en-GB" sz="800">
                <a:solidFill>
                  <a:srgbClr val="081F2F"/>
                </a:solidFill>
                <a:latin typeface="Arial" panose="020B0604020202020204" pitchFamily="34" charset="0"/>
              </a:rPr>
              <a:t>- Use boom, dipper and bucket movement</a:t>
            </a:r>
          </a:p>
          <a:p>
            <a:r>
              <a:rPr lang="en-GB" sz="800">
                <a:solidFill>
                  <a:srgbClr val="081F2F"/>
                </a:solidFill>
                <a:latin typeface="Arial" panose="020B0604020202020204" pitchFamily="34" charset="0"/>
              </a:rPr>
              <a:t>- Transfer force with syringes and tubing</a:t>
            </a:r>
            <a:endParaRPr lang="en-AU" sz="800">
              <a:solidFill>
                <a:srgbClr val="081F2F"/>
              </a:solidFill>
              <a:latin typeface="Arial" panose="020B0604020202020204" pitchFamily="34" charset="0"/>
            </a:endParaRPr>
          </a:p>
        </p:txBody>
      </p:sp>
      <p:sp>
        <p:nvSpPr>
          <p:cNvPr id="18" name="Rectangle 17">
            <a:extLst>
              <a:ext uri="{FF2B5EF4-FFF2-40B4-BE49-F238E27FC236}">
                <a16:creationId xmlns:a16="http://schemas.microsoft.com/office/drawing/2014/main" id="{AE97C05D-815E-F905-60F9-258A658C713C}"/>
              </a:ext>
            </a:extLst>
          </p:cNvPr>
          <p:cNvSpPr/>
          <p:nvPr/>
        </p:nvSpPr>
        <p:spPr>
          <a:xfrm>
            <a:off x="24511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8F106445-CA46-A193-7DBD-58350D56BDA0}"/>
              </a:ext>
            </a:extLst>
          </p:cNvPr>
          <p:cNvSpPr/>
          <p:nvPr/>
        </p:nvSpPr>
        <p:spPr>
          <a:xfrm>
            <a:off x="24511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D6ED8F78-5FAC-5812-F312-4DA439E109A2}"/>
              </a:ext>
            </a:extLst>
          </p:cNvPr>
          <p:cNvSpPr txBox="1"/>
          <p:nvPr/>
        </p:nvSpPr>
        <p:spPr>
          <a:xfrm>
            <a:off x="24765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2</a:t>
            </a:r>
          </a:p>
        </p:txBody>
      </p:sp>
      <p:sp>
        <p:nvSpPr>
          <p:cNvPr id="21" name="TextBox 20">
            <a:extLst>
              <a:ext uri="{FF2B5EF4-FFF2-40B4-BE49-F238E27FC236}">
                <a16:creationId xmlns:a16="http://schemas.microsoft.com/office/drawing/2014/main" id="{618F13BB-4A31-336B-0811-0DC9276084E4}"/>
              </a:ext>
            </a:extLst>
          </p:cNvPr>
          <p:cNvSpPr txBox="1"/>
          <p:nvPr/>
        </p:nvSpPr>
        <p:spPr>
          <a:xfrm>
            <a:off x="29591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Success criteria</a:t>
            </a:r>
          </a:p>
        </p:txBody>
      </p:sp>
      <p:sp>
        <p:nvSpPr>
          <p:cNvPr id="22" name="TextBox 21">
            <a:extLst>
              <a:ext uri="{FF2B5EF4-FFF2-40B4-BE49-F238E27FC236}">
                <a16:creationId xmlns:a16="http://schemas.microsoft.com/office/drawing/2014/main" id="{B8B76BB5-64ED-04BE-BDE9-C506A99A6FDE}"/>
              </a:ext>
            </a:extLst>
          </p:cNvPr>
          <p:cNvSpPr txBox="1"/>
          <p:nvPr/>
        </p:nvSpPr>
        <p:spPr>
          <a:xfrm>
            <a:off x="25527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- 3 circuits: boom, dipper, bucket</a:t>
            </a:r>
          </a:p>
          <a:p>
            <a:r>
              <a:rPr lang="en-GB" sz="800">
                <a:solidFill>
                  <a:srgbClr val="081F2F"/>
                </a:solidFill>
                <a:latin typeface="Arial" panose="020B0604020202020204" pitchFamily="34" charset="0"/>
              </a:rPr>
              <a:t>- Smooth, leak-free motion</a:t>
            </a:r>
          </a:p>
          <a:p>
            <a:r>
              <a:rPr lang="en-GB" sz="800">
                <a:solidFill>
                  <a:srgbClr val="081F2F"/>
                </a:solidFill>
                <a:latin typeface="Arial" panose="020B0604020202020204" pitchFamily="34" charset="0"/>
              </a:rPr>
              <a:t>- Reach, lift and control evidence</a:t>
            </a:r>
            <a:endParaRPr lang="en-AU" sz="800">
              <a:solidFill>
                <a:srgbClr val="081F2F"/>
              </a:solidFill>
              <a:latin typeface="Arial" panose="020B0604020202020204" pitchFamily="34" charset="0"/>
            </a:endParaRPr>
          </a:p>
        </p:txBody>
      </p:sp>
      <p:sp>
        <p:nvSpPr>
          <p:cNvPr id="23" name="Rectangle 22">
            <a:extLst>
              <a:ext uri="{FF2B5EF4-FFF2-40B4-BE49-F238E27FC236}">
                <a16:creationId xmlns:a16="http://schemas.microsoft.com/office/drawing/2014/main" id="{BD77A4B4-AD80-F5A8-CE9E-1B74AA8BC70B}"/>
              </a:ext>
            </a:extLst>
          </p:cNvPr>
          <p:cNvSpPr/>
          <p:nvPr/>
        </p:nvSpPr>
        <p:spPr>
          <a:xfrm>
            <a:off x="4546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CAEE7218-ED8B-82A8-4FCD-BB66357C610E}"/>
              </a:ext>
            </a:extLst>
          </p:cNvPr>
          <p:cNvSpPr/>
          <p:nvPr/>
        </p:nvSpPr>
        <p:spPr>
          <a:xfrm>
            <a:off x="4546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7BCDE9F7-A8E1-D438-5803-7DC33FCF3067}"/>
              </a:ext>
            </a:extLst>
          </p:cNvPr>
          <p:cNvSpPr txBox="1"/>
          <p:nvPr/>
        </p:nvSpPr>
        <p:spPr>
          <a:xfrm>
            <a:off x="4572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3</a:t>
            </a:r>
          </a:p>
        </p:txBody>
      </p:sp>
      <p:sp>
        <p:nvSpPr>
          <p:cNvPr id="26" name="TextBox 25">
            <a:extLst>
              <a:ext uri="{FF2B5EF4-FFF2-40B4-BE49-F238E27FC236}">
                <a16:creationId xmlns:a16="http://schemas.microsoft.com/office/drawing/2014/main" id="{521D5E91-1C28-F945-503C-E7A5BD36997C}"/>
              </a:ext>
            </a:extLst>
          </p:cNvPr>
          <p:cNvSpPr txBox="1"/>
          <p:nvPr/>
        </p:nvSpPr>
        <p:spPr>
          <a:xfrm>
            <a:off x="5054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Evidence to collect</a:t>
            </a:r>
          </a:p>
        </p:txBody>
      </p:sp>
      <p:sp>
        <p:nvSpPr>
          <p:cNvPr id="27" name="TextBox 26">
            <a:extLst>
              <a:ext uri="{FF2B5EF4-FFF2-40B4-BE49-F238E27FC236}">
                <a16:creationId xmlns:a16="http://schemas.microsoft.com/office/drawing/2014/main" id="{4A02C9E4-C115-C69E-8588-AA616361B1C7}"/>
              </a:ext>
            </a:extLst>
          </p:cNvPr>
          <p:cNvSpPr txBox="1"/>
          <p:nvPr/>
        </p:nvSpPr>
        <p:spPr>
          <a:xfrm>
            <a:off x="4648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Sketches and pivot layout</a:t>
            </a:r>
          </a:p>
          <a:p>
            <a:r>
              <a:rPr lang="en-GB" sz="800">
                <a:solidFill>
                  <a:srgbClr val="081F2F"/>
                </a:solidFill>
                <a:latin typeface="Arial" panose="020B0604020202020204" pitchFamily="34" charset="0"/>
              </a:rPr>
              <a:t>- Syringe sizes and calculations</a:t>
            </a:r>
          </a:p>
          <a:p>
            <a:r>
              <a:rPr lang="en-GB" sz="800">
                <a:solidFill>
                  <a:srgbClr val="081F2F"/>
                </a:solidFill>
                <a:latin typeface="Arial" panose="020B0604020202020204" pitchFamily="34" charset="0"/>
              </a:rPr>
              <a:t>- Test data, photos and evaluation</a:t>
            </a:r>
            <a:endParaRPr lang="en-AU" sz="800">
              <a:solidFill>
                <a:srgbClr val="081F2F"/>
              </a:solidFill>
              <a:latin typeface="Arial" panose="020B0604020202020204" pitchFamily="34" charset="0"/>
            </a:endParaRPr>
          </a:p>
        </p:txBody>
      </p:sp>
      <p:sp>
        <p:nvSpPr>
          <p:cNvPr id="28" name="Rectangle 27">
            <a:extLst>
              <a:ext uri="{FF2B5EF4-FFF2-40B4-BE49-F238E27FC236}">
                <a16:creationId xmlns:a16="http://schemas.microsoft.com/office/drawing/2014/main" id="{02CA074E-23D1-0FEB-57A3-AB8A960BFA27}"/>
              </a:ext>
            </a:extLst>
          </p:cNvPr>
          <p:cNvSpPr/>
          <p:nvPr/>
        </p:nvSpPr>
        <p:spPr>
          <a:xfrm>
            <a:off x="355600" y="7404100"/>
            <a:ext cx="6146800" cy="1473200"/>
          </a:xfrm>
          <a:prstGeom prst="rect">
            <a:avLst/>
          </a:prstGeom>
          <a:solidFill>
            <a:srgbClr val="FFF4BF"/>
          </a:solidFill>
          <a:ln w="1778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C41693D3-F7FB-9249-C96C-5DAFF0D5D4A0}"/>
              </a:ext>
            </a:extLst>
          </p:cNvPr>
          <p:cNvSpPr/>
          <p:nvPr/>
        </p:nvSpPr>
        <p:spPr>
          <a:xfrm>
            <a:off x="520700" y="7670800"/>
            <a:ext cx="469900" cy="469900"/>
          </a:xfrm>
          <a:prstGeom prst="ellipse">
            <a:avLst/>
          </a:prstGeom>
          <a:solidFill>
            <a:srgbClr val="F2C700"/>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8C17DB08-EB01-FC1D-862E-3EE1627D1661}"/>
              </a:ext>
            </a:extLst>
          </p:cNvPr>
          <p:cNvSpPr txBox="1"/>
          <p:nvPr/>
        </p:nvSpPr>
        <p:spPr>
          <a:xfrm>
            <a:off x="571500" y="7747000"/>
            <a:ext cx="3556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OK</a:t>
            </a:r>
          </a:p>
        </p:txBody>
      </p:sp>
      <p:sp>
        <p:nvSpPr>
          <p:cNvPr id="31" name="TextBox 30">
            <a:extLst>
              <a:ext uri="{FF2B5EF4-FFF2-40B4-BE49-F238E27FC236}">
                <a16:creationId xmlns:a16="http://schemas.microsoft.com/office/drawing/2014/main" id="{4CE73808-F1B1-7901-5787-484B08A8FD21}"/>
              </a:ext>
            </a:extLst>
          </p:cNvPr>
          <p:cNvSpPr txBox="1"/>
          <p:nvPr/>
        </p:nvSpPr>
        <p:spPr>
          <a:xfrm>
            <a:off x="1155700" y="7543800"/>
            <a:ext cx="4953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BEST PRACTICE STUDENT RESPONSE</a:t>
            </a:r>
          </a:p>
        </p:txBody>
      </p:sp>
      <p:sp>
        <p:nvSpPr>
          <p:cNvPr id="32" name="TextBox 31">
            <a:extLst>
              <a:ext uri="{FF2B5EF4-FFF2-40B4-BE49-F238E27FC236}">
                <a16:creationId xmlns:a16="http://schemas.microsoft.com/office/drawing/2014/main" id="{FBF26697-658F-D9D8-B5D3-0552D0ECEFD8}"/>
              </a:ext>
            </a:extLst>
          </p:cNvPr>
          <p:cNvSpPr txBox="1"/>
          <p:nvPr/>
        </p:nvSpPr>
        <p:spPr>
          <a:xfrm>
            <a:off x="1155700" y="7835900"/>
            <a:ext cx="49530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The design challenge was to build a tabletop hydraulic digger with three controlled hydraulic movements. A successful digger needed smooth, leak-free boom, dipper and bucket action. My folio will use sketches, photos, test data and calculations to prove reach, lift and control.</a:t>
            </a:r>
            <a:endParaRPr lang="en-AU" sz="800">
              <a:solidFill>
                <a:srgbClr val="081F2F"/>
              </a:solidFill>
              <a:latin typeface="Arial" panose="020B0604020202020204" pitchFamily="34" charset="0"/>
            </a:endParaRPr>
          </a:p>
        </p:txBody>
      </p:sp>
      <p:sp>
        <p:nvSpPr>
          <p:cNvPr id="33" name="Rectangle 32">
            <a:extLst>
              <a:ext uri="{FF2B5EF4-FFF2-40B4-BE49-F238E27FC236}">
                <a16:creationId xmlns:a16="http://schemas.microsoft.com/office/drawing/2014/main" id="{5AE74E57-69E1-B7A3-25E4-E2BA00EB1925}"/>
              </a:ext>
            </a:extLst>
          </p:cNvPr>
          <p:cNvSpPr/>
          <p:nvPr/>
        </p:nvSpPr>
        <p:spPr>
          <a:xfrm>
            <a:off x="355600" y="9448800"/>
            <a:ext cx="6146800" cy="533400"/>
          </a:xfrm>
          <a:prstGeom prst="rect">
            <a:avLst/>
          </a:prstGeom>
          <a:solidFill>
            <a:srgbClr val="FFFFFF"/>
          </a:solidFill>
          <a:ln w="1397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2F6CEC0A-D0DE-470B-7FC0-231665E62A5E}"/>
              </a:ext>
            </a:extLst>
          </p:cNvPr>
          <p:cNvSpPr txBox="1"/>
          <p:nvPr/>
        </p:nvSpPr>
        <p:spPr>
          <a:xfrm>
            <a:off x="469900" y="9499600"/>
            <a:ext cx="1168400" cy="323165"/>
          </a:xfrm>
          <a:prstGeom prst="rect">
            <a:avLst/>
          </a:prstGeom>
          <a:noFill/>
        </p:spPr>
        <p:txBody>
          <a:bodyPr vert="horz" wrap="square" lIns="63500" tIns="38100" rIns="63500" bIns="38100" rtlCol="0">
            <a:spAutoFit/>
          </a:bodyPr>
          <a:lstStyle/>
          <a:p>
            <a:r>
              <a:rPr lang="en-AU" sz="800" b="1">
                <a:solidFill>
                  <a:srgbClr val="081F2F"/>
                </a:solidFill>
                <a:latin typeface="Arial" panose="020B0604020202020204" pitchFamily="34" charset="0"/>
              </a:rPr>
              <a:t>BEFORE YOU TICK DONE</a:t>
            </a:r>
          </a:p>
        </p:txBody>
      </p:sp>
      <p:sp>
        <p:nvSpPr>
          <p:cNvPr id="35" name="Rectangle 34">
            <a:extLst>
              <a:ext uri="{FF2B5EF4-FFF2-40B4-BE49-F238E27FC236}">
                <a16:creationId xmlns:a16="http://schemas.microsoft.com/office/drawing/2014/main" id="{BDAF8760-C81E-6A61-DA20-A9B60CA60E88}"/>
              </a:ext>
            </a:extLst>
          </p:cNvPr>
          <p:cNvSpPr/>
          <p:nvPr/>
        </p:nvSpPr>
        <p:spPr>
          <a:xfrm>
            <a:off x="17399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a:extLst>
              <a:ext uri="{FF2B5EF4-FFF2-40B4-BE49-F238E27FC236}">
                <a16:creationId xmlns:a16="http://schemas.microsoft.com/office/drawing/2014/main" id="{4148E2BF-0040-93D2-4E9D-BADF507B26B3}"/>
              </a:ext>
            </a:extLst>
          </p:cNvPr>
          <p:cNvSpPr txBox="1"/>
          <p:nvPr/>
        </p:nvSpPr>
        <p:spPr>
          <a:xfrm>
            <a:off x="18923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Brief stated</a:t>
            </a:r>
          </a:p>
        </p:txBody>
      </p:sp>
      <p:sp>
        <p:nvSpPr>
          <p:cNvPr id="37" name="Rectangle 36">
            <a:extLst>
              <a:ext uri="{FF2B5EF4-FFF2-40B4-BE49-F238E27FC236}">
                <a16:creationId xmlns:a16="http://schemas.microsoft.com/office/drawing/2014/main" id="{559DE220-61CB-6225-A00D-08F863146F8C}"/>
              </a:ext>
            </a:extLst>
          </p:cNvPr>
          <p:cNvSpPr/>
          <p:nvPr/>
        </p:nvSpPr>
        <p:spPr>
          <a:xfrm>
            <a:off x="32385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97F7F55D-3B59-5F56-AB7C-F3FC8B35F4CF}"/>
              </a:ext>
            </a:extLst>
          </p:cNvPr>
          <p:cNvSpPr txBox="1"/>
          <p:nvPr/>
        </p:nvSpPr>
        <p:spPr>
          <a:xfrm>
            <a:off x="33909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Criteria named</a:t>
            </a:r>
          </a:p>
        </p:txBody>
      </p:sp>
      <p:sp>
        <p:nvSpPr>
          <p:cNvPr id="39" name="Rectangle 38">
            <a:extLst>
              <a:ext uri="{FF2B5EF4-FFF2-40B4-BE49-F238E27FC236}">
                <a16:creationId xmlns:a16="http://schemas.microsoft.com/office/drawing/2014/main" id="{5EA838C4-17AE-45D9-B82B-B83461E90DDD}"/>
              </a:ext>
            </a:extLst>
          </p:cNvPr>
          <p:cNvSpPr/>
          <p:nvPr/>
        </p:nvSpPr>
        <p:spPr>
          <a:xfrm>
            <a:off x="47371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4C9ABAE7-4B4A-8687-2CE0-2EB1215F779D}"/>
              </a:ext>
            </a:extLst>
          </p:cNvPr>
          <p:cNvSpPr txBox="1"/>
          <p:nvPr/>
        </p:nvSpPr>
        <p:spPr>
          <a:xfrm>
            <a:off x="48895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Evidence planned</a:t>
            </a:r>
          </a:p>
        </p:txBody>
      </p:sp>
    </p:spTree>
    <p:extLst>
      <p:ext uri="{BB962C8B-B14F-4D97-AF65-F5344CB8AC3E}">
        <p14:creationId xmlns:p14="http://schemas.microsoft.com/office/powerpoint/2010/main" val="2655920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E47467-69D1-ADE2-6D15-5977A32EE6D3}"/>
              </a:ext>
            </a:extLst>
          </p:cNvPr>
          <p:cNvSpPr/>
          <p:nvPr/>
        </p:nvSpPr>
        <p:spPr>
          <a:xfrm>
            <a:off x="0" y="0"/>
            <a:ext cx="6858000" cy="812800"/>
          </a:xfrm>
          <a:prstGeom prst="rect">
            <a:avLst/>
          </a:prstGeom>
          <a:solidFill>
            <a:srgbClr val="081F2F"/>
          </a:solidFill>
          <a:ln w="0">
            <a:solidFill>
              <a:srgbClr val="081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29EC3E73-E2B3-887C-1E73-0CB3E29C3F13}"/>
              </a:ext>
            </a:extLst>
          </p:cNvPr>
          <p:cNvSpPr/>
          <p:nvPr/>
        </p:nvSpPr>
        <p:spPr>
          <a:xfrm>
            <a:off x="355600" y="228600"/>
            <a:ext cx="889000" cy="228600"/>
          </a:xfrm>
          <a:prstGeom prst="rect">
            <a:avLst/>
          </a:prstGeom>
          <a:solidFill>
            <a:srgbClr val="0B2B3B"/>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005702F6-6C27-8F95-B52F-FCFADEADAC83}"/>
              </a:ext>
            </a:extLst>
          </p:cNvPr>
          <p:cNvSpPr txBox="1"/>
          <p:nvPr/>
        </p:nvSpPr>
        <p:spPr>
          <a:xfrm>
            <a:off x="431800" y="254000"/>
            <a:ext cx="736600" cy="184666"/>
          </a:xfrm>
          <a:prstGeom prst="rect">
            <a:avLst/>
          </a:prstGeom>
          <a:noFill/>
        </p:spPr>
        <p:txBody>
          <a:bodyPr vert="horz" wrap="square" lIns="63500" tIns="38100" rIns="63500" bIns="38100" rtlCol="0">
            <a:spAutoFit/>
          </a:bodyPr>
          <a:lstStyle/>
          <a:p>
            <a:r>
              <a:rPr lang="en-AU" sz="700" b="1">
                <a:solidFill>
                  <a:srgbClr val="FFFFFF"/>
                </a:solidFill>
                <a:latin typeface="Arial" panose="020B0604020202020204" pitchFamily="34" charset="0"/>
              </a:rPr>
              <a:t>SECTION 2</a:t>
            </a:r>
          </a:p>
        </p:txBody>
      </p:sp>
      <p:sp>
        <p:nvSpPr>
          <p:cNvPr id="5" name="TextBox 4">
            <a:extLst>
              <a:ext uri="{FF2B5EF4-FFF2-40B4-BE49-F238E27FC236}">
                <a16:creationId xmlns:a16="http://schemas.microsoft.com/office/drawing/2014/main" id="{53FE7625-D188-E442-48EF-D54F89366F01}"/>
              </a:ext>
            </a:extLst>
          </p:cNvPr>
          <p:cNvSpPr txBox="1"/>
          <p:nvPr/>
        </p:nvSpPr>
        <p:spPr>
          <a:xfrm>
            <a:off x="1422400" y="165100"/>
            <a:ext cx="3429000" cy="307777"/>
          </a:xfrm>
          <a:prstGeom prst="rect">
            <a:avLst/>
          </a:prstGeom>
          <a:noFill/>
        </p:spPr>
        <p:txBody>
          <a:bodyPr vert="horz" wrap="square" lIns="63500" tIns="38100" rIns="63500" bIns="38100" rtlCol="0">
            <a:spAutoFit/>
          </a:bodyPr>
          <a:lstStyle/>
          <a:p>
            <a:r>
              <a:rPr lang="en-AU" sz="1500" b="1">
                <a:solidFill>
                  <a:srgbClr val="FFFFFF"/>
                </a:solidFill>
                <a:latin typeface="Arial Narrow" panose="020B0606020202030204" pitchFamily="34" charset="0"/>
              </a:rPr>
              <a:t>BEST PRACTICE ANSWER</a:t>
            </a:r>
          </a:p>
        </p:txBody>
      </p:sp>
      <p:sp>
        <p:nvSpPr>
          <p:cNvPr id="6" name="Rectangle 5">
            <a:extLst>
              <a:ext uri="{FF2B5EF4-FFF2-40B4-BE49-F238E27FC236}">
                <a16:creationId xmlns:a16="http://schemas.microsoft.com/office/drawing/2014/main" id="{4AE5EEED-290E-66E5-CADD-947EBB799BC1}"/>
              </a:ext>
            </a:extLst>
          </p:cNvPr>
          <p:cNvSpPr/>
          <p:nvPr/>
        </p:nvSpPr>
        <p:spPr>
          <a:xfrm>
            <a:off x="5207000" y="165100"/>
            <a:ext cx="1168400" cy="3556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084851F8-1E2B-868A-FD3F-8F87ECCD2134}"/>
              </a:ext>
            </a:extLst>
          </p:cNvPr>
          <p:cNvSpPr txBox="1"/>
          <p:nvPr/>
        </p:nvSpPr>
        <p:spPr>
          <a:xfrm>
            <a:off x="5257800" y="228600"/>
            <a:ext cx="1066800" cy="169277"/>
          </a:xfrm>
          <a:prstGeom prst="rect">
            <a:avLst/>
          </a:prstGeom>
          <a:noFill/>
        </p:spPr>
        <p:txBody>
          <a:bodyPr vert="horz" wrap="square" lIns="63500" tIns="38100" rIns="63500" bIns="38100" rtlCol="0">
            <a:spAutoFit/>
          </a:bodyPr>
          <a:lstStyle/>
          <a:p>
            <a:r>
              <a:rPr lang="en-AU" sz="600" b="1">
                <a:solidFill>
                  <a:srgbClr val="081F2F"/>
                </a:solidFill>
                <a:latin typeface="Arial" panose="020B0604020202020204" pitchFamily="34" charset="0"/>
              </a:rPr>
              <a:t>YEAR 9 ENGINEERING</a:t>
            </a:r>
          </a:p>
        </p:txBody>
      </p:sp>
      <p:sp>
        <p:nvSpPr>
          <p:cNvPr id="8" name="Rectangle 7">
            <a:extLst>
              <a:ext uri="{FF2B5EF4-FFF2-40B4-BE49-F238E27FC236}">
                <a16:creationId xmlns:a16="http://schemas.microsoft.com/office/drawing/2014/main" id="{A0A63302-ED26-E55F-5ED9-60CE36014D76}"/>
              </a:ext>
            </a:extLst>
          </p:cNvPr>
          <p:cNvSpPr/>
          <p:nvPr/>
        </p:nvSpPr>
        <p:spPr>
          <a:xfrm>
            <a:off x="0" y="812800"/>
            <a:ext cx="6858000" cy="76200"/>
          </a:xfrm>
          <a:prstGeom prst="rect">
            <a:avLst/>
          </a:prstGeom>
          <a:solidFill>
            <a:srgbClr val="F2C700"/>
          </a:solidFill>
          <a:ln w="0">
            <a:solidFill>
              <a:srgbClr val="F2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C93605EB-03ED-27AB-8519-8B1DDB1D9F46}"/>
              </a:ext>
            </a:extLst>
          </p:cNvPr>
          <p:cNvSpPr txBox="1"/>
          <p:nvPr/>
        </p:nvSpPr>
        <p:spPr>
          <a:xfrm>
            <a:off x="355600" y="1041400"/>
            <a:ext cx="6146800" cy="353943"/>
          </a:xfrm>
          <a:prstGeom prst="rect">
            <a:avLst/>
          </a:prstGeom>
          <a:noFill/>
        </p:spPr>
        <p:txBody>
          <a:bodyPr vert="horz" wrap="square" lIns="63500" tIns="38100" rIns="63500" bIns="38100" rtlCol="0">
            <a:spAutoFit/>
          </a:bodyPr>
          <a:lstStyle/>
          <a:p>
            <a:r>
              <a:rPr lang="en-AU" b="1">
                <a:solidFill>
                  <a:srgbClr val="081F2F"/>
                </a:solidFill>
                <a:latin typeface="Arial Narrow" panose="020B0606020202030204" pitchFamily="34" charset="0"/>
              </a:rPr>
              <a:t>WHS AND RISK CONTROLS</a:t>
            </a:r>
          </a:p>
        </p:txBody>
      </p:sp>
      <p:sp>
        <p:nvSpPr>
          <p:cNvPr id="10" name="TextBox 9">
            <a:extLst>
              <a:ext uri="{FF2B5EF4-FFF2-40B4-BE49-F238E27FC236}">
                <a16:creationId xmlns:a16="http://schemas.microsoft.com/office/drawing/2014/main" id="{C2465718-33EB-24B0-DAE8-3B54527EA3F0}"/>
              </a:ext>
            </a:extLst>
          </p:cNvPr>
          <p:cNvSpPr txBox="1"/>
          <p:nvPr/>
        </p:nvSpPr>
        <p:spPr>
          <a:xfrm>
            <a:off x="355600" y="1409700"/>
            <a:ext cx="6146800" cy="200055"/>
          </a:xfrm>
          <a:prstGeom prst="rect">
            <a:avLst/>
          </a:prstGeom>
          <a:noFill/>
        </p:spPr>
        <p:txBody>
          <a:bodyPr vert="horz" wrap="square" lIns="63500" tIns="38100" rIns="63500" bIns="38100" rtlCol="0">
            <a:spAutoFit/>
          </a:bodyPr>
          <a:lstStyle/>
          <a:p>
            <a:r>
              <a:rPr lang="en-GB" sz="800">
                <a:solidFill>
                  <a:srgbClr val="5B6B7A"/>
                </a:solidFill>
                <a:latin typeface="Arial" panose="020B0604020202020204" pitchFamily="34" charset="0"/>
              </a:rPr>
              <a:t>A strong answer explains the hazards and shows how safe workshop practice controlled the risks.</a:t>
            </a:r>
            <a:endParaRPr lang="en-AU" sz="800">
              <a:solidFill>
                <a:srgbClr val="5B6B7A"/>
              </a:solidFill>
              <a:latin typeface="Arial" panose="020B0604020202020204" pitchFamily="34" charset="0"/>
            </a:endParaRPr>
          </a:p>
        </p:txBody>
      </p:sp>
      <p:pic>
        <p:nvPicPr>
          <p:cNvPr id="12" name="Picture 11">
            <a:extLst>
              <a:ext uri="{FF2B5EF4-FFF2-40B4-BE49-F238E27FC236}">
                <a16:creationId xmlns:a16="http://schemas.microsoft.com/office/drawing/2014/main" id="{A05C9B7A-95B5-81DD-B8BC-C42EE2B5FBF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38867" y="1752600"/>
            <a:ext cx="2980267" cy="2235200"/>
          </a:xfrm>
          <a:prstGeom prst="rect">
            <a:avLst/>
          </a:prstGeom>
        </p:spPr>
      </p:pic>
      <p:sp>
        <p:nvSpPr>
          <p:cNvPr id="13" name="Rectangle 12">
            <a:extLst>
              <a:ext uri="{FF2B5EF4-FFF2-40B4-BE49-F238E27FC236}">
                <a16:creationId xmlns:a16="http://schemas.microsoft.com/office/drawing/2014/main" id="{8D5917A0-F19C-0406-91B8-A5CAAE24020C}"/>
              </a:ext>
            </a:extLst>
          </p:cNvPr>
          <p:cNvSpPr/>
          <p:nvPr/>
        </p:nvSpPr>
        <p:spPr>
          <a:xfrm>
            <a:off x="355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265C5B23-54F5-9646-B56C-95DF5A0D0417}"/>
              </a:ext>
            </a:extLst>
          </p:cNvPr>
          <p:cNvSpPr/>
          <p:nvPr/>
        </p:nvSpPr>
        <p:spPr>
          <a:xfrm>
            <a:off x="355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5BCC24BE-91AA-BE9E-8925-797EA405198A}"/>
              </a:ext>
            </a:extLst>
          </p:cNvPr>
          <p:cNvSpPr txBox="1"/>
          <p:nvPr/>
        </p:nvSpPr>
        <p:spPr>
          <a:xfrm>
            <a:off x="381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1</a:t>
            </a:r>
          </a:p>
        </p:txBody>
      </p:sp>
      <p:sp>
        <p:nvSpPr>
          <p:cNvPr id="16" name="TextBox 15">
            <a:extLst>
              <a:ext uri="{FF2B5EF4-FFF2-40B4-BE49-F238E27FC236}">
                <a16:creationId xmlns:a16="http://schemas.microsoft.com/office/drawing/2014/main" id="{9F0EA4D6-C702-A826-5F33-EB8CDF969CED}"/>
              </a:ext>
            </a:extLst>
          </p:cNvPr>
          <p:cNvSpPr txBox="1"/>
          <p:nvPr/>
        </p:nvSpPr>
        <p:spPr>
          <a:xfrm>
            <a:off x="863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Main hazards</a:t>
            </a:r>
          </a:p>
        </p:txBody>
      </p:sp>
      <p:sp>
        <p:nvSpPr>
          <p:cNvPr id="17" name="TextBox 16">
            <a:extLst>
              <a:ext uri="{FF2B5EF4-FFF2-40B4-BE49-F238E27FC236}">
                <a16:creationId xmlns:a16="http://schemas.microsoft.com/office/drawing/2014/main" id="{96E17AD6-0CE9-CC46-F2D5-C0438047727B}"/>
              </a:ext>
            </a:extLst>
          </p:cNvPr>
          <p:cNvSpPr txBox="1"/>
          <p:nvPr/>
        </p:nvSpPr>
        <p:spPr>
          <a:xfrm>
            <a:off x="457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Drilling and cutting hazards</a:t>
            </a:r>
          </a:p>
          <a:p>
            <a:r>
              <a:rPr lang="en-GB" sz="800">
                <a:solidFill>
                  <a:srgbClr val="081F2F"/>
                </a:solidFill>
                <a:latin typeface="Arial" panose="020B0604020202020204" pitchFamily="34" charset="0"/>
              </a:rPr>
              <a:t>- Pinch points in linkages</a:t>
            </a:r>
          </a:p>
          <a:p>
            <a:r>
              <a:rPr lang="en-GB" sz="800">
                <a:solidFill>
                  <a:srgbClr val="081F2F"/>
                </a:solidFill>
                <a:latin typeface="Arial" panose="020B0604020202020204" pitchFamily="34" charset="0"/>
              </a:rPr>
              <a:t>- Water spills near the work area</a:t>
            </a:r>
            <a:endParaRPr lang="en-AU" sz="800">
              <a:solidFill>
                <a:srgbClr val="081F2F"/>
              </a:solidFill>
              <a:latin typeface="Arial" panose="020B0604020202020204" pitchFamily="34" charset="0"/>
            </a:endParaRPr>
          </a:p>
        </p:txBody>
      </p:sp>
      <p:sp>
        <p:nvSpPr>
          <p:cNvPr id="18" name="Rectangle 17">
            <a:extLst>
              <a:ext uri="{FF2B5EF4-FFF2-40B4-BE49-F238E27FC236}">
                <a16:creationId xmlns:a16="http://schemas.microsoft.com/office/drawing/2014/main" id="{464022C8-5BC1-554D-6E5D-867330160EE1}"/>
              </a:ext>
            </a:extLst>
          </p:cNvPr>
          <p:cNvSpPr/>
          <p:nvPr/>
        </p:nvSpPr>
        <p:spPr>
          <a:xfrm>
            <a:off x="24511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7995F480-52C5-0FA3-40EB-A48CB453945A}"/>
              </a:ext>
            </a:extLst>
          </p:cNvPr>
          <p:cNvSpPr/>
          <p:nvPr/>
        </p:nvSpPr>
        <p:spPr>
          <a:xfrm>
            <a:off x="24511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F22F1B4F-861F-6C58-B0CE-68F9506A33BC}"/>
              </a:ext>
            </a:extLst>
          </p:cNvPr>
          <p:cNvSpPr txBox="1"/>
          <p:nvPr/>
        </p:nvSpPr>
        <p:spPr>
          <a:xfrm>
            <a:off x="24765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2</a:t>
            </a:r>
          </a:p>
        </p:txBody>
      </p:sp>
      <p:sp>
        <p:nvSpPr>
          <p:cNvPr id="21" name="TextBox 20">
            <a:extLst>
              <a:ext uri="{FF2B5EF4-FFF2-40B4-BE49-F238E27FC236}">
                <a16:creationId xmlns:a16="http://schemas.microsoft.com/office/drawing/2014/main" id="{8B7ED269-510F-9E95-9200-FB64E06E135B}"/>
              </a:ext>
            </a:extLst>
          </p:cNvPr>
          <p:cNvSpPr txBox="1"/>
          <p:nvPr/>
        </p:nvSpPr>
        <p:spPr>
          <a:xfrm>
            <a:off x="29591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Risk controls</a:t>
            </a:r>
          </a:p>
        </p:txBody>
      </p:sp>
      <p:sp>
        <p:nvSpPr>
          <p:cNvPr id="22" name="TextBox 21">
            <a:extLst>
              <a:ext uri="{FF2B5EF4-FFF2-40B4-BE49-F238E27FC236}">
                <a16:creationId xmlns:a16="http://schemas.microsoft.com/office/drawing/2014/main" id="{06A07BB7-A005-3982-BFAA-37D202659850}"/>
              </a:ext>
            </a:extLst>
          </p:cNvPr>
          <p:cNvSpPr txBox="1"/>
          <p:nvPr/>
        </p:nvSpPr>
        <p:spPr>
          <a:xfrm>
            <a:off x="25527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Wear PPE and follow tool rules</a:t>
            </a:r>
          </a:p>
          <a:p>
            <a:r>
              <a:rPr lang="en-GB" sz="800">
                <a:solidFill>
                  <a:srgbClr val="081F2F"/>
                </a:solidFill>
                <a:latin typeface="Arial" panose="020B0604020202020204" pitchFamily="34" charset="0"/>
              </a:rPr>
              <a:t>- Clamp work before drilling</a:t>
            </a:r>
          </a:p>
          <a:p>
            <a:r>
              <a:rPr lang="en-GB" sz="800">
                <a:solidFill>
                  <a:srgbClr val="081F2F"/>
                </a:solidFill>
                <a:latin typeface="Arial" panose="020B0604020202020204" pitchFamily="34" charset="0"/>
              </a:rPr>
              <a:t>- Keep fingers clear of moving arms</a:t>
            </a:r>
            <a:endParaRPr lang="en-AU" sz="800">
              <a:solidFill>
                <a:srgbClr val="081F2F"/>
              </a:solidFill>
              <a:latin typeface="Arial" panose="020B0604020202020204" pitchFamily="34" charset="0"/>
            </a:endParaRPr>
          </a:p>
        </p:txBody>
      </p:sp>
      <p:sp>
        <p:nvSpPr>
          <p:cNvPr id="23" name="Rectangle 22">
            <a:extLst>
              <a:ext uri="{FF2B5EF4-FFF2-40B4-BE49-F238E27FC236}">
                <a16:creationId xmlns:a16="http://schemas.microsoft.com/office/drawing/2014/main" id="{8E615B11-BD36-88B7-77C9-6D48E78E8107}"/>
              </a:ext>
            </a:extLst>
          </p:cNvPr>
          <p:cNvSpPr/>
          <p:nvPr/>
        </p:nvSpPr>
        <p:spPr>
          <a:xfrm>
            <a:off x="4546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F0E9987D-5D45-56A2-30C6-92AA7044CBB3}"/>
              </a:ext>
            </a:extLst>
          </p:cNvPr>
          <p:cNvSpPr/>
          <p:nvPr/>
        </p:nvSpPr>
        <p:spPr>
          <a:xfrm>
            <a:off x="4546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2C624DF7-940B-12E1-E3EA-6B833A1D5604}"/>
              </a:ext>
            </a:extLst>
          </p:cNvPr>
          <p:cNvSpPr txBox="1"/>
          <p:nvPr/>
        </p:nvSpPr>
        <p:spPr>
          <a:xfrm>
            <a:off x="4572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3</a:t>
            </a:r>
          </a:p>
        </p:txBody>
      </p:sp>
      <p:sp>
        <p:nvSpPr>
          <p:cNvPr id="26" name="TextBox 25">
            <a:extLst>
              <a:ext uri="{FF2B5EF4-FFF2-40B4-BE49-F238E27FC236}">
                <a16:creationId xmlns:a16="http://schemas.microsoft.com/office/drawing/2014/main" id="{EB743365-4086-E99C-F350-E97FB0D079AA}"/>
              </a:ext>
            </a:extLst>
          </p:cNvPr>
          <p:cNvSpPr txBox="1"/>
          <p:nvPr/>
        </p:nvSpPr>
        <p:spPr>
          <a:xfrm>
            <a:off x="5054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Safe testing</a:t>
            </a:r>
          </a:p>
        </p:txBody>
      </p:sp>
      <p:sp>
        <p:nvSpPr>
          <p:cNvPr id="27" name="TextBox 26">
            <a:extLst>
              <a:ext uri="{FF2B5EF4-FFF2-40B4-BE49-F238E27FC236}">
                <a16:creationId xmlns:a16="http://schemas.microsoft.com/office/drawing/2014/main" id="{1E5D264B-DD43-9D6E-CC3C-C098BE43CA3C}"/>
              </a:ext>
            </a:extLst>
          </p:cNvPr>
          <p:cNvSpPr txBox="1"/>
          <p:nvPr/>
        </p:nvSpPr>
        <p:spPr>
          <a:xfrm>
            <a:off x="4648200" y="4622800"/>
            <a:ext cx="1752600" cy="569387"/>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Clear test area</a:t>
            </a:r>
          </a:p>
          <a:p>
            <a:r>
              <a:rPr lang="en-GB" sz="800">
                <a:solidFill>
                  <a:srgbClr val="081F2F"/>
                </a:solidFill>
                <a:latin typeface="Arial" panose="020B0604020202020204" pitchFamily="34" charset="0"/>
              </a:rPr>
              <a:t>- Control water leaks quickly</a:t>
            </a:r>
          </a:p>
          <a:p>
            <a:r>
              <a:rPr lang="en-GB" sz="800">
                <a:solidFill>
                  <a:srgbClr val="081F2F"/>
                </a:solidFill>
                <a:latin typeface="Arial" panose="020B0604020202020204" pitchFamily="34" charset="0"/>
              </a:rPr>
              <a:t>- Keep hands away during movement</a:t>
            </a:r>
            <a:endParaRPr lang="en-AU" sz="800">
              <a:solidFill>
                <a:srgbClr val="081F2F"/>
              </a:solidFill>
              <a:latin typeface="Arial" panose="020B0604020202020204" pitchFamily="34" charset="0"/>
            </a:endParaRPr>
          </a:p>
        </p:txBody>
      </p:sp>
      <p:sp>
        <p:nvSpPr>
          <p:cNvPr id="28" name="Rectangle 27">
            <a:extLst>
              <a:ext uri="{FF2B5EF4-FFF2-40B4-BE49-F238E27FC236}">
                <a16:creationId xmlns:a16="http://schemas.microsoft.com/office/drawing/2014/main" id="{18DFC212-D2E5-BBC3-C5BE-CC9FFC11A60C}"/>
              </a:ext>
            </a:extLst>
          </p:cNvPr>
          <p:cNvSpPr/>
          <p:nvPr/>
        </p:nvSpPr>
        <p:spPr>
          <a:xfrm>
            <a:off x="355600" y="7404100"/>
            <a:ext cx="6146800" cy="1473200"/>
          </a:xfrm>
          <a:prstGeom prst="rect">
            <a:avLst/>
          </a:prstGeom>
          <a:solidFill>
            <a:srgbClr val="FFF4BF"/>
          </a:solidFill>
          <a:ln w="1778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4751DD95-0B1F-FBC9-773D-C1511A2F1F19}"/>
              </a:ext>
            </a:extLst>
          </p:cNvPr>
          <p:cNvSpPr/>
          <p:nvPr/>
        </p:nvSpPr>
        <p:spPr>
          <a:xfrm>
            <a:off x="520700" y="7670800"/>
            <a:ext cx="469900" cy="469900"/>
          </a:xfrm>
          <a:prstGeom prst="ellipse">
            <a:avLst/>
          </a:prstGeom>
          <a:solidFill>
            <a:srgbClr val="F2C700"/>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F8B647C6-7990-4C7B-BC30-A5E85249BCB6}"/>
              </a:ext>
            </a:extLst>
          </p:cNvPr>
          <p:cNvSpPr txBox="1"/>
          <p:nvPr/>
        </p:nvSpPr>
        <p:spPr>
          <a:xfrm>
            <a:off x="571500" y="7747000"/>
            <a:ext cx="3556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OK</a:t>
            </a:r>
          </a:p>
        </p:txBody>
      </p:sp>
      <p:sp>
        <p:nvSpPr>
          <p:cNvPr id="31" name="TextBox 30">
            <a:extLst>
              <a:ext uri="{FF2B5EF4-FFF2-40B4-BE49-F238E27FC236}">
                <a16:creationId xmlns:a16="http://schemas.microsoft.com/office/drawing/2014/main" id="{CC3DA797-02EB-B2E8-6A27-1F57D62571D2}"/>
              </a:ext>
            </a:extLst>
          </p:cNvPr>
          <p:cNvSpPr txBox="1"/>
          <p:nvPr/>
        </p:nvSpPr>
        <p:spPr>
          <a:xfrm>
            <a:off x="1155700" y="7543800"/>
            <a:ext cx="4953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BEST PRACTICE STUDENT RESPONSE</a:t>
            </a:r>
          </a:p>
        </p:txBody>
      </p:sp>
      <p:sp>
        <p:nvSpPr>
          <p:cNvPr id="32" name="TextBox 31">
            <a:extLst>
              <a:ext uri="{FF2B5EF4-FFF2-40B4-BE49-F238E27FC236}">
                <a16:creationId xmlns:a16="http://schemas.microsoft.com/office/drawing/2014/main" id="{5610C45D-6F76-9201-4CAF-A7C850FCF132}"/>
              </a:ext>
            </a:extLst>
          </p:cNvPr>
          <p:cNvSpPr txBox="1"/>
          <p:nvPr/>
        </p:nvSpPr>
        <p:spPr>
          <a:xfrm>
            <a:off x="1155700" y="7835900"/>
            <a:ext cx="49530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The main hazards were drilling, cutting, water spills and pinch points in the linkage. We controlled these risks by wearing PPE, clamping timber before drilling, keeping fingers clear of moving arms and cleaning water leaks before testing.</a:t>
            </a:r>
            <a:endParaRPr lang="en-AU" sz="800">
              <a:solidFill>
                <a:srgbClr val="081F2F"/>
              </a:solidFill>
              <a:latin typeface="Arial" panose="020B0604020202020204" pitchFamily="34" charset="0"/>
            </a:endParaRPr>
          </a:p>
        </p:txBody>
      </p:sp>
      <p:sp>
        <p:nvSpPr>
          <p:cNvPr id="33" name="Rectangle 32">
            <a:extLst>
              <a:ext uri="{FF2B5EF4-FFF2-40B4-BE49-F238E27FC236}">
                <a16:creationId xmlns:a16="http://schemas.microsoft.com/office/drawing/2014/main" id="{C6D00C3C-47DE-3B22-3E5C-E8D920E578BD}"/>
              </a:ext>
            </a:extLst>
          </p:cNvPr>
          <p:cNvSpPr/>
          <p:nvPr/>
        </p:nvSpPr>
        <p:spPr>
          <a:xfrm>
            <a:off x="355600" y="9448800"/>
            <a:ext cx="6146800" cy="533400"/>
          </a:xfrm>
          <a:prstGeom prst="rect">
            <a:avLst/>
          </a:prstGeom>
          <a:solidFill>
            <a:srgbClr val="FFFFFF"/>
          </a:solidFill>
          <a:ln w="1397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012F0015-213A-4014-9678-7312280DBE6A}"/>
              </a:ext>
            </a:extLst>
          </p:cNvPr>
          <p:cNvSpPr txBox="1"/>
          <p:nvPr/>
        </p:nvSpPr>
        <p:spPr>
          <a:xfrm>
            <a:off x="469900" y="9499600"/>
            <a:ext cx="1168400" cy="323165"/>
          </a:xfrm>
          <a:prstGeom prst="rect">
            <a:avLst/>
          </a:prstGeom>
          <a:noFill/>
        </p:spPr>
        <p:txBody>
          <a:bodyPr vert="horz" wrap="square" lIns="63500" tIns="38100" rIns="63500" bIns="38100" rtlCol="0">
            <a:spAutoFit/>
          </a:bodyPr>
          <a:lstStyle/>
          <a:p>
            <a:r>
              <a:rPr lang="en-AU" sz="800" b="1">
                <a:solidFill>
                  <a:srgbClr val="081F2F"/>
                </a:solidFill>
                <a:latin typeface="Arial" panose="020B0604020202020204" pitchFamily="34" charset="0"/>
              </a:rPr>
              <a:t>BEFORE YOU TICK DONE</a:t>
            </a:r>
          </a:p>
        </p:txBody>
      </p:sp>
      <p:sp>
        <p:nvSpPr>
          <p:cNvPr id="35" name="Rectangle 34">
            <a:extLst>
              <a:ext uri="{FF2B5EF4-FFF2-40B4-BE49-F238E27FC236}">
                <a16:creationId xmlns:a16="http://schemas.microsoft.com/office/drawing/2014/main" id="{5C0BD9C8-E076-65CD-CFA1-6E2F06B9C837}"/>
              </a:ext>
            </a:extLst>
          </p:cNvPr>
          <p:cNvSpPr/>
          <p:nvPr/>
        </p:nvSpPr>
        <p:spPr>
          <a:xfrm>
            <a:off x="17399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a:extLst>
              <a:ext uri="{FF2B5EF4-FFF2-40B4-BE49-F238E27FC236}">
                <a16:creationId xmlns:a16="http://schemas.microsoft.com/office/drawing/2014/main" id="{897D340F-DF50-550B-8A30-0E71769934AC}"/>
              </a:ext>
            </a:extLst>
          </p:cNvPr>
          <p:cNvSpPr txBox="1"/>
          <p:nvPr/>
        </p:nvSpPr>
        <p:spPr>
          <a:xfrm>
            <a:off x="18923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Hazards named</a:t>
            </a:r>
          </a:p>
        </p:txBody>
      </p:sp>
      <p:sp>
        <p:nvSpPr>
          <p:cNvPr id="37" name="Rectangle 36">
            <a:extLst>
              <a:ext uri="{FF2B5EF4-FFF2-40B4-BE49-F238E27FC236}">
                <a16:creationId xmlns:a16="http://schemas.microsoft.com/office/drawing/2014/main" id="{40682E44-C3D3-BD93-C7F0-85D447D8736C}"/>
              </a:ext>
            </a:extLst>
          </p:cNvPr>
          <p:cNvSpPr/>
          <p:nvPr/>
        </p:nvSpPr>
        <p:spPr>
          <a:xfrm>
            <a:off x="32385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6A8D4DE7-7FD3-D828-AFD4-2EAB227309F9}"/>
              </a:ext>
            </a:extLst>
          </p:cNvPr>
          <p:cNvSpPr txBox="1"/>
          <p:nvPr/>
        </p:nvSpPr>
        <p:spPr>
          <a:xfrm>
            <a:off x="33909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Controls explained</a:t>
            </a:r>
          </a:p>
        </p:txBody>
      </p:sp>
      <p:sp>
        <p:nvSpPr>
          <p:cNvPr id="39" name="Rectangle 38">
            <a:extLst>
              <a:ext uri="{FF2B5EF4-FFF2-40B4-BE49-F238E27FC236}">
                <a16:creationId xmlns:a16="http://schemas.microsoft.com/office/drawing/2014/main" id="{C80C5446-AF6F-E1D2-735C-6CF6DF1E214D}"/>
              </a:ext>
            </a:extLst>
          </p:cNvPr>
          <p:cNvSpPr/>
          <p:nvPr/>
        </p:nvSpPr>
        <p:spPr>
          <a:xfrm>
            <a:off x="47371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BF824871-E664-860C-E854-9A8196F6962F}"/>
              </a:ext>
            </a:extLst>
          </p:cNvPr>
          <p:cNvSpPr txBox="1"/>
          <p:nvPr/>
        </p:nvSpPr>
        <p:spPr>
          <a:xfrm>
            <a:off x="48895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Testing safe</a:t>
            </a:r>
          </a:p>
        </p:txBody>
      </p:sp>
    </p:spTree>
    <p:extLst>
      <p:ext uri="{BB962C8B-B14F-4D97-AF65-F5344CB8AC3E}">
        <p14:creationId xmlns:p14="http://schemas.microsoft.com/office/powerpoint/2010/main" val="144462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1B248D-B067-0D01-07A6-DC4270FA9F97}"/>
              </a:ext>
            </a:extLst>
          </p:cNvPr>
          <p:cNvSpPr/>
          <p:nvPr/>
        </p:nvSpPr>
        <p:spPr>
          <a:xfrm>
            <a:off x="0" y="0"/>
            <a:ext cx="6858000" cy="812800"/>
          </a:xfrm>
          <a:prstGeom prst="rect">
            <a:avLst/>
          </a:prstGeom>
          <a:solidFill>
            <a:srgbClr val="081F2F"/>
          </a:solidFill>
          <a:ln w="0">
            <a:solidFill>
              <a:srgbClr val="081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AD789717-4D0B-4280-4F26-BAD884907B4D}"/>
              </a:ext>
            </a:extLst>
          </p:cNvPr>
          <p:cNvSpPr/>
          <p:nvPr/>
        </p:nvSpPr>
        <p:spPr>
          <a:xfrm>
            <a:off x="355600" y="228600"/>
            <a:ext cx="889000" cy="228600"/>
          </a:xfrm>
          <a:prstGeom prst="rect">
            <a:avLst/>
          </a:prstGeom>
          <a:solidFill>
            <a:srgbClr val="0B2B3B"/>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78903046-53B8-32A5-EC91-81A5BEA06057}"/>
              </a:ext>
            </a:extLst>
          </p:cNvPr>
          <p:cNvSpPr txBox="1"/>
          <p:nvPr/>
        </p:nvSpPr>
        <p:spPr>
          <a:xfrm>
            <a:off x="431800" y="254000"/>
            <a:ext cx="736600" cy="184666"/>
          </a:xfrm>
          <a:prstGeom prst="rect">
            <a:avLst/>
          </a:prstGeom>
          <a:noFill/>
        </p:spPr>
        <p:txBody>
          <a:bodyPr vert="horz" wrap="square" lIns="63500" tIns="38100" rIns="63500" bIns="38100" rtlCol="0">
            <a:spAutoFit/>
          </a:bodyPr>
          <a:lstStyle/>
          <a:p>
            <a:r>
              <a:rPr lang="en-AU" sz="700" b="1">
                <a:solidFill>
                  <a:srgbClr val="FFFFFF"/>
                </a:solidFill>
                <a:latin typeface="Arial" panose="020B0604020202020204" pitchFamily="34" charset="0"/>
              </a:rPr>
              <a:t>SECTION 3</a:t>
            </a:r>
          </a:p>
        </p:txBody>
      </p:sp>
      <p:sp>
        <p:nvSpPr>
          <p:cNvPr id="5" name="TextBox 4">
            <a:extLst>
              <a:ext uri="{FF2B5EF4-FFF2-40B4-BE49-F238E27FC236}">
                <a16:creationId xmlns:a16="http://schemas.microsoft.com/office/drawing/2014/main" id="{DB901B7E-3FF8-B77A-39D0-B972E56CB5B5}"/>
              </a:ext>
            </a:extLst>
          </p:cNvPr>
          <p:cNvSpPr txBox="1"/>
          <p:nvPr/>
        </p:nvSpPr>
        <p:spPr>
          <a:xfrm>
            <a:off x="1422400" y="165100"/>
            <a:ext cx="3429000" cy="307777"/>
          </a:xfrm>
          <a:prstGeom prst="rect">
            <a:avLst/>
          </a:prstGeom>
          <a:noFill/>
        </p:spPr>
        <p:txBody>
          <a:bodyPr vert="horz" wrap="square" lIns="63500" tIns="38100" rIns="63500" bIns="38100" rtlCol="0">
            <a:spAutoFit/>
          </a:bodyPr>
          <a:lstStyle/>
          <a:p>
            <a:r>
              <a:rPr lang="en-AU" sz="1500" b="1">
                <a:solidFill>
                  <a:srgbClr val="FFFFFF"/>
                </a:solidFill>
                <a:latin typeface="Arial Narrow" panose="020B0606020202030204" pitchFamily="34" charset="0"/>
              </a:rPr>
              <a:t>BEST PRACTICE ANSWER</a:t>
            </a:r>
          </a:p>
        </p:txBody>
      </p:sp>
      <p:sp>
        <p:nvSpPr>
          <p:cNvPr id="6" name="Rectangle 5">
            <a:extLst>
              <a:ext uri="{FF2B5EF4-FFF2-40B4-BE49-F238E27FC236}">
                <a16:creationId xmlns:a16="http://schemas.microsoft.com/office/drawing/2014/main" id="{15F3D886-794C-CAA0-0F99-62D13B54B664}"/>
              </a:ext>
            </a:extLst>
          </p:cNvPr>
          <p:cNvSpPr/>
          <p:nvPr/>
        </p:nvSpPr>
        <p:spPr>
          <a:xfrm>
            <a:off x="5207000" y="165100"/>
            <a:ext cx="1168400" cy="3556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0455AB07-A3A8-C50D-0C4D-82D96C78378F}"/>
              </a:ext>
            </a:extLst>
          </p:cNvPr>
          <p:cNvSpPr txBox="1"/>
          <p:nvPr/>
        </p:nvSpPr>
        <p:spPr>
          <a:xfrm>
            <a:off x="5257800" y="228600"/>
            <a:ext cx="1066800" cy="169277"/>
          </a:xfrm>
          <a:prstGeom prst="rect">
            <a:avLst/>
          </a:prstGeom>
          <a:noFill/>
        </p:spPr>
        <p:txBody>
          <a:bodyPr vert="horz" wrap="square" lIns="63500" tIns="38100" rIns="63500" bIns="38100" rtlCol="0">
            <a:spAutoFit/>
          </a:bodyPr>
          <a:lstStyle/>
          <a:p>
            <a:r>
              <a:rPr lang="en-AU" sz="600" b="1">
                <a:solidFill>
                  <a:srgbClr val="081F2F"/>
                </a:solidFill>
                <a:latin typeface="Arial" panose="020B0604020202020204" pitchFamily="34" charset="0"/>
              </a:rPr>
              <a:t>YEAR 9 ENGINEERING</a:t>
            </a:r>
          </a:p>
        </p:txBody>
      </p:sp>
      <p:sp>
        <p:nvSpPr>
          <p:cNvPr id="8" name="Rectangle 7">
            <a:extLst>
              <a:ext uri="{FF2B5EF4-FFF2-40B4-BE49-F238E27FC236}">
                <a16:creationId xmlns:a16="http://schemas.microsoft.com/office/drawing/2014/main" id="{15A1C884-07A4-66BF-C7F7-5D8F3FFBCCA9}"/>
              </a:ext>
            </a:extLst>
          </p:cNvPr>
          <p:cNvSpPr/>
          <p:nvPr/>
        </p:nvSpPr>
        <p:spPr>
          <a:xfrm>
            <a:off x="0" y="812800"/>
            <a:ext cx="6858000" cy="76200"/>
          </a:xfrm>
          <a:prstGeom prst="rect">
            <a:avLst/>
          </a:prstGeom>
          <a:solidFill>
            <a:srgbClr val="F2C700"/>
          </a:solidFill>
          <a:ln w="0">
            <a:solidFill>
              <a:srgbClr val="F2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BB0DE2C9-5505-E007-5B33-B5F9B95EEE2F}"/>
              </a:ext>
            </a:extLst>
          </p:cNvPr>
          <p:cNvSpPr txBox="1"/>
          <p:nvPr/>
        </p:nvSpPr>
        <p:spPr>
          <a:xfrm>
            <a:off x="355600" y="1041400"/>
            <a:ext cx="6146800" cy="353943"/>
          </a:xfrm>
          <a:prstGeom prst="rect">
            <a:avLst/>
          </a:prstGeom>
          <a:noFill/>
        </p:spPr>
        <p:txBody>
          <a:bodyPr vert="horz" wrap="square" lIns="63500" tIns="38100" rIns="63500" bIns="38100" rtlCol="0">
            <a:spAutoFit/>
          </a:bodyPr>
          <a:lstStyle/>
          <a:p>
            <a:r>
              <a:rPr lang="en-AU" b="1">
                <a:solidFill>
                  <a:srgbClr val="081F2F"/>
                </a:solidFill>
                <a:latin typeface="Arial Narrow" panose="020B0606020202030204" pitchFamily="34" charset="0"/>
              </a:rPr>
              <a:t>FLUID POWER BASICS</a:t>
            </a:r>
          </a:p>
        </p:txBody>
      </p:sp>
      <p:sp>
        <p:nvSpPr>
          <p:cNvPr id="10" name="TextBox 9">
            <a:extLst>
              <a:ext uri="{FF2B5EF4-FFF2-40B4-BE49-F238E27FC236}">
                <a16:creationId xmlns:a16="http://schemas.microsoft.com/office/drawing/2014/main" id="{5DD853C3-332B-6EDF-C6B7-D6E624FE858A}"/>
              </a:ext>
            </a:extLst>
          </p:cNvPr>
          <p:cNvSpPr txBox="1"/>
          <p:nvPr/>
        </p:nvSpPr>
        <p:spPr>
          <a:xfrm>
            <a:off x="355600" y="1409700"/>
            <a:ext cx="6146800" cy="200055"/>
          </a:xfrm>
          <a:prstGeom prst="rect">
            <a:avLst/>
          </a:prstGeom>
          <a:noFill/>
        </p:spPr>
        <p:txBody>
          <a:bodyPr vert="horz" wrap="square" lIns="63500" tIns="38100" rIns="63500" bIns="38100" rtlCol="0">
            <a:spAutoFit/>
          </a:bodyPr>
          <a:lstStyle/>
          <a:p>
            <a:r>
              <a:rPr lang="en-GB" sz="800">
                <a:solidFill>
                  <a:srgbClr val="5B6B7A"/>
                </a:solidFill>
                <a:latin typeface="Arial" panose="020B0604020202020204" pitchFamily="34" charset="0"/>
              </a:rPr>
              <a:t>A strong answer uses Pascals principle to explain how force is transferred through trapped liquid.</a:t>
            </a:r>
            <a:endParaRPr lang="en-AU" sz="800">
              <a:solidFill>
                <a:srgbClr val="5B6B7A"/>
              </a:solidFill>
              <a:latin typeface="Arial" panose="020B0604020202020204" pitchFamily="34" charset="0"/>
            </a:endParaRPr>
          </a:p>
        </p:txBody>
      </p:sp>
      <p:pic>
        <p:nvPicPr>
          <p:cNvPr id="12" name="Picture 11">
            <a:extLst>
              <a:ext uri="{FF2B5EF4-FFF2-40B4-BE49-F238E27FC236}">
                <a16:creationId xmlns:a16="http://schemas.microsoft.com/office/drawing/2014/main" id="{FB736E81-7F2A-EFBC-CF2B-13FBF666F4B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38867" y="1752600"/>
            <a:ext cx="2980267" cy="2235200"/>
          </a:xfrm>
          <a:prstGeom prst="rect">
            <a:avLst/>
          </a:prstGeom>
        </p:spPr>
      </p:pic>
      <p:sp>
        <p:nvSpPr>
          <p:cNvPr id="13" name="Rectangle 12">
            <a:extLst>
              <a:ext uri="{FF2B5EF4-FFF2-40B4-BE49-F238E27FC236}">
                <a16:creationId xmlns:a16="http://schemas.microsoft.com/office/drawing/2014/main" id="{00D1B06F-3ABF-25CE-4F15-19CD021B2BF1}"/>
              </a:ext>
            </a:extLst>
          </p:cNvPr>
          <p:cNvSpPr/>
          <p:nvPr/>
        </p:nvSpPr>
        <p:spPr>
          <a:xfrm>
            <a:off x="355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D90560A0-F5E8-9D0D-CB18-CCA6687C8A70}"/>
              </a:ext>
            </a:extLst>
          </p:cNvPr>
          <p:cNvSpPr/>
          <p:nvPr/>
        </p:nvSpPr>
        <p:spPr>
          <a:xfrm>
            <a:off x="355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2F5D56D3-568E-2029-E174-BD7449DF3142}"/>
              </a:ext>
            </a:extLst>
          </p:cNvPr>
          <p:cNvSpPr txBox="1"/>
          <p:nvPr/>
        </p:nvSpPr>
        <p:spPr>
          <a:xfrm>
            <a:off x="381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1</a:t>
            </a:r>
          </a:p>
        </p:txBody>
      </p:sp>
      <p:sp>
        <p:nvSpPr>
          <p:cNvPr id="16" name="TextBox 15">
            <a:extLst>
              <a:ext uri="{FF2B5EF4-FFF2-40B4-BE49-F238E27FC236}">
                <a16:creationId xmlns:a16="http://schemas.microsoft.com/office/drawing/2014/main" id="{6BE02131-55BD-CE15-C5D5-888DBC937BDB}"/>
              </a:ext>
            </a:extLst>
          </p:cNvPr>
          <p:cNvSpPr txBox="1"/>
          <p:nvPr/>
        </p:nvSpPr>
        <p:spPr>
          <a:xfrm>
            <a:off x="863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Pascals principle</a:t>
            </a:r>
          </a:p>
        </p:txBody>
      </p:sp>
      <p:sp>
        <p:nvSpPr>
          <p:cNvPr id="17" name="TextBox 16">
            <a:extLst>
              <a:ext uri="{FF2B5EF4-FFF2-40B4-BE49-F238E27FC236}">
                <a16:creationId xmlns:a16="http://schemas.microsoft.com/office/drawing/2014/main" id="{2955E7CE-7E3C-7235-B277-955041A8FC93}"/>
              </a:ext>
            </a:extLst>
          </p:cNvPr>
          <p:cNvSpPr txBox="1"/>
          <p:nvPr/>
        </p:nvSpPr>
        <p:spPr>
          <a:xfrm>
            <a:off x="457200" y="4622800"/>
            <a:ext cx="1752600" cy="692497"/>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Force on one piston creates pressure</a:t>
            </a:r>
          </a:p>
          <a:p>
            <a:r>
              <a:rPr lang="en-GB" sz="800">
                <a:solidFill>
                  <a:srgbClr val="081F2F"/>
                </a:solidFill>
                <a:latin typeface="Arial" panose="020B0604020202020204" pitchFamily="34" charset="0"/>
              </a:rPr>
              <a:t>- Pressure transfers through trapped water</a:t>
            </a:r>
          </a:p>
          <a:p>
            <a:r>
              <a:rPr lang="en-GB" sz="800">
                <a:solidFill>
                  <a:srgbClr val="081F2F"/>
                </a:solidFill>
                <a:latin typeface="Arial" panose="020B0604020202020204" pitchFamily="34" charset="0"/>
              </a:rPr>
              <a:t>- Output piston moves the linkage</a:t>
            </a:r>
            <a:endParaRPr lang="en-AU" sz="800">
              <a:solidFill>
                <a:srgbClr val="081F2F"/>
              </a:solidFill>
              <a:latin typeface="Arial" panose="020B0604020202020204" pitchFamily="34" charset="0"/>
            </a:endParaRPr>
          </a:p>
        </p:txBody>
      </p:sp>
      <p:sp>
        <p:nvSpPr>
          <p:cNvPr id="18" name="Rectangle 17">
            <a:extLst>
              <a:ext uri="{FF2B5EF4-FFF2-40B4-BE49-F238E27FC236}">
                <a16:creationId xmlns:a16="http://schemas.microsoft.com/office/drawing/2014/main" id="{3686041F-D2C3-78A2-BD30-2E101ADFD624}"/>
              </a:ext>
            </a:extLst>
          </p:cNvPr>
          <p:cNvSpPr/>
          <p:nvPr/>
        </p:nvSpPr>
        <p:spPr>
          <a:xfrm>
            <a:off x="24511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9733CC03-B2DD-82D6-51DB-F5150630739E}"/>
              </a:ext>
            </a:extLst>
          </p:cNvPr>
          <p:cNvSpPr/>
          <p:nvPr/>
        </p:nvSpPr>
        <p:spPr>
          <a:xfrm>
            <a:off x="24511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737F0612-C35B-29D5-1FE8-D0EDF4496B33}"/>
              </a:ext>
            </a:extLst>
          </p:cNvPr>
          <p:cNvSpPr txBox="1"/>
          <p:nvPr/>
        </p:nvSpPr>
        <p:spPr>
          <a:xfrm>
            <a:off x="24765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2</a:t>
            </a:r>
          </a:p>
        </p:txBody>
      </p:sp>
      <p:sp>
        <p:nvSpPr>
          <p:cNvPr id="21" name="TextBox 20">
            <a:extLst>
              <a:ext uri="{FF2B5EF4-FFF2-40B4-BE49-F238E27FC236}">
                <a16:creationId xmlns:a16="http://schemas.microsoft.com/office/drawing/2014/main" id="{AB3FE37A-3197-6DE6-23A1-680B40F1B3D1}"/>
              </a:ext>
            </a:extLst>
          </p:cNvPr>
          <p:cNvSpPr txBox="1"/>
          <p:nvPr/>
        </p:nvSpPr>
        <p:spPr>
          <a:xfrm>
            <a:off x="29591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Pressure formula</a:t>
            </a:r>
          </a:p>
        </p:txBody>
      </p:sp>
      <p:sp>
        <p:nvSpPr>
          <p:cNvPr id="22" name="TextBox 21">
            <a:extLst>
              <a:ext uri="{FF2B5EF4-FFF2-40B4-BE49-F238E27FC236}">
                <a16:creationId xmlns:a16="http://schemas.microsoft.com/office/drawing/2014/main" id="{6BC98B24-718F-4EA8-2F43-55C793335A01}"/>
              </a:ext>
            </a:extLst>
          </p:cNvPr>
          <p:cNvSpPr txBox="1"/>
          <p:nvPr/>
        </p:nvSpPr>
        <p:spPr>
          <a:xfrm>
            <a:off x="2552700" y="4622800"/>
            <a:ext cx="1752600" cy="569387"/>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Pressure = Force / Area</a:t>
            </a:r>
          </a:p>
          <a:p>
            <a:r>
              <a:rPr lang="en-GB" sz="800">
                <a:solidFill>
                  <a:srgbClr val="081F2F"/>
                </a:solidFill>
                <a:latin typeface="Arial" panose="020B0604020202020204" pitchFamily="34" charset="0"/>
              </a:rPr>
              <a:t>- Larger piston area changes output force</a:t>
            </a:r>
          </a:p>
          <a:p>
            <a:r>
              <a:rPr lang="en-GB" sz="800">
                <a:solidFill>
                  <a:srgbClr val="081F2F"/>
                </a:solidFill>
                <a:latin typeface="Arial" panose="020B0604020202020204" pitchFamily="34" charset="0"/>
              </a:rPr>
              <a:t>- Use correct units in calculations</a:t>
            </a:r>
            <a:endParaRPr lang="en-AU" sz="800">
              <a:solidFill>
                <a:srgbClr val="081F2F"/>
              </a:solidFill>
              <a:latin typeface="Arial" panose="020B0604020202020204" pitchFamily="34" charset="0"/>
            </a:endParaRPr>
          </a:p>
        </p:txBody>
      </p:sp>
      <p:sp>
        <p:nvSpPr>
          <p:cNvPr id="23" name="Rectangle 22">
            <a:extLst>
              <a:ext uri="{FF2B5EF4-FFF2-40B4-BE49-F238E27FC236}">
                <a16:creationId xmlns:a16="http://schemas.microsoft.com/office/drawing/2014/main" id="{51445820-BDB0-6319-16DB-FF26C1859693}"/>
              </a:ext>
            </a:extLst>
          </p:cNvPr>
          <p:cNvSpPr/>
          <p:nvPr/>
        </p:nvSpPr>
        <p:spPr>
          <a:xfrm>
            <a:off x="4546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724147CC-DE22-E080-82C4-6A2063F40671}"/>
              </a:ext>
            </a:extLst>
          </p:cNvPr>
          <p:cNvSpPr/>
          <p:nvPr/>
        </p:nvSpPr>
        <p:spPr>
          <a:xfrm>
            <a:off x="4546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83AEE06D-36E1-5914-BC41-EF2110E7E37E}"/>
              </a:ext>
            </a:extLst>
          </p:cNvPr>
          <p:cNvSpPr txBox="1"/>
          <p:nvPr/>
        </p:nvSpPr>
        <p:spPr>
          <a:xfrm>
            <a:off x="4572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3</a:t>
            </a:r>
          </a:p>
        </p:txBody>
      </p:sp>
      <p:sp>
        <p:nvSpPr>
          <p:cNvPr id="26" name="TextBox 25">
            <a:extLst>
              <a:ext uri="{FF2B5EF4-FFF2-40B4-BE49-F238E27FC236}">
                <a16:creationId xmlns:a16="http://schemas.microsoft.com/office/drawing/2014/main" id="{9DC921B6-DCC5-A1EE-B03F-791B2E00B8DF}"/>
              </a:ext>
            </a:extLst>
          </p:cNvPr>
          <p:cNvSpPr txBox="1"/>
          <p:nvPr/>
        </p:nvSpPr>
        <p:spPr>
          <a:xfrm>
            <a:off x="5054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Control problems</a:t>
            </a:r>
          </a:p>
        </p:txBody>
      </p:sp>
      <p:sp>
        <p:nvSpPr>
          <p:cNvPr id="27" name="TextBox 26">
            <a:extLst>
              <a:ext uri="{FF2B5EF4-FFF2-40B4-BE49-F238E27FC236}">
                <a16:creationId xmlns:a16="http://schemas.microsoft.com/office/drawing/2014/main" id="{4C1A2DC4-DF8D-6346-168E-F72B8FFD9153}"/>
              </a:ext>
            </a:extLst>
          </p:cNvPr>
          <p:cNvSpPr txBox="1"/>
          <p:nvPr/>
        </p:nvSpPr>
        <p:spPr>
          <a:xfrm>
            <a:off x="4648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Air makes movement spongy</a:t>
            </a:r>
          </a:p>
          <a:p>
            <a:r>
              <a:rPr lang="en-GB" sz="800">
                <a:solidFill>
                  <a:srgbClr val="081F2F"/>
                </a:solidFill>
                <a:latin typeface="Arial" panose="020B0604020202020204" pitchFamily="34" charset="0"/>
              </a:rPr>
              <a:t>- Leaks reduce control</a:t>
            </a:r>
          </a:p>
          <a:p>
            <a:r>
              <a:rPr lang="en-GB" sz="800">
                <a:solidFill>
                  <a:srgbClr val="081F2F"/>
                </a:solidFill>
                <a:latin typeface="Arial" panose="020B0604020202020204" pitchFamily="34" charset="0"/>
              </a:rPr>
              <a:t>- Kinks stop smooth flow</a:t>
            </a:r>
            <a:endParaRPr lang="en-AU" sz="800">
              <a:solidFill>
                <a:srgbClr val="081F2F"/>
              </a:solidFill>
              <a:latin typeface="Arial" panose="020B0604020202020204" pitchFamily="34" charset="0"/>
            </a:endParaRPr>
          </a:p>
        </p:txBody>
      </p:sp>
      <p:sp>
        <p:nvSpPr>
          <p:cNvPr id="28" name="Rectangle 27">
            <a:extLst>
              <a:ext uri="{FF2B5EF4-FFF2-40B4-BE49-F238E27FC236}">
                <a16:creationId xmlns:a16="http://schemas.microsoft.com/office/drawing/2014/main" id="{D5AB4B96-B034-35AC-21B1-5D9C18691D31}"/>
              </a:ext>
            </a:extLst>
          </p:cNvPr>
          <p:cNvSpPr/>
          <p:nvPr/>
        </p:nvSpPr>
        <p:spPr>
          <a:xfrm>
            <a:off x="355600" y="7404100"/>
            <a:ext cx="6146800" cy="1473200"/>
          </a:xfrm>
          <a:prstGeom prst="rect">
            <a:avLst/>
          </a:prstGeom>
          <a:solidFill>
            <a:srgbClr val="FFF4BF"/>
          </a:solidFill>
          <a:ln w="1778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1D931CAB-BC6B-2665-53F8-BFCBF3267C93}"/>
              </a:ext>
            </a:extLst>
          </p:cNvPr>
          <p:cNvSpPr/>
          <p:nvPr/>
        </p:nvSpPr>
        <p:spPr>
          <a:xfrm>
            <a:off x="520700" y="7670800"/>
            <a:ext cx="469900" cy="469900"/>
          </a:xfrm>
          <a:prstGeom prst="ellipse">
            <a:avLst/>
          </a:prstGeom>
          <a:solidFill>
            <a:srgbClr val="F2C700"/>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C289862E-22A0-2D1E-F76E-A7DB05E45F49}"/>
              </a:ext>
            </a:extLst>
          </p:cNvPr>
          <p:cNvSpPr txBox="1"/>
          <p:nvPr/>
        </p:nvSpPr>
        <p:spPr>
          <a:xfrm>
            <a:off x="571500" y="7747000"/>
            <a:ext cx="3556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OK</a:t>
            </a:r>
          </a:p>
        </p:txBody>
      </p:sp>
      <p:sp>
        <p:nvSpPr>
          <p:cNvPr id="31" name="TextBox 30">
            <a:extLst>
              <a:ext uri="{FF2B5EF4-FFF2-40B4-BE49-F238E27FC236}">
                <a16:creationId xmlns:a16="http://schemas.microsoft.com/office/drawing/2014/main" id="{234C3F8F-A68B-6EEF-83E5-A07AF7DDD907}"/>
              </a:ext>
            </a:extLst>
          </p:cNvPr>
          <p:cNvSpPr txBox="1"/>
          <p:nvPr/>
        </p:nvSpPr>
        <p:spPr>
          <a:xfrm>
            <a:off x="1155700" y="7543800"/>
            <a:ext cx="4953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BEST PRACTICE STUDENT RESPONSE</a:t>
            </a:r>
          </a:p>
        </p:txBody>
      </p:sp>
      <p:sp>
        <p:nvSpPr>
          <p:cNvPr id="32" name="TextBox 31">
            <a:extLst>
              <a:ext uri="{FF2B5EF4-FFF2-40B4-BE49-F238E27FC236}">
                <a16:creationId xmlns:a16="http://schemas.microsoft.com/office/drawing/2014/main" id="{5F548070-62F2-EE5C-1AA9-6E9229F8282A}"/>
              </a:ext>
            </a:extLst>
          </p:cNvPr>
          <p:cNvSpPr txBox="1"/>
          <p:nvPr/>
        </p:nvSpPr>
        <p:spPr>
          <a:xfrm>
            <a:off x="1155700" y="7835900"/>
            <a:ext cx="49530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Pascals principle means pressure applied to trapped water is transferred through the tubing. The output syringe moves because pressure acts on its piston area. Air bubbles or leaks reduce control, so the system must be filled and sealed carefully.</a:t>
            </a:r>
            <a:endParaRPr lang="en-AU" sz="800">
              <a:solidFill>
                <a:srgbClr val="081F2F"/>
              </a:solidFill>
              <a:latin typeface="Arial" panose="020B0604020202020204" pitchFamily="34" charset="0"/>
            </a:endParaRPr>
          </a:p>
        </p:txBody>
      </p:sp>
      <p:sp>
        <p:nvSpPr>
          <p:cNvPr id="33" name="Rectangle 32">
            <a:extLst>
              <a:ext uri="{FF2B5EF4-FFF2-40B4-BE49-F238E27FC236}">
                <a16:creationId xmlns:a16="http://schemas.microsoft.com/office/drawing/2014/main" id="{56E7C626-6256-6D83-E315-6D3E9B39474A}"/>
              </a:ext>
            </a:extLst>
          </p:cNvPr>
          <p:cNvSpPr/>
          <p:nvPr/>
        </p:nvSpPr>
        <p:spPr>
          <a:xfrm>
            <a:off x="355600" y="9448800"/>
            <a:ext cx="6146800" cy="533400"/>
          </a:xfrm>
          <a:prstGeom prst="rect">
            <a:avLst/>
          </a:prstGeom>
          <a:solidFill>
            <a:srgbClr val="FFFFFF"/>
          </a:solidFill>
          <a:ln w="1397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6D125863-3468-64AE-CA97-0630696D9FC6}"/>
              </a:ext>
            </a:extLst>
          </p:cNvPr>
          <p:cNvSpPr txBox="1"/>
          <p:nvPr/>
        </p:nvSpPr>
        <p:spPr>
          <a:xfrm>
            <a:off x="469900" y="9499600"/>
            <a:ext cx="1168400" cy="323165"/>
          </a:xfrm>
          <a:prstGeom prst="rect">
            <a:avLst/>
          </a:prstGeom>
          <a:noFill/>
        </p:spPr>
        <p:txBody>
          <a:bodyPr vert="horz" wrap="square" lIns="63500" tIns="38100" rIns="63500" bIns="38100" rtlCol="0">
            <a:spAutoFit/>
          </a:bodyPr>
          <a:lstStyle/>
          <a:p>
            <a:r>
              <a:rPr lang="en-AU" sz="800" b="1">
                <a:solidFill>
                  <a:srgbClr val="081F2F"/>
                </a:solidFill>
                <a:latin typeface="Arial" panose="020B0604020202020204" pitchFamily="34" charset="0"/>
              </a:rPr>
              <a:t>BEFORE YOU TICK DONE</a:t>
            </a:r>
          </a:p>
        </p:txBody>
      </p:sp>
      <p:sp>
        <p:nvSpPr>
          <p:cNvPr id="35" name="Rectangle 34">
            <a:extLst>
              <a:ext uri="{FF2B5EF4-FFF2-40B4-BE49-F238E27FC236}">
                <a16:creationId xmlns:a16="http://schemas.microsoft.com/office/drawing/2014/main" id="{EEC97B33-F4B8-30BE-98FB-D09760DBFAD9}"/>
              </a:ext>
            </a:extLst>
          </p:cNvPr>
          <p:cNvSpPr/>
          <p:nvPr/>
        </p:nvSpPr>
        <p:spPr>
          <a:xfrm>
            <a:off x="17399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a:extLst>
              <a:ext uri="{FF2B5EF4-FFF2-40B4-BE49-F238E27FC236}">
                <a16:creationId xmlns:a16="http://schemas.microsoft.com/office/drawing/2014/main" id="{988D7981-ABE3-1D53-5802-342A3534EF43}"/>
              </a:ext>
            </a:extLst>
          </p:cNvPr>
          <p:cNvSpPr txBox="1"/>
          <p:nvPr/>
        </p:nvSpPr>
        <p:spPr>
          <a:xfrm>
            <a:off x="18923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Pascal explained</a:t>
            </a:r>
          </a:p>
        </p:txBody>
      </p:sp>
      <p:sp>
        <p:nvSpPr>
          <p:cNvPr id="37" name="Rectangle 36">
            <a:extLst>
              <a:ext uri="{FF2B5EF4-FFF2-40B4-BE49-F238E27FC236}">
                <a16:creationId xmlns:a16="http://schemas.microsoft.com/office/drawing/2014/main" id="{2BE87108-8DEC-9510-E07D-8AB0A42E451F}"/>
              </a:ext>
            </a:extLst>
          </p:cNvPr>
          <p:cNvSpPr/>
          <p:nvPr/>
        </p:nvSpPr>
        <p:spPr>
          <a:xfrm>
            <a:off x="32385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43C029FF-F148-84BB-EE3D-4B00A43BAF5A}"/>
              </a:ext>
            </a:extLst>
          </p:cNvPr>
          <p:cNvSpPr txBox="1"/>
          <p:nvPr/>
        </p:nvSpPr>
        <p:spPr>
          <a:xfrm>
            <a:off x="33909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Formula used</a:t>
            </a:r>
          </a:p>
        </p:txBody>
      </p:sp>
      <p:sp>
        <p:nvSpPr>
          <p:cNvPr id="39" name="Rectangle 38">
            <a:extLst>
              <a:ext uri="{FF2B5EF4-FFF2-40B4-BE49-F238E27FC236}">
                <a16:creationId xmlns:a16="http://schemas.microsoft.com/office/drawing/2014/main" id="{6F821F13-2D98-4A2E-738E-08A0BDEC53B1}"/>
              </a:ext>
            </a:extLst>
          </p:cNvPr>
          <p:cNvSpPr/>
          <p:nvPr/>
        </p:nvSpPr>
        <p:spPr>
          <a:xfrm>
            <a:off x="47371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62820441-A0DA-9279-FE34-B69F7F4F5076}"/>
              </a:ext>
            </a:extLst>
          </p:cNvPr>
          <p:cNvSpPr txBox="1"/>
          <p:nvPr/>
        </p:nvSpPr>
        <p:spPr>
          <a:xfrm>
            <a:off x="48895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Air/leaks linked</a:t>
            </a:r>
          </a:p>
        </p:txBody>
      </p:sp>
    </p:spTree>
    <p:extLst>
      <p:ext uri="{BB962C8B-B14F-4D97-AF65-F5344CB8AC3E}">
        <p14:creationId xmlns:p14="http://schemas.microsoft.com/office/powerpoint/2010/main" val="3216289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A93FC0-A9DC-CA2B-0F91-3552A3BD30DB}"/>
              </a:ext>
            </a:extLst>
          </p:cNvPr>
          <p:cNvSpPr/>
          <p:nvPr/>
        </p:nvSpPr>
        <p:spPr>
          <a:xfrm>
            <a:off x="0" y="0"/>
            <a:ext cx="6858000" cy="812800"/>
          </a:xfrm>
          <a:prstGeom prst="rect">
            <a:avLst/>
          </a:prstGeom>
          <a:solidFill>
            <a:srgbClr val="081F2F"/>
          </a:solidFill>
          <a:ln w="0">
            <a:solidFill>
              <a:srgbClr val="081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2E59DC99-BDD5-1D5D-F033-2C767BDAEE6A}"/>
              </a:ext>
            </a:extLst>
          </p:cNvPr>
          <p:cNvSpPr/>
          <p:nvPr/>
        </p:nvSpPr>
        <p:spPr>
          <a:xfrm>
            <a:off x="355600" y="228600"/>
            <a:ext cx="889000" cy="228600"/>
          </a:xfrm>
          <a:prstGeom prst="rect">
            <a:avLst/>
          </a:prstGeom>
          <a:solidFill>
            <a:srgbClr val="0B2B3B"/>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B96E6EDA-CBFA-2A18-714D-3B71D4EEBBC7}"/>
              </a:ext>
            </a:extLst>
          </p:cNvPr>
          <p:cNvSpPr txBox="1"/>
          <p:nvPr/>
        </p:nvSpPr>
        <p:spPr>
          <a:xfrm>
            <a:off x="431800" y="254000"/>
            <a:ext cx="736600" cy="184666"/>
          </a:xfrm>
          <a:prstGeom prst="rect">
            <a:avLst/>
          </a:prstGeom>
          <a:noFill/>
        </p:spPr>
        <p:txBody>
          <a:bodyPr vert="horz" wrap="square" lIns="63500" tIns="38100" rIns="63500" bIns="38100" rtlCol="0">
            <a:spAutoFit/>
          </a:bodyPr>
          <a:lstStyle/>
          <a:p>
            <a:r>
              <a:rPr lang="en-AU" sz="700" b="1">
                <a:solidFill>
                  <a:srgbClr val="FFFFFF"/>
                </a:solidFill>
                <a:latin typeface="Arial" panose="020B0604020202020204" pitchFamily="34" charset="0"/>
              </a:rPr>
              <a:t>SECTION 4</a:t>
            </a:r>
          </a:p>
        </p:txBody>
      </p:sp>
      <p:sp>
        <p:nvSpPr>
          <p:cNvPr id="5" name="TextBox 4">
            <a:extLst>
              <a:ext uri="{FF2B5EF4-FFF2-40B4-BE49-F238E27FC236}">
                <a16:creationId xmlns:a16="http://schemas.microsoft.com/office/drawing/2014/main" id="{B741FA94-17E3-5848-D7CC-907886FFC1E6}"/>
              </a:ext>
            </a:extLst>
          </p:cNvPr>
          <p:cNvSpPr txBox="1"/>
          <p:nvPr/>
        </p:nvSpPr>
        <p:spPr>
          <a:xfrm>
            <a:off x="1422400" y="165100"/>
            <a:ext cx="3429000" cy="307777"/>
          </a:xfrm>
          <a:prstGeom prst="rect">
            <a:avLst/>
          </a:prstGeom>
          <a:noFill/>
        </p:spPr>
        <p:txBody>
          <a:bodyPr vert="horz" wrap="square" lIns="63500" tIns="38100" rIns="63500" bIns="38100" rtlCol="0">
            <a:spAutoFit/>
          </a:bodyPr>
          <a:lstStyle/>
          <a:p>
            <a:r>
              <a:rPr lang="en-AU" sz="1500" b="1">
                <a:solidFill>
                  <a:srgbClr val="FFFFFF"/>
                </a:solidFill>
                <a:latin typeface="Arial Narrow" panose="020B0606020202030204" pitchFamily="34" charset="0"/>
              </a:rPr>
              <a:t>BEST PRACTICE ANSWER</a:t>
            </a:r>
          </a:p>
        </p:txBody>
      </p:sp>
      <p:sp>
        <p:nvSpPr>
          <p:cNvPr id="6" name="Rectangle 5">
            <a:extLst>
              <a:ext uri="{FF2B5EF4-FFF2-40B4-BE49-F238E27FC236}">
                <a16:creationId xmlns:a16="http://schemas.microsoft.com/office/drawing/2014/main" id="{4936193F-9E0F-5C1B-5EB9-CD1A5F563DB2}"/>
              </a:ext>
            </a:extLst>
          </p:cNvPr>
          <p:cNvSpPr/>
          <p:nvPr/>
        </p:nvSpPr>
        <p:spPr>
          <a:xfrm>
            <a:off x="5207000" y="165100"/>
            <a:ext cx="1168400" cy="3556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A7F4C8B9-244B-91FD-10BE-A83FD631ACB9}"/>
              </a:ext>
            </a:extLst>
          </p:cNvPr>
          <p:cNvSpPr txBox="1"/>
          <p:nvPr/>
        </p:nvSpPr>
        <p:spPr>
          <a:xfrm>
            <a:off x="5257800" y="228600"/>
            <a:ext cx="1066800" cy="169277"/>
          </a:xfrm>
          <a:prstGeom prst="rect">
            <a:avLst/>
          </a:prstGeom>
          <a:noFill/>
        </p:spPr>
        <p:txBody>
          <a:bodyPr vert="horz" wrap="square" lIns="63500" tIns="38100" rIns="63500" bIns="38100" rtlCol="0">
            <a:spAutoFit/>
          </a:bodyPr>
          <a:lstStyle/>
          <a:p>
            <a:r>
              <a:rPr lang="en-AU" sz="600" b="1">
                <a:solidFill>
                  <a:srgbClr val="081F2F"/>
                </a:solidFill>
                <a:latin typeface="Arial" panose="020B0604020202020204" pitchFamily="34" charset="0"/>
              </a:rPr>
              <a:t>YEAR 9 ENGINEERING</a:t>
            </a:r>
          </a:p>
        </p:txBody>
      </p:sp>
      <p:sp>
        <p:nvSpPr>
          <p:cNvPr id="8" name="Rectangle 7">
            <a:extLst>
              <a:ext uri="{FF2B5EF4-FFF2-40B4-BE49-F238E27FC236}">
                <a16:creationId xmlns:a16="http://schemas.microsoft.com/office/drawing/2014/main" id="{292794BF-098C-850A-0B28-C0755938E909}"/>
              </a:ext>
            </a:extLst>
          </p:cNvPr>
          <p:cNvSpPr/>
          <p:nvPr/>
        </p:nvSpPr>
        <p:spPr>
          <a:xfrm>
            <a:off x="0" y="812800"/>
            <a:ext cx="6858000" cy="76200"/>
          </a:xfrm>
          <a:prstGeom prst="rect">
            <a:avLst/>
          </a:prstGeom>
          <a:solidFill>
            <a:srgbClr val="F2C700"/>
          </a:solidFill>
          <a:ln w="0">
            <a:solidFill>
              <a:srgbClr val="F2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6104BD97-4F27-7589-80D2-045C8BB768EA}"/>
              </a:ext>
            </a:extLst>
          </p:cNvPr>
          <p:cNvSpPr txBox="1"/>
          <p:nvPr/>
        </p:nvSpPr>
        <p:spPr>
          <a:xfrm>
            <a:off x="355600" y="1041400"/>
            <a:ext cx="6146800" cy="353943"/>
          </a:xfrm>
          <a:prstGeom prst="rect">
            <a:avLst/>
          </a:prstGeom>
          <a:noFill/>
        </p:spPr>
        <p:txBody>
          <a:bodyPr vert="horz" wrap="square" lIns="63500" tIns="38100" rIns="63500" bIns="38100" rtlCol="0">
            <a:spAutoFit/>
          </a:bodyPr>
          <a:lstStyle/>
          <a:p>
            <a:r>
              <a:rPr lang="en-AU" b="1">
                <a:solidFill>
                  <a:srgbClr val="081F2F"/>
                </a:solidFill>
                <a:latin typeface="Arial Narrow" panose="020B0606020202030204" pitchFamily="34" charset="0"/>
              </a:rPr>
              <a:t>LINKAGE DESIGN</a:t>
            </a:r>
          </a:p>
        </p:txBody>
      </p:sp>
      <p:sp>
        <p:nvSpPr>
          <p:cNvPr id="10" name="TextBox 9">
            <a:extLst>
              <a:ext uri="{FF2B5EF4-FFF2-40B4-BE49-F238E27FC236}">
                <a16:creationId xmlns:a16="http://schemas.microsoft.com/office/drawing/2014/main" id="{3956B6D6-0256-F437-15BA-486A0FE11615}"/>
              </a:ext>
            </a:extLst>
          </p:cNvPr>
          <p:cNvSpPr txBox="1"/>
          <p:nvPr/>
        </p:nvSpPr>
        <p:spPr>
          <a:xfrm>
            <a:off x="355600" y="1409700"/>
            <a:ext cx="6146800" cy="200055"/>
          </a:xfrm>
          <a:prstGeom prst="rect">
            <a:avLst/>
          </a:prstGeom>
          <a:noFill/>
        </p:spPr>
        <p:txBody>
          <a:bodyPr vert="horz" wrap="square" lIns="63500" tIns="38100" rIns="63500" bIns="38100" rtlCol="0">
            <a:spAutoFit/>
          </a:bodyPr>
          <a:lstStyle/>
          <a:p>
            <a:r>
              <a:rPr lang="en-GB" sz="800">
                <a:solidFill>
                  <a:srgbClr val="5B6B7A"/>
                </a:solidFill>
                <a:latin typeface="Arial" panose="020B0604020202020204" pitchFamily="34" charset="0"/>
              </a:rPr>
              <a:t>A strong answer documents the arm geometry, pivot points, syringe mounts and expected movement path.</a:t>
            </a:r>
            <a:endParaRPr lang="en-AU" sz="800">
              <a:solidFill>
                <a:srgbClr val="5B6B7A"/>
              </a:solidFill>
              <a:latin typeface="Arial" panose="020B0604020202020204" pitchFamily="34" charset="0"/>
            </a:endParaRPr>
          </a:p>
        </p:txBody>
      </p:sp>
      <p:pic>
        <p:nvPicPr>
          <p:cNvPr id="12" name="Picture 11">
            <a:extLst>
              <a:ext uri="{FF2B5EF4-FFF2-40B4-BE49-F238E27FC236}">
                <a16:creationId xmlns:a16="http://schemas.microsoft.com/office/drawing/2014/main" id="{0D1C11BE-675B-566B-AA12-B6DC45F7A92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38867" y="1752600"/>
            <a:ext cx="2980267" cy="2235200"/>
          </a:xfrm>
          <a:prstGeom prst="rect">
            <a:avLst/>
          </a:prstGeom>
        </p:spPr>
      </p:pic>
      <p:sp>
        <p:nvSpPr>
          <p:cNvPr id="13" name="Rectangle 12">
            <a:extLst>
              <a:ext uri="{FF2B5EF4-FFF2-40B4-BE49-F238E27FC236}">
                <a16:creationId xmlns:a16="http://schemas.microsoft.com/office/drawing/2014/main" id="{84CB0AFB-13B1-1DCB-2ACE-1B0C61FDCACC}"/>
              </a:ext>
            </a:extLst>
          </p:cNvPr>
          <p:cNvSpPr/>
          <p:nvPr/>
        </p:nvSpPr>
        <p:spPr>
          <a:xfrm>
            <a:off x="355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F72D8949-CF19-388A-5FE5-1D30DA864AD2}"/>
              </a:ext>
            </a:extLst>
          </p:cNvPr>
          <p:cNvSpPr/>
          <p:nvPr/>
        </p:nvSpPr>
        <p:spPr>
          <a:xfrm>
            <a:off x="355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262B52F5-9FE1-6313-8B14-C09A0F33E505}"/>
              </a:ext>
            </a:extLst>
          </p:cNvPr>
          <p:cNvSpPr txBox="1"/>
          <p:nvPr/>
        </p:nvSpPr>
        <p:spPr>
          <a:xfrm>
            <a:off x="381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1</a:t>
            </a:r>
          </a:p>
        </p:txBody>
      </p:sp>
      <p:sp>
        <p:nvSpPr>
          <p:cNvPr id="16" name="TextBox 15">
            <a:extLst>
              <a:ext uri="{FF2B5EF4-FFF2-40B4-BE49-F238E27FC236}">
                <a16:creationId xmlns:a16="http://schemas.microsoft.com/office/drawing/2014/main" id="{57D6E565-1CAE-656E-AE30-6514E479FFBA}"/>
              </a:ext>
            </a:extLst>
          </p:cNvPr>
          <p:cNvSpPr txBox="1"/>
          <p:nvPr/>
        </p:nvSpPr>
        <p:spPr>
          <a:xfrm>
            <a:off x="863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Labelled sketch</a:t>
            </a:r>
          </a:p>
        </p:txBody>
      </p:sp>
      <p:sp>
        <p:nvSpPr>
          <p:cNvPr id="17" name="TextBox 16">
            <a:extLst>
              <a:ext uri="{FF2B5EF4-FFF2-40B4-BE49-F238E27FC236}">
                <a16:creationId xmlns:a16="http://schemas.microsoft.com/office/drawing/2014/main" id="{7DDAB605-42AD-F873-3FA3-F2BA4B1EEDBD}"/>
              </a:ext>
            </a:extLst>
          </p:cNvPr>
          <p:cNvSpPr txBox="1"/>
          <p:nvPr/>
        </p:nvSpPr>
        <p:spPr>
          <a:xfrm>
            <a:off x="457200" y="4622800"/>
            <a:ext cx="1752600" cy="569387"/>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Show boom, dipper and bucket</a:t>
            </a:r>
          </a:p>
          <a:p>
            <a:r>
              <a:rPr lang="en-GB" sz="800">
                <a:solidFill>
                  <a:srgbClr val="081F2F"/>
                </a:solidFill>
                <a:latin typeface="Arial" panose="020B0604020202020204" pitchFamily="34" charset="0"/>
              </a:rPr>
              <a:t>- Label fulcrum, load and effort points</a:t>
            </a:r>
          </a:p>
          <a:p>
            <a:r>
              <a:rPr lang="en-GB" sz="800">
                <a:solidFill>
                  <a:srgbClr val="081F2F"/>
                </a:solidFill>
                <a:latin typeface="Arial" panose="020B0604020202020204" pitchFamily="34" charset="0"/>
              </a:rPr>
              <a:t>- Mark syringe mount positions</a:t>
            </a:r>
            <a:endParaRPr lang="en-AU" sz="800">
              <a:solidFill>
                <a:srgbClr val="081F2F"/>
              </a:solidFill>
              <a:latin typeface="Arial" panose="020B0604020202020204" pitchFamily="34" charset="0"/>
            </a:endParaRPr>
          </a:p>
        </p:txBody>
      </p:sp>
      <p:sp>
        <p:nvSpPr>
          <p:cNvPr id="18" name="Rectangle 17">
            <a:extLst>
              <a:ext uri="{FF2B5EF4-FFF2-40B4-BE49-F238E27FC236}">
                <a16:creationId xmlns:a16="http://schemas.microsoft.com/office/drawing/2014/main" id="{F5240F79-8E47-015E-D54E-5146C99C3728}"/>
              </a:ext>
            </a:extLst>
          </p:cNvPr>
          <p:cNvSpPr/>
          <p:nvPr/>
        </p:nvSpPr>
        <p:spPr>
          <a:xfrm>
            <a:off x="24511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57AC4F52-A1DA-4741-D152-DEDDD268A67D}"/>
              </a:ext>
            </a:extLst>
          </p:cNvPr>
          <p:cNvSpPr/>
          <p:nvPr/>
        </p:nvSpPr>
        <p:spPr>
          <a:xfrm>
            <a:off x="24511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C81BAD18-7D4A-BD54-7D92-F0CF6D28D103}"/>
              </a:ext>
            </a:extLst>
          </p:cNvPr>
          <p:cNvSpPr txBox="1"/>
          <p:nvPr/>
        </p:nvSpPr>
        <p:spPr>
          <a:xfrm>
            <a:off x="24765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2</a:t>
            </a:r>
          </a:p>
        </p:txBody>
      </p:sp>
      <p:sp>
        <p:nvSpPr>
          <p:cNvPr id="21" name="TextBox 20">
            <a:extLst>
              <a:ext uri="{FF2B5EF4-FFF2-40B4-BE49-F238E27FC236}">
                <a16:creationId xmlns:a16="http://schemas.microsoft.com/office/drawing/2014/main" id="{6E557839-AC41-AB61-5082-BD7DED550A01}"/>
              </a:ext>
            </a:extLst>
          </p:cNvPr>
          <p:cNvSpPr txBox="1"/>
          <p:nvPr/>
        </p:nvSpPr>
        <p:spPr>
          <a:xfrm>
            <a:off x="29591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Movement path</a:t>
            </a:r>
          </a:p>
        </p:txBody>
      </p:sp>
      <p:sp>
        <p:nvSpPr>
          <p:cNvPr id="22" name="TextBox 21">
            <a:extLst>
              <a:ext uri="{FF2B5EF4-FFF2-40B4-BE49-F238E27FC236}">
                <a16:creationId xmlns:a16="http://schemas.microsoft.com/office/drawing/2014/main" id="{DCA99BF2-43F1-72A6-EAA7-AB95A5D71195}"/>
              </a:ext>
            </a:extLst>
          </p:cNvPr>
          <p:cNvSpPr txBox="1"/>
          <p:nvPr/>
        </p:nvSpPr>
        <p:spPr>
          <a:xfrm>
            <a:off x="25527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Predict bucket curl path</a:t>
            </a:r>
          </a:p>
          <a:p>
            <a:r>
              <a:rPr lang="en-GB" sz="800">
                <a:solidFill>
                  <a:srgbClr val="081F2F"/>
                </a:solidFill>
                <a:latin typeface="Arial" panose="020B0604020202020204" pitchFamily="34" charset="0"/>
              </a:rPr>
              <a:t>- Check for binding or collision</a:t>
            </a:r>
          </a:p>
          <a:p>
            <a:r>
              <a:rPr lang="en-GB" sz="800">
                <a:solidFill>
                  <a:srgbClr val="081F2F"/>
                </a:solidFill>
                <a:latin typeface="Arial" panose="020B0604020202020204" pitchFamily="34" charset="0"/>
              </a:rPr>
              <a:t>- Show expected travel direction</a:t>
            </a:r>
            <a:endParaRPr lang="en-AU" sz="800">
              <a:solidFill>
                <a:srgbClr val="081F2F"/>
              </a:solidFill>
              <a:latin typeface="Arial" panose="020B0604020202020204" pitchFamily="34" charset="0"/>
            </a:endParaRPr>
          </a:p>
        </p:txBody>
      </p:sp>
      <p:sp>
        <p:nvSpPr>
          <p:cNvPr id="23" name="Rectangle 22">
            <a:extLst>
              <a:ext uri="{FF2B5EF4-FFF2-40B4-BE49-F238E27FC236}">
                <a16:creationId xmlns:a16="http://schemas.microsoft.com/office/drawing/2014/main" id="{7DBA132A-8925-6D9D-31A1-F69BF4F52501}"/>
              </a:ext>
            </a:extLst>
          </p:cNvPr>
          <p:cNvSpPr/>
          <p:nvPr/>
        </p:nvSpPr>
        <p:spPr>
          <a:xfrm>
            <a:off x="4546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6FFFD2BE-98BE-9263-66C8-2262BA9D1DBA}"/>
              </a:ext>
            </a:extLst>
          </p:cNvPr>
          <p:cNvSpPr/>
          <p:nvPr/>
        </p:nvSpPr>
        <p:spPr>
          <a:xfrm>
            <a:off x="4546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D41D127A-BFD7-C6CF-3135-C7A90ACE6B3D}"/>
              </a:ext>
            </a:extLst>
          </p:cNvPr>
          <p:cNvSpPr txBox="1"/>
          <p:nvPr/>
        </p:nvSpPr>
        <p:spPr>
          <a:xfrm>
            <a:off x="4572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3</a:t>
            </a:r>
          </a:p>
        </p:txBody>
      </p:sp>
      <p:sp>
        <p:nvSpPr>
          <p:cNvPr id="26" name="TextBox 25">
            <a:extLst>
              <a:ext uri="{FF2B5EF4-FFF2-40B4-BE49-F238E27FC236}">
                <a16:creationId xmlns:a16="http://schemas.microsoft.com/office/drawing/2014/main" id="{D0E47639-E345-17E6-6787-8325440B6DB0}"/>
              </a:ext>
            </a:extLst>
          </p:cNvPr>
          <p:cNvSpPr txBox="1"/>
          <p:nvPr/>
        </p:nvSpPr>
        <p:spPr>
          <a:xfrm>
            <a:off x="5054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Photo evidence</a:t>
            </a:r>
          </a:p>
        </p:txBody>
      </p:sp>
      <p:sp>
        <p:nvSpPr>
          <p:cNvPr id="27" name="TextBox 26">
            <a:extLst>
              <a:ext uri="{FF2B5EF4-FFF2-40B4-BE49-F238E27FC236}">
                <a16:creationId xmlns:a16="http://schemas.microsoft.com/office/drawing/2014/main" id="{21DD2FB3-B8E4-9D87-CD29-973F8DE389DF}"/>
              </a:ext>
            </a:extLst>
          </p:cNvPr>
          <p:cNvSpPr txBox="1"/>
          <p:nvPr/>
        </p:nvSpPr>
        <p:spPr>
          <a:xfrm>
            <a:off x="4648200" y="4622800"/>
            <a:ext cx="1752600" cy="569387"/>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Labelled Sketch</a:t>
            </a:r>
          </a:p>
          <a:p>
            <a:r>
              <a:rPr lang="en-GB" sz="800">
                <a:solidFill>
                  <a:srgbClr val="081F2F"/>
                </a:solidFill>
                <a:latin typeface="Arial" panose="020B0604020202020204" pitchFamily="34" charset="0"/>
              </a:rPr>
              <a:t>- Pivot Layout</a:t>
            </a:r>
          </a:p>
          <a:p>
            <a:r>
              <a:rPr lang="en-GB" sz="800">
                <a:solidFill>
                  <a:srgbClr val="081F2F"/>
                </a:solidFill>
                <a:latin typeface="Arial" panose="020B0604020202020204" pitchFamily="34" charset="0"/>
              </a:rPr>
              <a:t>- Syringe Mounts</a:t>
            </a:r>
          </a:p>
          <a:p>
            <a:r>
              <a:rPr lang="en-GB" sz="800">
                <a:solidFill>
                  <a:srgbClr val="081F2F"/>
                </a:solidFill>
                <a:latin typeface="Arial" panose="020B0604020202020204" pitchFamily="34" charset="0"/>
              </a:rPr>
              <a:t>- Bucket Path</a:t>
            </a:r>
            <a:endParaRPr lang="en-AU" sz="800">
              <a:solidFill>
                <a:srgbClr val="081F2F"/>
              </a:solidFill>
              <a:latin typeface="Arial" panose="020B0604020202020204" pitchFamily="34" charset="0"/>
            </a:endParaRPr>
          </a:p>
        </p:txBody>
      </p:sp>
      <p:sp>
        <p:nvSpPr>
          <p:cNvPr id="28" name="Rectangle 27">
            <a:extLst>
              <a:ext uri="{FF2B5EF4-FFF2-40B4-BE49-F238E27FC236}">
                <a16:creationId xmlns:a16="http://schemas.microsoft.com/office/drawing/2014/main" id="{8B0A25AC-C64D-EF81-301A-BD3D4BF4E668}"/>
              </a:ext>
            </a:extLst>
          </p:cNvPr>
          <p:cNvSpPr/>
          <p:nvPr/>
        </p:nvSpPr>
        <p:spPr>
          <a:xfrm>
            <a:off x="355600" y="7404100"/>
            <a:ext cx="6146800" cy="1473200"/>
          </a:xfrm>
          <a:prstGeom prst="rect">
            <a:avLst/>
          </a:prstGeom>
          <a:solidFill>
            <a:srgbClr val="FFF4BF"/>
          </a:solidFill>
          <a:ln w="1778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6DE110FD-8B8B-2DCF-72C7-AA05F0E9A487}"/>
              </a:ext>
            </a:extLst>
          </p:cNvPr>
          <p:cNvSpPr/>
          <p:nvPr/>
        </p:nvSpPr>
        <p:spPr>
          <a:xfrm>
            <a:off x="520700" y="7670800"/>
            <a:ext cx="469900" cy="469900"/>
          </a:xfrm>
          <a:prstGeom prst="ellipse">
            <a:avLst/>
          </a:prstGeom>
          <a:solidFill>
            <a:srgbClr val="F2C700"/>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1FADC747-E86F-AE9B-1A2D-2F358C48AE3D}"/>
              </a:ext>
            </a:extLst>
          </p:cNvPr>
          <p:cNvSpPr txBox="1"/>
          <p:nvPr/>
        </p:nvSpPr>
        <p:spPr>
          <a:xfrm>
            <a:off x="571500" y="7747000"/>
            <a:ext cx="3556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OK</a:t>
            </a:r>
          </a:p>
        </p:txBody>
      </p:sp>
      <p:sp>
        <p:nvSpPr>
          <p:cNvPr id="31" name="TextBox 30">
            <a:extLst>
              <a:ext uri="{FF2B5EF4-FFF2-40B4-BE49-F238E27FC236}">
                <a16:creationId xmlns:a16="http://schemas.microsoft.com/office/drawing/2014/main" id="{94338A26-8E2B-73A8-C9E2-4EAB074A977E}"/>
              </a:ext>
            </a:extLst>
          </p:cNvPr>
          <p:cNvSpPr txBox="1"/>
          <p:nvPr/>
        </p:nvSpPr>
        <p:spPr>
          <a:xfrm>
            <a:off x="1155700" y="7543800"/>
            <a:ext cx="4953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BEST PRACTICE STUDENT RESPONSE</a:t>
            </a:r>
          </a:p>
        </p:txBody>
      </p:sp>
      <p:sp>
        <p:nvSpPr>
          <p:cNvPr id="32" name="TextBox 31">
            <a:extLst>
              <a:ext uri="{FF2B5EF4-FFF2-40B4-BE49-F238E27FC236}">
                <a16:creationId xmlns:a16="http://schemas.microsoft.com/office/drawing/2014/main" id="{151A47DF-DB7C-F045-69B1-44FD42D7472B}"/>
              </a:ext>
            </a:extLst>
          </p:cNvPr>
          <p:cNvSpPr txBox="1"/>
          <p:nvPr/>
        </p:nvSpPr>
        <p:spPr>
          <a:xfrm>
            <a:off x="1155700" y="7835900"/>
            <a:ext cx="49530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Our linkage sketch shows the boom, dipper, bucket, pivot points and syringe mounts. We placed the syringe mounts to give controlled movement without binding. The bucket path sketch shows how the bucket should curl and where movement may be limited.</a:t>
            </a:r>
            <a:endParaRPr lang="en-AU" sz="800">
              <a:solidFill>
                <a:srgbClr val="081F2F"/>
              </a:solidFill>
              <a:latin typeface="Arial" panose="020B0604020202020204" pitchFamily="34" charset="0"/>
            </a:endParaRPr>
          </a:p>
        </p:txBody>
      </p:sp>
      <p:sp>
        <p:nvSpPr>
          <p:cNvPr id="33" name="Rectangle 32">
            <a:extLst>
              <a:ext uri="{FF2B5EF4-FFF2-40B4-BE49-F238E27FC236}">
                <a16:creationId xmlns:a16="http://schemas.microsoft.com/office/drawing/2014/main" id="{29E26D0E-4228-3B83-8DAB-349202BF8DCD}"/>
              </a:ext>
            </a:extLst>
          </p:cNvPr>
          <p:cNvSpPr/>
          <p:nvPr/>
        </p:nvSpPr>
        <p:spPr>
          <a:xfrm>
            <a:off x="355600" y="9448800"/>
            <a:ext cx="6146800" cy="533400"/>
          </a:xfrm>
          <a:prstGeom prst="rect">
            <a:avLst/>
          </a:prstGeom>
          <a:solidFill>
            <a:srgbClr val="FFFFFF"/>
          </a:solidFill>
          <a:ln w="1397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BBD3C326-F466-843A-6CB5-6A7AA183EA9C}"/>
              </a:ext>
            </a:extLst>
          </p:cNvPr>
          <p:cNvSpPr txBox="1"/>
          <p:nvPr/>
        </p:nvSpPr>
        <p:spPr>
          <a:xfrm>
            <a:off x="469900" y="9499600"/>
            <a:ext cx="1168400" cy="323165"/>
          </a:xfrm>
          <a:prstGeom prst="rect">
            <a:avLst/>
          </a:prstGeom>
          <a:noFill/>
        </p:spPr>
        <p:txBody>
          <a:bodyPr vert="horz" wrap="square" lIns="63500" tIns="38100" rIns="63500" bIns="38100" rtlCol="0">
            <a:spAutoFit/>
          </a:bodyPr>
          <a:lstStyle/>
          <a:p>
            <a:r>
              <a:rPr lang="en-AU" sz="800" b="1">
                <a:solidFill>
                  <a:srgbClr val="081F2F"/>
                </a:solidFill>
                <a:latin typeface="Arial" panose="020B0604020202020204" pitchFamily="34" charset="0"/>
              </a:rPr>
              <a:t>BEFORE YOU TICK DONE</a:t>
            </a:r>
          </a:p>
        </p:txBody>
      </p:sp>
      <p:sp>
        <p:nvSpPr>
          <p:cNvPr id="35" name="Rectangle 34">
            <a:extLst>
              <a:ext uri="{FF2B5EF4-FFF2-40B4-BE49-F238E27FC236}">
                <a16:creationId xmlns:a16="http://schemas.microsoft.com/office/drawing/2014/main" id="{578255F4-6C58-7173-9B40-97BE5288F41D}"/>
              </a:ext>
            </a:extLst>
          </p:cNvPr>
          <p:cNvSpPr/>
          <p:nvPr/>
        </p:nvSpPr>
        <p:spPr>
          <a:xfrm>
            <a:off x="17399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a:extLst>
              <a:ext uri="{FF2B5EF4-FFF2-40B4-BE49-F238E27FC236}">
                <a16:creationId xmlns:a16="http://schemas.microsoft.com/office/drawing/2014/main" id="{580BD2E0-989B-6C53-3589-1DDA787AD8BF}"/>
              </a:ext>
            </a:extLst>
          </p:cNvPr>
          <p:cNvSpPr txBox="1"/>
          <p:nvPr/>
        </p:nvSpPr>
        <p:spPr>
          <a:xfrm>
            <a:off x="18923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Pivots labelled</a:t>
            </a:r>
          </a:p>
        </p:txBody>
      </p:sp>
      <p:sp>
        <p:nvSpPr>
          <p:cNvPr id="37" name="Rectangle 36">
            <a:extLst>
              <a:ext uri="{FF2B5EF4-FFF2-40B4-BE49-F238E27FC236}">
                <a16:creationId xmlns:a16="http://schemas.microsoft.com/office/drawing/2014/main" id="{0C8277D2-D672-CDCD-8E34-6558049A4198}"/>
              </a:ext>
            </a:extLst>
          </p:cNvPr>
          <p:cNvSpPr/>
          <p:nvPr/>
        </p:nvSpPr>
        <p:spPr>
          <a:xfrm>
            <a:off x="32385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BF3DB92D-4926-CCB8-96BE-D8FAEA99C80D}"/>
              </a:ext>
            </a:extLst>
          </p:cNvPr>
          <p:cNvSpPr txBox="1"/>
          <p:nvPr/>
        </p:nvSpPr>
        <p:spPr>
          <a:xfrm>
            <a:off x="33909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Mounts shown</a:t>
            </a:r>
          </a:p>
        </p:txBody>
      </p:sp>
      <p:sp>
        <p:nvSpPr>
          <p:cNvPr id="39" name="Rectangle 38">
            <a:extLst>
              <a:ext uri="{FF2B5EF4-FFF2-40B4-BE49-F238E27FC236}">
                <a16:creationId xmlns:a16="http://schemas.microsoft.com/office/drawing/2014/main" id="{FE9334ED-2303-FD90-B084-BCDF7143B249}"/>
              </a:ext>
            </a:extLst>
          </p:cNvPr>
          <p:cNvSpPr/>
          <p:nvPr/>
        </p:nvSpPr>
        <p:spPr>
          <a:xfrm>
            <a:off x="47371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171D2CC5-3A41-1166-FE9C-FEE8DCFE0C62}"/>
              </a:ext>
            </a:extLst>
          </p:cNvPr>
          <p:cNvSpPr txBox="1"/>
          <p:nvPr/>
        </p:nvSpPr>
        <p:spPr>
          <a:xfrm>
            <a:off x="48895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Path explained</a:t>
            </a:r>
          </a:p>
        </p:txBody>
      </p:sp>
    </p:spTree>
    <p:extLst>
      <p:ext uri="{BB962C8B-B14F-4D97-AF65-F5344CB8AC3E}">
        <p14:creationId xmlns:p14="http://schemas.microsoft.com/office/powerpoint/2010/main" val="2686412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64EE6CD-B69F-1565-A4FF-9843EBFC1B03}"/>
              </a:ext>
            </a:extLst>
          </p:cNvPr>
          <p:cNvSpPr/>
          <p:nvPr/>
        </p:nvSpPr>
        <p:spPr>
          <a:xfrm>
            <a:off x="0" y="0"/>
            <a:ext cx="6858000" cy="812800"/>
          </a:xfrm>
          <a:prstGeom prst="rect">
            <a:avLst/>
          </a:prstGeom>
          <a:solidFill>
            <a:srgbClr val="081F2F"/>
          </a:solidFill>
          <a:ln w="0">
            <a:solidFill>
              <a:srgbClr val="081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A98410D3-C351-6748-9735-930C601CA2B3}"/>
              </a:ext>
            </a:extLst>
          </p:cNvPr>
          <p:cNvSpPr/>
          <p:nvPr/>
        </p:nvSpPr>
        <p:spPr>
          <a:xfrm>
            <a:off x="355600" y="228600"/>
            <a:ext cx="889000" cy="228600"/>
          </a:xfrm>
          <a:prstGeom prst="rect">
            <a:avLst/>
          </a:prstGeom>
          <a:solidFill>
            <a:srgbClr val="0B2B3B"/>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FC9C1A80-695B-4352-9F4B-63C4200D09A0}"/>
              </a:ext>
            </a:extLst>
          </p:cNvPr>
          <p:cNvSpPr txBox="1"/>
          <p:nvPr/>
        </p:nvSpPr>
        <p:spPr>
          <a:xfrm>
            <a:off x="431800" y="254000"/>
            <a:ext cx="736600" cy="184666"/>
          </a:xfrm>
          <a:prstGeom prst="rect">
            <a:avLst/>
          </a:prstGeom>
          <a:noFill/>
        </p:spPr>
        <p:txBody>
          <a:bodyPr vert="horz" wrap="square" lIns="63500" tIns="38100" rIns="63500" bIns="38100" rtlCol="0">
            <a:spAutoFit/>
          </a:bodyPr>
          <a:lstStyle/>
          <a:p>
            <a:r>
              <a:rPr lang="en-AU" sz="700" b="1">
                <a:solidFill>
                  <a:srgbClr val="FFFFFF"/>
                </a:solidFill>
                <a:latin typeface="Arial" panose="020B0604020202020204" pitchFamily="34" charset="0"/>
              </a:rPr>
              <a:t>SECTION 5</a:t>
            </a:r>
          </a:p>
        </p:txBody>
      </p:sp>
      <p:sp>
        <p:nvSpPr>
          <p:cNvPr id="5" name="TextBox 4">
            <a:extLst>
              <a:ext uri="{FF2B5EF4-FFF2-40B4-BE49-F238E27FC236}">
                <a16:creationId xmlns:a16="http://schemas.microsoft.com/office/drawing/2014/main" id="{8D54B0CD-5367-B870-EE63-0167A29528CE}"/>
              </a:ext>
            </a:extLst>
          </p:cNvPr>
          <p:cNvSpPr txBox="1"/>
          <p:nvPr/>
        </p:nvSpPr>
        <p:spPr>
          <a:xfrm>
            <a:off x="1422400" y="165100"/>
            <a:ext cx="3429000" cy="307777"/>
          </a:xfrm>
          <a:prstGeom prst="rect">
            <a:avLst/>
          </a:prstGeom>
          <a:noFill/>
        </p:spPr>
        <p:txBody>
          <a:bodyPr vert="horz" wrap="square" lIns="63500" tIns="38100" rIns="63500" bIns="38100" rtlCol="0">
            <a:spAutoFit/>
          </a:bodyPr>
          <a:lstStyle/>
          <a:p>
            <a:r>
              <a:rPr lang="en-AU" sz="1500" b="1">
                <a:solidFill>
                  <a:srgbClr val="FFFFFF"/>
                </a:solidFill>
                <a:latin typeface="Arial Narrow" panose="020B0606020202030204" pitchFamily="34" charset="0"/>
              </a:rPr>
              <a:t>BEST PRACTICE ANSWER</a:t>
            </a:r>
          </a:p>
        </p:txBody>
      </p:sp>
      <p:sp>
        <p:nvSpPr>
          <p:cNvPr id="6" name="Rectangle 5">
            <a:extLst>
              <a:ext uri="{FF2B5EF4-FFF2-40B4-BE49-F238E27FC236}">
                <a16:creationId xmlns:a16="http://schemas.microsoft.com/office/drawing/2014/main" id="{5C53645E-EAB6-2C81-5A11-4DACC5B468BE}"/>
              </a:ext>
            </a:extLst>
          </p:cNvPr>
          <p:cNvSpPr/>
          <p:nvPr/>
        </p:nvSpPr>
        <p:spPr>
          <a:xfrm>
            <a:off x="5207000" y="165100"/>
            <a:ext cx="1168400" cy="3556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5E258910-5F38-9C2E-B9FB-51533DEA2731}"/>
              </a:ext>
            </a:extLst>
          </p:cNvPr>
          <p:cNvSpPr txBox="1"/>
          <p:nvPr/>
        </p:nvSpPr>
        <p:spPr>
          <a:xfrm>
            <a:off x="5257800" y="228600"/>
            <a:ext cx="1066800" cy="169277"/>
          </a:xfrm>
          <a:prstGeom prst="rect">
            <a:avLst/>
          </a:prstGeom>
          <a:noFill/>
        </p:spPr>
        <p:txBody>
          <a:bodyPr vert="horz" wrap="square" lIns="63500" tIns="38100" rIns="63500" bIns="38100" rtlCol="0">
            <a:spAutoFit/>
          </a:bodyPr>
          <a:lstStyle/>
          <a:p>
            <a:r>
              <a:rPr lang="en-AU" sz="600" b="1">
                <a:solidFill>
                  <a:srgbClr val="081F2F"/>
                </a:solidFill>
                <a:latin typeface="Arial" panose="020B0604020202020204" pitchFamily="34" charset="0"/>
              </a:rPr>
              <a:t>YEAR 9 ENGINEERING</a:t>
            </a:r>
          </a:p>
        </p:txBody>
      </p:sp>
      <p:sp>
        <p:nvSpPr>
          <p:cNvPr id="8" name="Rectangle 7">
            <a:extLst>
              <a:ext uri="{FF2B5EF4-FFF2-40B4-BE49-F238E27FC236}">
                <a16:creationId xmlns:a16="http://schemas.microsoft.com/office/drawing/2014/main" id="{28231C35-F53C-1B7E-0F66-DBEB78ADAB55}"/>
              </a:ext>
            </a:extLst>
          </p:cNvPr>
          <p:cNvSpPr/>
          <p:nvPr/>
        </p:nvSpPr>
        <p:spPr>
          <a:xfrm>
            <a:off x="0" y="812800"/>
            <a:ext cx="6858000" cy="76200"/>
          </a:xfrm>
          <a:prstGeom prst="rect">
            <a:avLst/>
          </a:prstGeom>
          <a:solidFill>
            <a:srgbClr val="F2C700"/>
          </a:solidFill>
          <a:ln w="0">
            <a:solidFill>
              <a:srgbClr val="F2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9E1E2B3A-45EA-F7E5-D247-ADB99A385985}"/>
              </a:ext>
            </a:extLst>
          </p:cNvPr>
          <p:cNvSpPr txBox="1"/>
          <p:nvPr/>
        </p:nvSpPr>
        <p:spPr>
          <a:xfrm>
            <a:off x="355600" y="1041400"/>
            <a:ext cx="6146800" cy="353943"/>
          </a:xfrm>
          <a:prstGeom prst="rect">
            <a:avLst/>
          </a:prstGeom>
          <a:noFill/>
        </p:spPr>
        <p:txBody>
          <a:bodyPr vert="horz" wrap="square" lIns="63500" tIns="38100" rIns="63500" bIns="38100" rtlCol="0">
            <a:spAutoFit/>
          </a:bodyPr>
          <a:lstStyle/>
          <a:p>
            <a:r>
              <a:rPr lang="en-AU" b="1">
                <a:solidFill>
                  <a:srgbClr val="081F2F"/>
                </a:solidFill>
                <a:latin typeface="Arial Narrow" panose="020B0606020202030204" pitchFamily="34" charset="0"/>
              </a:rPr>
              <a:t>SYRINGE SIZING</a:t>
            </a:r>
          </a:p>
        </p:txBody>
      </p:sp>
      <p:sp>
        <p:nvSpPr>
          <p:cNvPr id="10" name="TextBox 9">
            <a:extLst>
              <a:ext uri="{FF2B5EF4-FFF2-40B4-BE49-F238E27FC236}">
                <a16:creationId xmlns:a16="http://schemas.microsoft.com/office/drawing/2014/main" id="{1F12F315-A718-A9DE-3BA2-584C549298A7}"/>
              </a:ext>
            </a:extLst>
          </p:cNvPr>
          <p:cNvSpPr txBox="1"/>
          <p:nvPr/>
        </p:nvSpPr>
        <p:spPr>
          <a:xfrm>
            <a:off x="355600" y="1409700"/>
            <a:ext cx="6146800" cy="200055"/>
          </a:xfrm>
          <a:prstGeom prst="rect">
            <a:avLst/>
          </a:prstGeom>
          <a:noFill/>
        </p:spPr>
        <p:txBody>
          <a:bodyPr vert="horz" wrap="square" lIns="63500" tIns="38100" rIns="63500" bIns="38100" rtlCol="0">
            <a:spAutoFit/>
          </a:bodyPr>
          <a:lstStyle/>
          <a:p>
            <a:r>
              <a:rPr lang="en-GB" sz="800">
                <a:solidFill>
                  <a:srgbClr val="5B6B7A"/>
                </a:solidFill>
                <a:latin typeface="Arial" panose="020B0604020202020204" pitchFamily="34" charset="0"/>
              </a:rPr>
              <a:t>A strong answer records syringe choices and explains the force-travel trade-off using piston area.</a:t>
            </a:r>
            <a:endParaRPr lang="en-AU" sz="800">
              <a:solidFill>
                <a:srgbClr val="5B6B7A"/>
              </a:solidFill>
              <a:latin typeface="Arial" panose="020B0604020202020204" pitchFamily="34" charset="0"/>
            </a:endParaRPr>
          </a:p>
        </p:txBody>
      </p:sp>
      <p:pic>
        <p:nvPicPr>
          <p:cNvPr id="12" name="Picture 11">
            <a:extLst>
              <a:ext uri="{FF2B5EF4-FFF2-40B4-BE49-F238E27FC236}">
                <a16:creationId xmlns:a16="http://schemas.microsoft.com/office/drawing/2014/main" id="{437D2633-975F-E014-5F61-BAF461A88A6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38867" y="1752600"/>
            <a:ext cx="2980267" cy="2235200"/>
          </a:xfrm>
          <a:prstGeom prst="rect">
            <a:avLst/>
          </a:prstGeom>
        </p:spPr>
      </p:pic>
      <p:sp>
        <p:nvSpPr>
          <p:cNvPr id="13" name="Rectangle 12">
            <a:extLst>
              <a:ext uri="{FF2B5EF4-FFF2-40B4-BE49-F238E27FC236}">
                <a16:creationId xmlns:a16="http://schemas.microsoft.com/office/drawing/2014/main" id="{8B346BDA-3445-02FD-825B-10EEDC4B3D89}"/>
              </a:ext>
            </a:extLst>
          </p:cNvPr>
          <p:cNvSpPr/>
          <p:nvPr/>
        </p:nvSpPr>
        <p:spPr>
          <a:xfrm>
            <a:off x="355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0205CACD-3A2A-EBB2-0AE7-4D66904A286C}"/>
              </a:ext>
            </a:extLst>
          </p:cNvPr>
          <p:cNvSpPr/>
          <p:nvPr/>
        </p:nvSpPr>
        <p:spPr>
          <a:xfrm>
            <a:off x="355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26FB0425-02D5-E3BB-BB55-3533E97C8998}"/>
              </a:ext>
            </a:extLst>
          </p:cNvPr>
          <p:cNvSpPr txBox="1"/>
          <p:nvPr/>
        </p:nvSpPr>
        <p:spPr>
          <a:xfrm>
            <a:off x="381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1</a:t>
            </a:r>
          </a:p>
        </p:txBody>
      </p:sp>
      <p:sp>
        <p:nvSpPr>
          <p:cNvPr id="16" name="TextBox 15">
            <a:extLst>
              <a:ext uri="{FF2B5EF4-FFF2-40B4-BE49-F238E27FC236}">
                <a16:creationId xmlns:a16="http://schemas.microsoft.com/office/drawing/2014/main" id="{0629E1BE-E674-749F-A4E4-B5FAEC70D456}"/>
              </a:ext>
            </a:extLst>
          </p:cNvPr>
          <p:cNvSpPr txBox="1"/>
          <p:nvPr/>
        </p:nvSpPr>
        <p:spPr>
          <a:xfrm>
            <a:off x="863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Syringe choice</a:t>
            </a:r>
          </a:p>
        </p:txBody>
      </p:sp>
      <p:sp>
        <p:nvSpPr>
          <p:cNvPr id="17" name="TextBox 16">
            <a:extLst>
              <a:ext uri="{FF2B5EF4-FFF2-40B4-BE49-F238E27FC236}">
                <a16:creationId xmlns:a16="http://schemas.microsoft.com/office/drawing/2014/main" id="{1470D27F-97BD-E04B-617E-46863A8206AE}"/>
              </a:ext>
            </a:extLst>
          </p:cNvPr>
          <p:cNvSpPr txBox="1"/>
          <p:nvPr/>
        </p:nvSpPr>
        <p:spPr>
          <a:xfrm>
            <a:off x="457200" y="4622800"/>
            <a:ext cx="1752600" cy="692497"/>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Record input and output syringe sizes</a:t>
            </a:r>
          </a:p>
          <a:p>
            <a:r>
              <a:rPr lang="en-GB" sz="800">
                <a:solidFill>
                  <a:srgbClr val="081F2F"/>
                </a:solidFill>
                <a:latin typeface="Arial" panose="020B0604020202020204" pitchFamily="34" charset="0"/>
              </a:rPr>
              <a:t>- Match sizes to boom, dipper and bucket</a:t>
            </a:r>
          </a:p>
          <a:p>
            <a:r>
              <a:rPr lang="en-GB" sz="800">
                <a:solidFill>
                  <a:srgbClr val="081F2F"/>
                </a:solidFill>
                <a:latin typeface="Arial" panose="020B0604020202020204" pitchFamily="34" charset="0"/>
              </a:rPr>
              <a:t>- Explain why each pair was chosen</a:t>
            </a:r>
            <a:endParaRPr lang="en-AU" sz="800">
              <a:solidFill>
                <a:srgbClr val="081F2F"/>
              </a:solidFill>
              <a:latin typeface="Arial" panose="020B0604020202020204" pitchFamily="34" charset="0"/>
            </a:endParaRPr>
          </a:p>
        </p:txBody>
      </p:sp>
      <p:sp>
        <p:nvSpPr>
          <p:cNvPr id="18" name="Rectangle 17">
            <a:extLst>
              <a:ext uri="{FF2B5EF4-FFF2-40B4-BE49-F238E27FC236}">
                <a16:creationId xmlns:a16="http://schemas.microsoft.com/office/drawing/2014/main" id="{883110E3-E2D0-1085-DC26-6DF35D423563}"/>
              </a:ext>
            </a:extLst>
          </p:cNvPr>
          <p:cNvSpPr/>
          <p:nvPr/>
        </p:nvSpPr>
        <p:spPr>
          <a:xfrm>
            <a:off x="24511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79C9DB2C-1192-FC15-DB14-28F4A616CC83}"/>
              </a:ext>
            </a:extLst>
          </p:cNvPr>
          <p:cNvSpPr/>
          <p:nvPr/>
        </p:nvSpPr>
        <p:spPr>
          <a:xfrm>
            <a:off x="24511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085D07F7-B7B3-346C-1422-642C29BA0B4C}"/>
              </a:ext>
            </a:extLst>
          </p:cNvPr>
          <p:cNvSpPr txBox="1"/>
          <p:nvPr/>
        </p:nvSpPr>
        <p:spPr>
          <a:xfrm>
            <a:off x="24765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2</a:t>
            </a:r>
          </a:p>
        </p:txBody>
      </p:sp>
      <p:sp>
        <p:nvSpPr>
          <p:cNvPr id="21" name="TextBox 20">
            <a:extLst>
              <a:ext uri="{FF2B5EF4-FFF2-40B4-BE49-F238E27FC236}">
                <a16:creationId xmlns:a16="http://schemas.microsoft.com/office/drawing/2014/main" id="{63035986-0A59-5375-FEF8-EB2FB8281432}"/>
              </a:ext>
            </a:extLst>
          </p:cNvPr>
          <p:cNvSpPr txBox="1"/>
          <p:nvPr/>
        </p:nvSpPr>
        <p:spPr>
          <a:xfrm>
            <a:off x="29591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Calculations</a:t>
            </a:r>
          </a:p>
        </p:txBody>
      </p:sp>
      <p:sp>
        <p:nvSpPr>
          <p:cNvPr id="22" name="TextBox 21">
            <a:extLst>
              <a:ext uri="{FF2B5EF4-FFF2-40B4-BE49-F238E27FC236}">
                <a16:creationId xmlns:a16="http://schemas.microsoft.com/office/drawing/2014/main" id="{1488DB00-BF0A-B177-AC15-1F79395B0CFD}"/>
              </a:ext>
            </a:extLst>
          </p:cNvPr>
          <p:cNvSpPr txBox="1"/>
          <p:nvPr/>
        </p:nvSpPr>
        <p:spPr>
          <a:xfrm>
            <a:off x="25527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Find piston area</a:t>
            </a:r>
          </a:p>
          <a:p>
            <a:r>
              <a:rPr lang="en-GB" sz="800">
                <a:solidFill>
                  <a:srgbClr val="081F2F"/>
                </a:solidFill>
                <a:latin typeface="Arial" panose="020B0604020202020204" pitchFamily="34" charset="0"/>
              </a:rPr>
              <a:t>- Use pressure and force ideas</a:t>
            </a:r>
          </a:p>
          <a:p>
            <a:r>
              <a:rPr lang="en-GB" sz="800">
                <a:solidFill>
                  <a:srgbClr val="081F2F"/>
                </a:solidFill>
                <a:latin typeface="Arial" panose="020B0604020202020204" pitchFamily="34" charset="0"/>
              </a:rPr>
              <a:t>- Show units clearly</a:t>
            </a:r>
            <a:endParaRPr lang="en-AU" sz="800">
              <a:solidFill>
                <a:srgbClr val="081F2F"/>
              </a:solidFill>
              <a:latin typeface="Arial" panose="020B0604020202020204" pitchFamily="34" charset="0"/>
            </a:endParaRPr>
          </a:p>
        </p:txBody>
      </p:sp>
      <p:sp>
        <p:nvSpPr>
          <p:cNvPr id="23" name="Rectangle 22">
            <a:extLst>
              <a:ext uri="{FF2B5EF4-FFF2-40B4-BE49-F238E27FC236}">
                <a16:creationId xmlns:a16="http://schemas.microsoft.com/office/drawing/2014/main" id="{C797F6C2-882A-C5E3-3783-BC6F18F7CA22}"/>
              </a:ext>
            </a:extLst>
          </p:cNvPr>
          <p:cNvSpPr/>
          <p:nvPr/>
        </p:nvSpPr>
        <p:spPr>
          <a:xfrm>
            <a:off x="4546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A03FEC58-222F-8CCB-8580-73813BA52EB4}"/>
              </a:ext>
            </a:extLst>
          </p:cNvPr>
          <p:cNvSpPr/>
          <p:nvPr/>
        </p:nvSpPr>
        <p:spPr>
          <a:xfrm>
            <a:off x="4546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B6C9E4B0-54AE-0D70-6E10-2116D9BF7AE4}"/>
              </a:ext>
            </a:extLst>
          </p:cNvPr>
          <p:cNvSpPr txBox="1"/>
          <p:nvPr/>
        </p:nvSpPr>
        <p:spPr>
          <a:xfrm>
            <a:off x="4572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3</a:t>
            </a:r>
          </a:p>
        </p:txBody>
      </p:sp>
      <p:sp>
        <p:nvSpPr>
          <p:cNvPr id="26" name="TextBox 25">
            <a:extLst>
              <a:ext uri="{FF2B5EF4-FFF2-40B4-BE49-F238E27FC236}">
                <a16:creationId xmlns:a16="http://schemas.microsoft.com/office/drawing/2014/main" id="{D725B8F9-DFEA-C635-720D-9E5FE53FC998}"/>
              </a:ext>
            </a:extLst>
          </p:cNvPr>
          <p:cNvSpPr txBox="1"/>
          <p:nvPr/>
        </p:nvSpPr>
        <p:spPr>
          <a:xfrm>
            <a:off x="5054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Trade-off</a:t>
            </a:r>
          </a:p>
        </p:txBody>
      </p:sp>
      <p:sp>
        <p:nvSpPr>
          <p:cNvPr id="27" name="TextBox 26">
            <a:extLst>
              <a:ext uri="{FF2B5EF4-FFF2-40B4-BE49-F238E27FC236}">
                <a16:creationId xmlns:a16="http://schemas.microsoft.com/office/drawing/2014/main" id="{89500843-30C8-E22A-860E-B0BF89F362B7}"/>
              </a:ext>
            </a:extLst>
          </p:cNvPr>
          <p:cNvSpPr txBox="1"/>
          <p:nvPr/>
        </p:nvSpPr>
        <p:spPr>
          <a:xfrm>
            <a:off x="4648200" y="4622800"/>
            <a:ext cx="1752600" cy="569387"/>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Larger output gives more force</a:t>
            </a:r>
          </a:p>
          <a:p>
            <a:r>
              <a:rPr lang="en-GB" sz="800">
                <a:solidFill>
                  <a:srgbClr val="081F2F"/>
                </a:solidFill>
                <a:latin typeface="Arial" panose="020B0604020202020204" pitchFamily="34" charset="0"/>
              </a:rPr>
              <a:t>- More force usually means less travel</a:t>
            </a:r>
          </a:p>
          <a:p>
            <a:r>
              <a:rPr lang="en-GB" sz="800">
                <a:solidFill>
                  <a:srgbClr val="081F2F"/>
                </a:solidFill>
                <a:latin typeface="Arial" panose="020B0604020202020204" pitchFamily="34" charset="0"/>
              </a:rPr>
              <a:t>- Compare prediction with testing</a:t>
            </a:r>
            <a:endParaRPr lang="en-AU" sz="800">
              <a:solidFill>
                <a:srgbClr val="081F2F"/>
              </a:solidFill>
              <a:latin typeface="Arial" panose="020B0604020202020204" pitchFamily="34" charset="0"/>
            </a:endParaRPr>
          </a:p>
        </p:txBody>
      </p:sp>
      <p:sp>
        <p:nvSpPr>
          <p:cNvPr id="28" name="Rectangle 27">
            <a:extLst>
              <a:ext uri="{FF2B5EF4-FFF2-40B4-BE49-F238E27FC236}">
                <a16:creationId xmlns:a16="http://schemas.microsoft.com/office/drawing/2014/main" id="{BA3BF5D9-6DA7-AC74-9894-0BA6A3D1F070}"/>
              </a:ext>
            </a:extLst>
          </p:cNvPr>
          <p:cNvSpPr/>
          <p:nvPr/>
        </p:nvSpPr>
        <p:spPr>
          <a:xfrm>
            <a:off x="355600" y="7404100"/>
            <a:ext cx="6146800" cy="1473200"/>
          </a:xfrm>
          <a:prstGeom prst="rect">
            <a:avLst/>
          </a:prstGeom>
          <a:solidFill>
            <a:srgbClr val="FFF4BF"/>
          </a:solidFill>
          <a:ln w="1778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8E1B25F4-BB67-FC18-3523-B7C0AA69F857}"/>
              </a:ext>
            </a:extLst>
          </p:cNvPr>
          <p:cNvSpPr/>
          <p:nvPr/>
        </p:nvSpPr>
        <p:spPr>
          <a:xfrm>
            <a:off x="520700" y="7670800"/>
            <a:ext cx="469900" cy="469900"/>
          </a:xfrm>
          <a:prstGeom prst="ellipse">
            <a:avLst/>
          </a:prstGeom>
          <a:solidFill>
            <a:srgbClr val="F2C700"/>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B8810827-9BA6-AFDC-65E0-D7A15503A45B}"/>
              </a:ext>
            </a:extLst>
          </p:cNvPr>
          <p:cNvSpPr txBox="1"/>
          <p:nvPr/>
        </p:nvSpPr>
        <p:spPr>
          <a:xfrm>
            <a:off x="571500" y="7747000"/>
            <a:ext cx="3556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OK</a:t>
            </a:r>
          </a:p>
        </p:txBody>
      </p:sp>
      <p:sp>
        <p:nvSpPr>
          <p:cNvPr id="31" name="TextBox 30">
            <a:extLst>
              <a:ext uri="{FF2B5EF4-FFF2-40B4-BE49-F238E27FC236}">
                <a16:creationId xmlns:a16="http://schemas.microsoft.com/office/drawing/2014/main" id="{A6FA83DA-2A85-B08C-E7AF-340D4701E8CB}"/>
              </a:ext>
            </a:extLst>
          </p:cNvPr>
          <p:cNvSpPr txBox="1"/>
          <p:nvPr/>
        </p:nvSpPr>
        <p:spPr>
          <a:xfrm>
            <a:off x="1155700" y="7543800"/>
            <a:ext cx="4953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BEST PRACTICE STUDENT RESPONSE</a:t>
            </a:r>
          </a:p>
        </p:txBody>
      </p:sp>
      <p:sp>
        <p:nvSpPr>
          <p:cNvPr id="32" name="TextBox 31">
            <a:extLst>
              <a:ext uri="{FF2B5EF4-FFF2-40B4-BE49-F238E27FC236}">
                <a16:creationId xmlns:a16="http://schemas.microsoft.com/office/drawing/2014/main" id="{84607221-5E57-1300-4B8B-067BFBCA8A40}"/>
              </a:ext>
            </a:extLst>
          </p:cNvPr>
          <p:cNvSpPr txBox="1"/>
          <p:nvPr/>
        </p:nvSpPr>
        <p:spPr>
          <a:xfrm>
            <a:off x="1155700" y="7835900"/>
            <a:ext cx="49530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We chose syringe sizes by thinking about force and travel. A larger output syringe can create more lifting force, but it moves a shorter distance. Our calculations used piston area to predict how the boom, dipper and bucket would behave.</a:t>
            </a:r>
            <a:endParaRPr lang="en-AU" sz="800">
              <a:solidFill>
                <a:srgbClr val="081F2F"/>
              </a:solidFill>
              <a:latin typeface="Arial" panose="020B0604020202020204" pitchFamily="34" charset="0"/>
            </a:endParaRPr>
          </a:p>
        </p:txBody>
      </p:sp>
      <p:sp>
        <p:nvSpPr>
          <p:cNvPr id="33" name="Rectangle 32">
            <a:extLst>
              <a:ext uri="{FF2B5EF4-FFF2-40B4-BE49-F238E27FC236}">
                <a16:creationId xmlns:a16="http://schemas.microsoft.com/office/drawing/2014/main" id="{7995BF74-9B62-1B2C-C7D8-8DF2DECBB2C2}"/>
              </a:ext>
            </a:extLst>
          </p:cNvPr>
          <p:cNvSpPr/>
          <p:nvPr/>
        </p:nvSpPr>
        <p:spPr>
          <a:xfrm>
            <a:off x="355600" y="9448800"/>
            <a:ext cx="6146800" cy="533400"/>
          </a:xfrm>
          <a:prstGeom prst="rect">
            <a:avLst/>
          </a:prstGeom>
          <a:solidFill>
            <a:srgbClr val="FFFFFF"/>
          </a:solidFill>
          <a:ln w="1397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A7328346-E3AD-966F-5F5E-F7AAB33BD22B}"/>
              </a:ext>
            </a:extLst>
          </p:cNvPr>
          <p:cNvSpPr txBox="1"/>
          <p:nvPr/>
        </p:nvSpPr>
        <p:spPr>
          <a:xfrm>
            <a:off x="469900" y="9499600"/>
            <a:ext cx="1168400" cy="323165"/>
          </a:xfrm>
          <a:prstGeom prst="rect">
            <a:avLst/>
          </a:prstGeom>
          <a:noFill/>
        </p:spPr>
        <p:txBody>
          <a:bodyPr vert="horz" wrap="square" lIns="63500" tIns="38100" rIns="63500" bIns="38100" rtlCol="0">
            <a:spAutoFit/>
          </a:bodyPr>
          <a:lstStyle/>
          <a:p>
            <a:r>
              <a:rPr lang="en-AU" sz="800" b="1">
                <a:solidFill>
                  <a:srgbClr val="081F2F"/>
                </a:solidFill>
                <a:latin typeface="Arial" panose="020B0604020202020204" pitchFamily="34" charset="0"/>
              </a:rPr>
              <a:t>BEFORE YOU TICK DONE</a:t>
            </a:r>
          </a:p>
        </p:txBody>
      </p:sp>
      <p:sp>
        <p:nvSpPr>
          <p:cNvPr id="35" name="Rectangle 34">
            <a:extLst>
              <a:ext uri="{FF2B5EF4-FFF2-40B4-BE49-F238E27FC236}">
                <a16:creationId xmlns:a16="http://schemas.microsoft.com/office/drawing/2014/main" id="{E4DE0089-4F0E-FF54-66EC-A4698FA56C39}"/>
              </a:ext>
            </a:extLst>
          </p:cNvPr>
          <p:cNvSpPr/>
          <p:nvPr/>
        </p:nvSpPr>
        <p:spPr>
          <a:xfrm>
            <a:off x="17399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a:extLst>
              <a:ext uri="{FF2B5EF4-FFF2-40B4-BE49-F238E27FC236}">
                <a16:creationId xmlns:a16="http://schemas.microsoft.com/office/drawing/2014/main" id="{F24072A3-2B83-BC55-DCF4-0E0267DF1CCC}"/>
              </a:ext>
            </a:extLst>
          </p:cNvPr>
          <p:cNvSpPr txBox="1"/>
          <p:nvPr/>
        </p:nvSpPr>
        <p:spPr>
          <a:xfrm>
            <a:off x="18923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Sizes recorded</a:t>
            </a:r>
          </a:p>
        </p:txBody>
      </p:sp>
      <p:sp>
        <p:nvSpPr>
          <p:cNvPr id="37" name="Rectangle 36">
            <a:extLst>
              <a:ext uri="{FF2B5EF4-FFF2-40B4-BE49-F238E27FC236}">
                <a16:creationId xmlns:a16="http://schemas.microsoft.com/office/drawing/2014/main" id="{24F3B0B1-E558-4A19-58C2-616CECFD746D}"/>
              </a:ext>
            </a:extLst>
          </p:cNvPr>
          <p:cNvSpPr/>
          <p:nvPr/>
        </p:nvSpPr>
        <p:spPr>
          <a:xfrm>
            <a:off x="32385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E6D04CC9-1098-BD76-3036-4ECD0EC0C10B}"/>
              </a:ext>
            </a:extLst>
          </p:cNvPr>
          <p:cNvSpPr txBox="1"/>
          <p:nvPr/>
        </p:nvSpPr>
        <p:spPr>
          <a:xfrm>
            <a:off x="33909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Areas calculated</a:t>
            </a:r>
          </a:p>
        </p:txBody>
      </p:sp>
      <p:sp>
        <p:nvSpPr>
          <p:cNvPr id="39" name="Rectangle 38">
            <a:extLst>
              <a:ext uri="{FF2B5EF4-FFF2-40B4-BE49-F238E27FC236}">
                <a16:creationId xmlns:a16="http://schemas.microsoft.com/office/drawing/2014/main" id="{C682C166-7A23-3F5D-493E-AC60AA8FF9A6}"/>
              </a:ext>
            </a:extLst>
          </p:cNvPr>
          <p:cNvSpPr/>
          <p:nvPr/>
        </p:nvSpPr>
        <p:spPr>
          <a:xfrm>
            <a:off x="47371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DBEAF5FC-4018-D37D-C603-FEF1672B020B}"/>
              </a:ext>
            </a:extLst>
          </p:cNvPr>
          <p:cNvSpPr txBox="1"/>
          <p:nvPr/>
        </p:nvSpPr>
        <p:spPr>
          <a:xfrm>
            <a:off x="48895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Trade-off explained</a:t>
            </a:r>
          </a:p>
        </p:txBody>
      </p:sp>
    </p:spTree>
    <p:extLst>
      <p:ext uri="{BB962C8B-B14F-4D97-AF65-F5344CB8AC3E}">
        <p14:creationId xmlns:p14="http://schemas.microsoft.com/office/powerpoint/2010/main" val="2611523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E40898-7D29-BFEB-F4F0-A5C68D904E04}"/>
              </a:ext>
            </a:extLst>
          </p:cNvPr>
          <p:cNvSpPr/>
          <p:nvPr/>
        </p:nvSpPr>
        <p:spPr>
          <a:xfrm>
            <a:off x="0" y="0"/>
            <a:ext cx="6858000" cy="812800"/>
          </a:xfrm>
          <a:prstGeom prst="rect">
            <a:avLst/>
          </a:prstGeom>
          <a:solidFill>
            <a:srgbClr val="081F2F"/>
          </a:solidFill>
          <a:ln w="0">
            <a:solidFill>
              <a:srgbClr val="081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16F16761-24AB-0FAB-E9CF-2D9E075A8E70}"/>
              </a:ext>
            </a:extLst>
          </p:cNvPr>
          <p:cNvSpPr/>
          <p:nvPr/>
        </p:nvSpPr>
        <p:spPr>
          <a:xfrm>
            <a:off x="355600" y="228600"/>
            <a:ext cx="889000" cy="228600"/>
          </a:xfrm>
          <a:prstGeom prst="rect">
            <a:avLst/>
          </a:prstGeom>
          <a:solidFill>
            <a:srgbClr val="0B2B3B"/>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B6217EC9-C6D6-E002-E013-83E1C853C8EB}"/>
              </a:ext>
            </a:extLst>
          </p:cNvPr>
          <p:cNvSpPr txBox="1"/>
          <p:nvPr/>
        </p:nvSpPr>
        <p:spPr>
          <a:xfrm>
            <a:off x="431800" y="254000"/>
            <a:ext cx="736600" cy="184666"/>
          </a:xfrm>
          <a:prstGeom prst="rect">
            <a:avLst/>
          </a:prstGeom>
          <a:noFill/>
        </p:spPr>
        <p:txBody>
          <a:bodyPr vert="horz" wrap="square" lIns="63500" tIns="38100" rIns="63500" bIns="38100" rtlCol="0">
            <a:spAutoFit/>
          </a:bodyPr>
          <a:lstStyle/>
          <a:p>
            <a:r>
              <a:rPr lang="en-AU" sz="700" b="1">
                <a:solidFill>
                  <a:srgbClr val="FFFFFF"/>
                </a:solidFill>
                <a:latin typeface="Arial" panose="020B0604020202020204" pitchFamily="34" charset="0"/>
              </a:rPr>
              <a:t>SECTION 6</a:t>
            </a:r>
          </a:p>
        </p:txBody>
      </p:sp>
      <p:sp>
        <p:nvSpPr>
          <p:cNvPr id="5" name="TextBox 4">
            <a:extLst>
              <a:ext uri="{FF2B5EF4-FFF2-40B4-BE49-F238E27FC236}">
                <a16:creationId xmlns:a16="http://schemas.microsoft.com/office/drawing/2014/main" id="{A9BC1867-ECD7-B5F6-2AD9-1A07FD9539D0}"/>
              </a:ext>
            </a:extLst>
          </p:cNvPr>
          <p:cNvSpPr txBox="1"/>
          <p:nvPr/>
        </p:nvSpPr>
        <p:spPr>
          <a:xfrm>
            <a:off x="1422400" y="165100"/>
            <a:ext cx="3429000" cy="307777"/>
          </a:xfrm>
          <a:prstGeom prst="rect">
            <a:avLst/>
          </a:prstGeom>
          <a:noFill/>
        </p:spPr>
        <p:txBody>
          <a:bodyPr vert="horz" wrap="square" lIns="63500" tIns="38100" rIns="63500" bIns="38100" rtlCol="0">
            <a:spAutoFit/>
          </a:bodyPr>
          <a:lstStyle/>
          <a:p>
            <a:r>
              <a:rPr lang="en-AU" sz="1500" b="1">
                <a:solidFill>
                  <a:srgbClr val="FFFFFF"/>
                </a:solidFill>
                <a:latin typeface="Arial Narrow" panose="020B0606020202030204" pitchFamily="34" charset="0"/>
              </a:rPr>
              <a:t>BEST PRACTICE ANSWER</a:t>
            </a:r>
          </a:p>
        </p:txBody>
      </p:sp>
      <p:sp>
        <p:nvSpPr>
          <p:cNvPr id="6" name="Rectangle 5">
            <a:extLst>
              <a:ext uri="{FF2B5EF4-FFF2-40B4-BE49-F238E27FC236}">
                <a16:creationId xmlns:a16="http://schemas.microsoft.com/office/drawing/2014/main" id="{E2D1B16A-C23D-C885-C59D-1D4FAF769A27}"/>
              </a:ext>
            </a:extLst>
          </p:cNvPr>
          <p:cNvSpPr/>
          <p:nvPr/>
        </p:nvSpPr>
        <p:spPr>
          <a:xfrm>
            <a:off x="5207000" y="165100"/>
            <a:ext cx="1168400" cy="3556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9246C0F7-9EA3-D56D-35AF-B8F28E073005}"/>
              </a:ext>
            </a:extLst>
          </p:cNvPr>
          <p:cNvSpPr txBox="1"/>
          <p:nvPr/>
        </p:nvSpPr>
        <p:spPr>
          <a:xfrm>
            <a:off x="5257800" y="228600"/>
            <a:ext cx="1066800" cy="169277"/>
          </a:xfrm>
          <a:prstGeom prst="rect">
            <a:avLst/>
          </a:prstGeom>
          <a:noFill/>
        </p:spPr>
        <p:txBody>
          <a:bodyPr vert="horz" wrap="square" lIns="63500" tIns="38100" rIns="63500" bIns="38100" rtlCol="0">
            <a:spAutoFit/>
          </a:bodyPr>
          <a:lstStyle/>
          <a:p>
            <a:r>
              <a:rPr lang="en-AU" sz="600" b="1">
                <a:solidFill>
                  <a:srgbClr val="081F2F"/>
                </a:solidFill>
                <a:latin typeface="Arial" panose="020B0604020202020204" pitchFamily="34" charset="0"/>
              </a:rPr>
              <a:t>YEAR 9 ENGINEERING</a:t>
            </a:r>
          </a:p>
        </p:txBody>
      </p:sp>
      <p:sp>
        <p:nvSpPr>
          <p:cNvPr id="8" name="Rectangle 7">
            <a:extLst>
              <a:ext uri="{FF2B5EF4-FFF2-40B4-BE49-F238E27FC236}">
                <a16:creationId xmlns:a16="http://schemas.microsoft.com/office/drawing/2014/main" id="{2DF13651-5FAB-4572-E1E7-1B7D6651DE28}"/>
              </a:ext>
            </a:extLst>
          </p:cNvPr>
          <p:cNvSpPr/>
          <p:nvPr/>
        </p:nvSpPr>
        <p:spPr>
          <a:xfrm>
            <a:off x="0" y="812800"/>
            <a:ext cx="6858000" cy="76200"/>
          </a:xfrm>
          <a:prstGeom prst="rect">
            <a:avLst/>
          </a:prstGeom>
          <a:solidFill>
            <a:srgbClr val="F2C700"/>
          </a:solidFill>
          <a:ln w="0">
            <a:solidFill>
              <a:srgbClr val="F2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8096026E-BC58-C033-EEC6-14E9CE9DF7F7}"/>
              </a:ext>
            </a:extLst>
          </p:cNvPr>
          <p:cNvSpPr txBox="1"/>
          <p:nvPr/>
        </p:nvSpPr>
        <p:spPr>
          <a:xfrm>
            <a:off x="355600" y="1041400"/>
            <a:ext cx="6146800" cy="353943"/>
          </a:xfrm>
          <a:prstGeom prst="rect">
            <a:avLst/>
          </a:prstGeom>
          <a:noFill/>
        </p:spPr>
        <p:txBody>
          <a:bodyPr vert="horz" wrap="square" lIns="63500" tIns="38100" rIns="63500" bIns="38100" rtlCol="0">
            <a:spAutoFit/>
          </a:bodyPr>
          <a:lstStyle/>
          <a:p>
            <a:r>
              <a:rPr lang="en-AU" b="1">
                <a:solidFill>
                  <a:srgbClr val="081F2F"/>
                </a:solidFill>
                <a:latin typeface="Arial Narrow" panose="020B0606020202030204" pitchFamily="34" charset="0"/>
              </a:rPr>
              <a:t>BUILD PLAN</a:t>
            </a:r>
          </a:p>
        </p:txBody>
      </p:sp>
      <p:sp>
        <p:nvSpPr>
          <p:cNvPr id="10" name="TextBox 9">
            <a:extLst>
              <a:ext uri="{FF2B5EF4-FFF2-40B4-BE49-F238E27FC236}">
                <a16:creationId xmlns:a16="http://schemas.microsoft.com/office/drawing/2014/main" id="{A4C06C4B-8FCE-C0A6-D675-99A426F72B57}"/>
              </a:ext>
            </a:extLst>
          </p:cNvPr>
          <p:cNvSpPr txBox="1"/>
          <p:nvPr/>
        </p:nvSpPr>
        <p:spPr>
          <a:xfrm>
            <a:off x="355600" y="1409700"/>
            <a:ext cx="6146800" cy="200055"/>
          </a:xfrm>
          <a:prstGeom prst="rect">
            <a:avLst/>
          </a:prstGeom>
          <a:noFill/>
        </p:spPr>
        <p:txBody>
          <a:bodyPr vert="horz" wrap="square" lIns="63500" tIns="38100" rIns="63500" bIns="38100" rtlCol="0">
            <a:spAutoFit/>
          </a:bodyPr>
          <a:lstStyle/>
          <a:p>
            <a:r>
              <a:rPr lang="en-GB" sz="800">
                <a:solidFill>
                  <a:srgbClr val="5B6B7A"/>
                </a:solidFill>
                <a:latin typeface="Arial" panose="020B0604020202020204" pitchFamily="34" charset="0"/>
              </a:rPr>
              <a:t>A strong answer shows the planned construction sequence before parts are cut and assembled.</a:t>
            </a:r>
            <a:endParaRPr lang="en-AU" sz="800">
              <a:solidFill>
                <a:srgbClr val="5B6B7A"/>
              </a:solidFill>
              <a:latin typeface="Arial" panose="020B0604020202020204" pitchFamily="34" charset="0"/>
            </a:endParaRPr>
          </a:p>
        </p:txBody>
      </p:sp>
      <p:pic>
        <p:nvPicPr>
          <p:cNvPr id="12" name="Picture 11">
            <a:extLst>
              <a:ext uri="{FF2B5EF4-FFF2-40B4-BE49-F238E27FC236}">
                <a16:creationId xmlns:a16="http://schemas.microsoft.com/office/drawing/2014/main" id="{F662A6E1-82DC-A101-AB8E-B6121FAFFB9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38867" y="1752600"/>
            <a:ext cx="2980267" cy="2235200"/>
          </a:xfrm>
          <a:prstGeom prst="rect">
            <a:avLst/>
          </a:prstGeom>
        </p:spPr>
      </p:pic>
      <p:sp>
        <p:nvSpPr>
          <p:cNvPr id="13" name="Rectangle 12">
            <a:extLst>
              <a:ext uri="{FF2B5EF4-FFF2-40B4-BE49-F238E27FC236}">
                <a16:creationId xmlns:a16="http://schemas.microsoft.com/office/drawing/2014/main" id="{020E8DEB-35E1-C18B-C774-54C3C35063ED}"/>
              </a:ext>
            </a:extLst>
          </p:cNvPr>
          <p:cNvSpPr/>
          <p:nvPr/>
        </p:nvSpPr>
        <p:spPr>
          <a:xfrm>
            <a:off x="355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41A9F8DB-8B3F-2CBC-CFB5-FD0654E872DB}"/>
              </a:ext>
            </a:extLst>
          </p:cNvPr>
          <p:cNvSpPr/>
          <p:nvPr/>
        </p:nvSpPr>
        <p:spPr>
          <a:xfrm>
            <a:off x="355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5CC10E6F-4D6F-715A-CAD9-20FE6B0D8FAF}"/>
              </a:ext>
            </a:extLst>
          </p:cNvPr>
          <p:cNvSpPr txBox="1"/>
          <p:nvPr/>
        </p:nvSpPr>
        <p:spPr>
          <a:xfrm>
            <a:off x="381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1</a:t>
            </a:r>
          </a:p>
        </p:txBody>
      </p:sp>
      <p:sp>
        <p:nvSpPr>
          <p:cNvPr id="16" name="TextBox 15">
            <a:extLst>
              <a:ext uri="{FF2B5EF4-FFF2-40B4-BE49-F238E27FC236}">
                <a16:creationId xmlns:a16="http://schemas.microsoft.com/office/drawing/2014/main" id="{49ABCCE6-894E-AA96-82C1-8341E4CE814C}"/>
              </a:ext>
            </a:extLst>
          </p:cNvPr>
          <p:cNvSpPr txBox="1"/>
          <p:nvPr/>
        </p:nvSpPr>
        <p:spPr>
          <a:xfrm>
            <a:off x="863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Sequence</a:t>
            </a:r>
          </a:p>
        </p:txBody>
      </p:sp>
      <p:sp>
        <p:nvSpPr>
          <p:cNvPr id="17" name="TextBox 16">
            <a:extLst>
              <a:ext uri="{FF2B5EF4-FFF2-40B4-BE49-F238E27FC236}">
                <a16:creationId xmlns:a16="http://schemas.microsoft.com/office/drawing/2014/main" id="{0E890E60-D0BF-2077-3706-8086E50A4C66}"/>
              </a:ext>
            </a:extLst>
          </p:cNvPr>
          <p:cNvSpPr txBox="1"/>
          <p:nvPr/>
        </p:nvSpPr>
        <p:spPr>
          <a:xfrm>
            <a:off x="457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Build base first</a:t>
            </a:r>
          </a:p>
          <a:p>
            <a:r>
              <a:rPr lang="en-GB" sz="800">
                <a:solidFill>
                  <a:srgbClr val="081F2F"/>
                </a:solidFill>
                <a:latin typeface="Arial" panose="020B0604020202020204" pitchFamily="34" charset="0"/>
              </a:rPr>
              <a:t>- Add boom, dipper and bucket</a:t>
            </a:r>
          </a:p>
          <a:p>
            <a:r>
              <a:rPr lang="en-GB" sz="800">
                <a:solidFill>
                  <a:srgbClr val="081F2F"/>
                </a:solidFill>
                <a:latin typeface="Arial" panose="020B0604020202020204" pitchFamily="34" charset="0"/>
              </a:rPr>
              <a:t>- Install pivots before hydraulics</a:t>
            </a:r>
            <a:endParaRPr lang="en-AU" sz="800">
              <a:solidFill>
                <a:srgbClr val="081F2F"/>
              </a:solidFill>
              <a:latin typeface="Arial" panose="020B0604020202020204" pitchFamily="34" charset="0"/>
            </a:endParaRPr>
          </a:p>
        </p:txBody>
      </p:sp>
      <p:sp>
        <p:nvSpPr>
          <p:cNvPr id="18" name="Rectangle 17">
            <a:extLst>
              <a:ext uri="{FF2B5EF4-FFF2-40B4-BE49-F238E27FC236}">
                <a16:creationId xmlns:a16="http://schemas.microsoft.com/office/drawing/2014/main" id="{2397597C-03BB-E481-6DE8-E7116C78397F}"/>
              </a:ext>
            </a:extLst>
          </p:cNvPr>
          <p:cNvSpPr/>
          <p:nvPr/>
        </p:nvSpPr>
        <p:spPr>
          <a:xfrm>
            <a:off x="24511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836F82A7-02F9-3291-A586-DDEE9EC5E03B}"/>
              </a:ext>
            </a:extLst>
          </p:cNvPr>
          <p:cNvSpPr/>
          <p:nvPr/>
        </p:nvSpPr>
        <p:spPr>
          <a:xfrm>
            <a:off x="24511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C80255CB-E768-4BBC-94C8-51FE5F98F61E}"/>
              </a:ext>
            </a:extLst>
          </p:cNvPr>
          <p:cNvSpPr txBox="1"/>
          <p:nvPr/>
        </p:nvSpPr>
        <p:spPr>
          <a:xfrm>
            <a:off x="24765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2</a:t>
            </a:r>
          </a:p>
        </p:txBody>
      </p:sp>
      <p:sp>
        <p:nvSpPr>
          <p:cNvPr id="21" name="TextBox 20">
            <a:extLst>
              <a:ext uri="{FF2B5EF4-FFF2-40B4-BE49-F238E27FC236}">
                <a16:creationId xmlns:a16="http://schemas.microsoft.com/office/drawing/2014/main" id="{8A01876E-97C9-D57F-F158-C022BE6A6E6E}"/>
              </a:ext>
            </a:extLst>
          </p:cNvPr>
          <p:cNvSpPr txBox="1"/>
          <p:nvPr/>
        </p:nvSpPr>
        <p:spPr>
          <a:xfrm>
            <a:off x="29591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Accuracy checks</a:t>
            </a:r>
          </a:p>
        </p:txBody>
      </p:sp>
      <p:sp>
        <p:nvSpPr>
          <p:cNvPr id="22" name="TextBox 21">
            <a:extLst>
              <a:ext uri="{FF2B5EF4-FFF2-40B4-BE49-F238E27FC236}">
                <a16:creationId xmlns:a16="http://schemas.microsoft.com/office/drawing/2014/main" id="{5D60558E-0FBF-5ABD-C626-D4A63AE25339}"/>
              </a:ext>
            </a:extLst>
          </p:cNvPr>
          <p:cNvSpPr txBox="1"/>
          <p:nvPr/>
        </p:nvSpPr>
        <p:spPr>
          <a:xfrm>
            <a:off x="2552700" y="4622800"/>
            <a:ext cx="1752600" cy="569387"/>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Mark and drill holes accurately</a:t>
            </a:r>
          </a:p>
          <a:p>
            <a:r>
              <a:rPr lang="en-GB" sz="800">
                <a:solidFill>
                  <a:srgbClr val="081F2F"/>
                </a:solidFill>
                <a:latin typeface="Arial" panose="020B0604020202020204" pitchFamily="34" charset="0"/>
              </a:rPr>
              <a:t>- Keep arms stiff and aligned</a:t>
            </a:r>
          </a:p>
          <a:p>
            <a:r>
              <a:rPr lang="en-GB" sz="800">
                <a:solidFill>
                  <a:srgbClr val="081F2F"/>
                </a:solidFill>
                <a:latin typeface="Arial" panose="020B0604020202020204" pitchFamily="34" charset="0"/>
              </a:rPr>
              <a:t>- Check movement before final fixing</a:t>
            </a:r>
            <a:endParaRPr lang="en-AU" sz="800">
              <a:solidFill>
                <a:srgbClr val="081F2F"/>
              </a:solidFill>
              <a:latin typeface="Arial" panose="020B0604020202020204" pitchFamily="34" charset="0"/>
            </a:endParaRPr>
          </a:p>
        </p:txBody>
      </p:sp>
      <p:sp>
        <p:nvSpPr>
          <p:cNvPr id="23" name="Rectangle 22">
            <a:extLst>
              <a:ext uri="{FF2B5EF4-FFF2-40B4-BE49-F238E27FC236}">
                <a16:creationId xmlns:a16="http://schemas.microsoft.com/office/drawing/2014/main" id="{DC6364EA-82FA-74CE-2143-83F6DBE3A8C6}"/>
              </a:ext>
            </a:extLst>
          </p:cNvPr>
          <p:cNvSpPr/>
          <p:nvPr/>
        </p:nvSpPr>
        <p:spPr>
          <a:xfrm>
            <a:off x="4546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F1FABCF5-CA5D-AAE5-1EE0-800EC7A04F71}"/>
              </a:ext>
            </a:extLst>
          </p:cNvPr>
          <p:cNvSpPr/>
          <p:nvPr/>
        </p:nvSpPr>
        <p:spPr>
          <a:xfrm>
            <a:off x="4546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B2FD4FA7-FF76-E4F0-6CE3-13AAB6B3884C}"/>
              </a:ext>
            </a:extLst>
          </p:cNvPr>
          <p:cNvSpPr txBox="1"/>
          <p:nvPr/>
        </p:nvSpPr>
        <p:spPr>
          <a:xfrm>
            <a:off x="4572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3</a:t>
            </a:r>
          </a:p>
        </p:txBody>
      </p:sp>
      <p:sp>
        <p:nvSpPr>
          <p:cNvPr id="26" name="TextBox 25">
            <a:extLst>
              <a:ext uri="{FF2B5EF4-FFF2-40B4-BE49-F238E27FC236}">
                <a16:creationId xmlns:a16="http://schemas.microsoft.com/office/drawing/2014/main" id="{2781E3AA-243F-0E48-BFD7-97F7255FC430}"/>
              </a:ext>
            </a:extLst>
          </p:cNvPr>
          <p:cNvSpPr txBox="1"/>
          <p:nvPr/>
        </p:nvSpPr>
        <p:spPr>
          <a:xfrm>
            <a:off x="5054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Hydraulic layout</a:t>
            </a:r>
          </a:p>
        </p:txBody>
      </p:sp>
      <p:sp>
        <p:nvSpPr>
          <p:cNvPr id="27" name="TextBox 26">
            <a:extLst>
              <a:ext uri="{FF2B5EF4-FFF2-40B4-BE49-F238E27FC236}">
                <a16:creationId xmlns:a16="http://schemas.microsoft.com/office/drawing/2014/main" id="{089C5C5F-2F8E-7200-6211-A97DADA18794}"/>
              </a:ext>
            </a:extLst>
          </p:cNvPr>
          <p:cNvSpPr txBox="1"/>
          <p:nvPr/>
        </p:nvSpPr>
        <p:spPr>
          <a:xfrm>
            <a:off x="4648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Plan tidy hose routing</a:t>
            </a:r>
          </a:p>
          <a:p>
            <a:r>
              <a:rPr lang="en-GB" sz="800">
                <a:solidFill>
                  <a:srgbClr val="081F2F"/>
                </a:solidFill>
                <a:latin typeface="Arial" panose="020B0604020202020204" pitchFamily="34" charset="0"/>
              </a:rPr>
              <a:t>- Avoid kinks and sharp bends</a:t>
            </a:r>
          </a:p>
          <a:p>
            <a:r>
              <a:rPr lang="en-GB" sz="800">
                <a:solidFill>
                  <a:srgbClr val="081F2F"/>
                </a:solidFill>
                <a:latin typeface="Arial" panose="020B0604020202020204" pitchFamily="34" charset="0"/>
              </a:rPr>
              <a:t>- Leave room for syringe travel</a:t>
            </a:r>
            <a:endParaRPr lang="en-AU" sz="800">
              <a:solidFill>
                <a:srgbClr val="081F2F"/>
              </a:solidFill>
              <a:latin typeface="Arial" panose="020B0604020202020204" pitchFamily="34" charset="0"/>
            </a:endParaRPr>
          </a:p>
        </p:txBody>
      </p:sp>
      <p:sp>
        <p:nvSpPr>
          <p:cNvPr id="28" name="Rectangle 27">
            <a:extLst>
              <a:ext uri="{FF2B5EF4-FFF2-40B4-BE49-F238E27FC236}">
                <a16:creationId xmlns:a16="http://schemas.microsoft.com/office/drawing/2014/main" id="{091E4C55-E9AA-A5B3-F729-C39F3F2C924F}"/>
              </a:ext>
            </a:extLst>
          </p:cNvPr>
          <p:cNvSpPr/>
          <p:nvPr/>
        </p:nvSpPr>
        <p:spPr>
          <a:xfrm>
            <a:off x="355600" y="7404100"/>
            <a:ext cx="6146800" cy="1473200"/>
          </a:xfrm>
          <a:prstGeom prst="rect">
            <a:avLst/>
          </a:prstGeom>
          <a:solidFill>
            <a:srgbClr val="FFF4BF"/>
          </a:solidFill>
          <a:ln w="1778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97222602-C5C7-34DE-59D7-9705EB17AF8C}"/>
              </a:ext>
            </a:extLst>
          </p:cNvPr>
          <p:cNvSpPr/>
          <p:nvPr/>
        </p:nvSpPr>
        <p:spPr>
          <a:xfrm>
            <a:off x="520700" y="7670800"/>
            <a:ext cx="469900" cy="469900"/>
          </a:xfrm>
          <a:prstGeom prst="ellipse">
            <a:avLst/>
          </a:prstGeom>
          <a:solidFill>
            <a:srgbClr val="F2C700"/>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B5315FC9-7377-0634-5D2F-1D0712F73D09}"/>
              </a:ext>
            </a:extLst>
          </p:cNvPr>
          <p:cNvSpPr txBox="1"/>
          <p:nvPr/>
        </p:nvSpPr>
        <p:spPr>
          <a:xfrm>
            <a:off x="571500" y="7747000"/>
            <a:ext cx="3556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OK</a:t>
            </a:r>
          </a:p>
        </p:txBody>
      </p:sp>
      <p:sp>
        <p:nvSpPr>
          <p:cNvPr id="31" name="TextBox 30">
            <a:extLst>
              <a:ext uri="{FF2B5EF4-FFF2-40B4-BE49-F238E27FC236}">
                <a16:creationId xmlns:a16="http://schemas.microsoft.com/office/drawing/2014/main" id="{BA00C845-C53B-562D-B1B5-31FA1B22D204}"/>
              </a:ext>
            </a:extLst>
          </p:cNvPr>
          <p:cNvSpPr txBox="1"/>
          <p:nvPr/>
        </p:nvSpPr>
        <p:spPr>
          <a:xfrm>
            <a:off x="1155700" y="7543800"/>
            <a:ext cx="4953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BEST PRACTICE STUDENT RESPONSE</a:t>
            </a:r>
          </a:p>
        </p:txBody>
      </p:sp>
      <p:sp>
        <p:nvSpPr>
          <p:cNvPr id="32" name="TextBox 31">
            <a:extLst>
              <a:ext uri="{FF2B5EF4-FFF2-40B4-BE49-F238E27FC236}">
                <a16:creationId xmlns:a16="http://schemas.microsoft.com/office/drawing/2014/main" id="{965DECF1-4CCC-E5F8-F8F7-AE723111F524}"/>
              </a:ext>
            </a:extLst>
          </p:cNvPr>
          <p:cNvSpPr txBox="1"/>
          <p:nvPr/>
        </p:nvSpPr>
        <p:spPr>
          <a:xfrm>
            <a:off x="1155700" y="7835900"/>
            <a:ext cx="49530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Our build sequence was base, boom, dipper, bucket, pivots and then hydraulic circuits. We checked accuracy by marking hole positions carefully and testing arm movement before final assembly. Tidy hose routing was needed to avoid kinks and leaks.</a:t>
            </a:r>
            <a:endParaRPr lang="en-AU" sz="800">
              <a:solidFill>
                <a:srgbClr val="081F2F"/>
              </a:solidFill>
              <a:latin typeface="Arial" panose="020B0604020202020204" pitchFamily="34" charset="0"/>
            </a:endParaRPr>
          </a:p>
        </p:txBody>
      </p:sp>
      <p:sp>
        <p:nvSpPr>
          <p:cNvPr id="33" name="Rectangle 32">
            <a:extLst>
              <a:ext uri="{FF2B5EF4-FFF2-40B4-BE49-F238E27FC236}">
                <a16:creationId xmlns:a16="http://schemas.microsoft.com/office/drawing/2014/main" id="{450EA8E8-89B4-73B0-1BC3-D0C3C137B6D7}"/>
              </a:ext>
            </a:extLst>
          </p:cNvPr>
          <p:cNvSpPr/>
          <p:nvPr/>
        </p:nvSpPr>
        <p:spPr>
          <a:xfrm>
            <a:off x="355600" y="9448800"/>
            <a:ext cx="6146800" cy="533400"/>
          </a:xfrm>
          <a:prstGeom prst="rect">
            <a:avLst/>
          </a:prstGeom>
          <a:solidFill>
            <a:srgbClr val="FFFFFF"/>
          </a:solidFill>
          <a:ln w="1397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2B81F40B-6DE4-5A35-C573-7A3A9CAB33E0}"/>
              </a:ext>
            </a:extLst>
          </p:cNvPr>
          <p:cNvSpPr txBox="1"/>
          <p:nvPr/>
        </p:nvSpPr>
        <p:spPr>
          <a:xfrm>
            <a:off x="469900" y="9499600"/>
            <a:ext cx="1168400" cy="323165"/>
          </a:xfrm>
          <a:prstGeom prst="rect">
            <a:avLst/>
          </a:prstGeom>
          <a:noFill/>
        </p:spPr>
        <p:txBody>
          <a:bodyPr vert="horz" wrap="square" lIns="63500" tIns="38100" rIns="63500" bIns="38100" rtlCol="0">
            <a:spAutoFit/>
          </a:bodyPr>
          <a:lstStyle/>
          <a:p>
            <a:r>
              <a:rPr lang="en-AU" sz="800" b="1">
                <a:solidFill>
                  <a:srgbClr val="081F2F"/>
                </a:solidFill>
                <a:latin typeface="Arial" panose="020B0604020202020204" pitchFamily="34" charset="0"/>
              </a:rPr>
              <a:t>BEFORE YOU TICK DONE</a:t>
            </a:r>
          </a:p>
        </p:txBody>
      </p:sp>
      <p:sp>
        <p:nvSpPr>
          <p:cNvPr id="35" name="Rectangle 34">
            <a:extLst>
              <a:ext uri="{FF2B5EF4-FFF2-40B4-BE49-F238E27FC236}">
                <a16:creationId xmlns:a16="http://schemas.microsoft.com/office/drawing/2014/main" id="{FF466ACF-A86C-1A2B-ED59-B1AE72712225}"/>
              </a:ext>
            </a:extLst>
          </p:cNvPr>
          <p:cNvSpPr/>
          <p:nvPr/>
        </p:nvSpPr>
        <p:spPr>
          <a:xfrm>
            <a:off x="17399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a:extLst>
              <a:ext uri="{FF2B5EF4-FFF2-40B4-BE49-F238E27FC236}">
                <a16:creationId xmlns:a16="http://schemas.microsoft.com/office/drawing/2014/main" id="{C1A5DBD6-AB87-52FB-E3B4-41126201C6E4}"/>
              </a:ext>
            </a:extLst>
          </p:cNvPr>
          <p:cNvSpPr txBox="1"/>
          <p:nvPr/>
        </p:nvSpPr>
        <p:spPr>
          <a:xfrm>
            <a:off x="18923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Sequence clear</a:t>
            </a:r>
          </a:p>
        </p:txBody>
      </p:sp>
      <p:sp>
        <p:nvSpPr>
          <p:cNvPr id="37" name="Rectangle 36">
            <a:extLst>
              <a:ext uri="{FF2B5EF4-FFF2-40B4-BE49-F238E27FC236}">
                <a16:creationId xmlns:a16="http://schemas.microsoft.com/office/drawing/2014/main" id="{8850F8D0-0359-77D2-8CAA-D74525ABF1CE}"/>
              </a:ext>
            </a:extLst>
          </p:cNvPr>
          <p:cNvSpPr/>
          <p:nvPr/>
        </p:nvSpPr>
        <p:spPr>
          <a:xfrm>
            <a:off x="32385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49CEB52B-FA00-F00C-FA87-9A32FF6AA6AA}"/>
              </a:ext>
            </a:extLst>
          </p:cNvPr>
          <p:cNvSpPr txBox="1"/>
          <p:nvPr/>
        </p:nvSpPr>
        <p:spPr>
          <a:xfrm>
            <a:off x="33909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Accuracy checked</a:t>
            </a:r>
          </a:p>
        </p:txBody>
      </p:sp>
      <p:sp>
        <p:nvSpPr>
          <p:cNvPr id="39" name="Rectangle 38">
            <a:extLst>
              <a:ext uri="{FF2B5EF4-FFF2-40B4-BE49-F238E27FC236}">
                <a16:creationId xmlns:a16="http://schemas.microsoft.com/office/drawing/2014/main" id="{865642BD-C1CC-453B-76AC-F38C8A80122A}"/>
              </a:ext>
            </a:extLst>
          </p:cNvPr>
          <p:cNvSpPr/>
          <p:nvPr/>
        </p:nvSpPr>
        <p:spPr>
          <a:xfrm>
            <a:off x="47371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F4BB4A68-F2D0-8108-CA35-48ED47109095}"/>
              </a:ext>
            </a:extLst>
          </p:cNvPr>
          <p:cNvSpPr txBox="1"/>
          <p:nvPr/>
        </p:nvSpPr>
        <p:spPr>
          <a:xfrm>
            <a:off x="48895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Hoses planned</a:t>
            </a:r>
          </a:p>
        </p:txBody>
      </p:sp>
    </p:spTree>
    <p:extLst>
      <p:ext uri="{BB962C8B-B14F-4D97-AF65-F5344CB8AC3E}">
        <p14:creationId xmlns:p14="http://schemas.microsoft.com/office/powerpoint/2010/main" val="2365158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824136-2399-C18D-50D4-18297065B250}"/>
              </a:ext>
            </a:extLst>
          </p:cNvPr>
          <p:cNvSpPr/>
          <p:nvPr/>
        </p:nvSpPr>
        <p:spPr>
          <a:xfrm>
            <a:off x="0" y="0"/>
            <a:ext cx="6858000" cy="812800"/>
          </a:xfrm>
          <a:prstGeom prst="rect">
            <a:avLst/>
          </a:prstGeom>
          <a:solidFill>
            <a:srgbClr val="081F2F"/>
          </a:solidFill>
          <a:ln w="0">
            <a:solidFill>
              <a:srgbClr val="081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B19E9A90-A3E6-25F0-1E4A-44EFFF71BF43}"/>
              </a:ext>
            </a:extLst>
          </p:cNvPr>
          <p:cNvSpPr/>
          <p:nvPr/>
        </p:nvSpPr>
        <p:spPr>
          <a:xfrm>
            <a:off x="355600" y="228600"/>
            <a:ext cx="889000" cy="228600"/>
          </a:xfrm>
          <a:prstGeom prst="rect">
            <a:avLst/>
          </a:prstGeom>
          <a:solidFill>
            <a:srgbClr val="0B2B3B"/>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4CAF60E1-802E-2ABD-E85B-7FF8F75865D4}"/>
              </a:ext>
            </a:extLst>
          </p:cNvPr>
          <p:cNvSpPr txBox="1"/>
          <p:nvPr/>
        </p:nvSpPr>
        <p:spPr>
          <a:xfrm>
            <a:off x="431800" y="254000"/>
            <a:ext cx="736600" cy="184666"/>
          </a:xfrm>
          <a:prstGeom prst="rect">
            <a:avLst/>
          </a:prstGeom>
          <a:noFill/>
        </p:spPr>
        <p:txBody>
          <a:bodyPr vert="horz" wrap="square" lIns="63500" tIns="38100" rIns="63500" bIns="38100" rtlCol="0">
            <a:spAutoFit/>
          </a:bodyPr>
          <a:lstStyle/>
          <a:p>
            <a:r>
              <a:rPr lang="en-AU" sz="700" b="1">
                <a:solidFill>
                  <a:srgbClr val="FFFFFF"/>
                </a:solidFill>
                <a:latin typeface="Arial" panose="020B0604020202020204" pitchFamily="34" charset="0"/>
              </a:rPr>
              <a:t>SECTION 7</a:t>
            </a:r>
          </a:p>
        </p:txBody>
      </p:sp>
      <p:sp>
        <p:nvSpPr>
          <p:cNvPr id="5" name="TextBox 4">
            <a:extLst>
              <a:ext uri="{FF2B5EF4-FFF2-40B4-BE49-F238E27FC236}">
                <a16:creationId xmlns:a16="http://schemas.microsoft.com/office/drawing/2014/main" id="{EEE62300-58BB-BF18-B414-7CDD30B9E850}"/>
              </a:ext>
            </a:extLst>
          </p:cNvPr>
          <p:cNvSpPr txBox="1"/>
          <p:nvPr/>
        </p:nvSpPr>
        <p:spPr>
          <a:xfrm>
            <a:off x="1422400" y="165100"/>
            <a:ext cx="3429000" cy="307777"/>
          </a:xfrm>
          <a:prstGeom prst="rect">
            <a:avLst/>
          </a:prstGeom>
          <a:noFill/>
        </p:spPr>
        <p:txBody>
          <a:bodyPr vert="horz" wrap="square" lIns="63500" tIns="38100" rIns="63500" bIns="38100" rtlCol="0">
            <a:spAutoFit/>
          </a:bodyPr>
          <a:lstStyle/>
          <a:p>
            <a:r>
              <a:rPr lang="en-AU" sz="1500" b="1">
                <a:solidFill>
                  <a:srgbClr val="FFFFFF"/>
                </a:solidFill>
                <a:latin typeface="Arial Narrow" panose="020B0606020202030204" pitchFamily="34" charset="0"/>
              </a:rPr>
              <a:t>BEST PRACTICE ANSWER</a:t>
            </a:r>
          </a:p>
        </p:txBody>
      </p:sp>
      <p:sp>
        <p:nvSpPr>
          <p:cNvPr id="6" name="Rectangle 5">
            <a:extLst>
              <a:ext uri="{FF2B5EF4-FFF2-40B4-BE49-F238E27FC236}">
                <a16:creationId xmlns:a16="http://schemas.microsoft.com/office/drawing/2014/main" id="{D72BC41C-312C-742B-047A-4D34752DE854}"/>
              </a:ext>
            </a:extLst>
          </p:cNvPr>
          <p:cNvSpPr/>
          <p:nvPr/>
        </p:nvSpPr>
        <p:spPr>
          <a:xfrm>
            <a:off x="5207000" y="165100"/>
            <a:ext cx="1168400" cy="3556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B1113EDF-2800-5F2F-1E7E-66916E4CA60A}"/>
              </a:ext>
            </a:extLst>
          </p:cNvPr>
          <p:cNvSpPr txBox="1"/>
          <p:nvPr/>
        </p:nvSpPr>
        <p:spPr>
          <a:xfrm>
            <a:off x="5257800" y="228600"/>
            <a:ext cx="1066800" cy="169277"/>
          </a:xfrm>
          <a:prstGeom prst="rect">
            <a:avLst/>
          </a:prstGeom>
          <a:noFill/>
        </p:spPr>
        <p:txBody>
          <a:bodyPr vert="horz" wrap="square" lIns="63500" tIns="38100" rIns="63500" bIns="38100" rtlCol="0">
            <a:spAutoFit/>
          </a:bodyPr>
          <a:lstStyle/>
          <a:p>
            <a:r>
              <a:rPr lang="en-AU" sz="600" b="1">
                <a:solidFill>
                  <a:srgbClr val="081F2F"/>
                </a:solidFill>
                <a:latin typeface="Arial" panose="020B0604020202020204" pitchFamily="34" charset="0"/>
              </a:rPr>
              <a:t>YEAR 9 ENGINEERING</a:t>
            </a:r>
          </a:p>
        </p:txBody>
      </p:sp>
      <p:sp>
        <p:nvSpPr>
          <p:cNvPr id="8" name="Rectangle 7">
            <a:extLst>
              <a:ext uri="{FF2B5EF4-FFF2-40B4-BE49-F238E27FC236}">
                <a16:creationId xmlns:a16="http://schemas.microsoft.com/office/drawing/2014/main" id="{D2415DEA-C539-309B-0FA6-CAF01352B266}"/>
              </a:ext>
            </a:extLst>
          </p:cNvPr>
          <p:cNvSpPr/>
          <p:nvPr/>
        </p:nvSpPr>
        <p:spPr>
          <a:xfrm>
            <a:off x="0" y="812800"/>
            <a:ext cx="6858000" cy="76200"/>
          </a:xfrm>
          <a:prstGeom prst="rect">
            <a:avLst/>
          </a:prstGeom>
          <a:solidFill>
            <a:srgbClr val="F2C700"/>
          </a:solidFill>
          <a:ln w="0">
            <a:solidFill>
              <a:srgbClr val="F2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7B8D7BC5-0292-6681-380E-2973E4A4A93F}"/>
              </a:ext>
            </a:extLst>
          </p:cNvPr>
          <p:cNvSpPr txBox="1"/>
          <p:nvPr/>
        </p:nvSpPr>
        <p:spPr>
          <a:xfrm>
            <a:off x="355600" y="1041400"/>
            <a:ext cx="6146800" cy="353943"/>
          </a:xfrm>
          <a:prstGeom prst="rect">
            <a:avLst/>
          </a:prstGeom>
          <a:noFill/>
        </p:spPr>
        <p:txBody>
          <a:bodyPr vert="horz" wrap="square" lIns="63500" tIns="38100" rIns="63500" bIns="38100" rtlCol="0">
            <a:spAutoFit/>
          </a:bodyPr>
          <a:lstStyle/>
          <a:p>
            <a:r>
              <a:rPr lang="en-AU" b="1">
                <a:solidFill>
                  <a:srgbClr val="081F2F"/>
                </a:solidFill>
                <a:latin typeface="Arial Narrow" panose="020B0606020202030204" pitchFamily="34" charset="0"/>
              </a:rPr>
              <a:t>ASSEMBLY EVIDENCE</a:t>
            </a:r>
          </a:p>
        </p:txBody>
      </p:sp>
      <p:sp>
        <p:nvSpPr>
          <p:cNvPr id="10" name="TextBox 9">
            <a:extLst>
              <a:ext uri="{FF2B5EF4-FFF2-40B4-BE49-F238E27FC236}">
                <a16:creationId xmlns:a16="http://schemas.microsoft.com/office/drawing/2014/main" id="{10CC749F-F4A1-074F-63E1-DDC520BB7CC4}"/>
              </a:ext>
            </a:extLst>
          </p:cNvPr>
          <p:cNvSpPr txBox="1"/>
          <p:nvPr/>
        </p:nvSpPr>
        <p:spPr>
          <a:xfrm>
            <a:off x="355600" y="1409700"/>
            <a:ext cx="6146800" cy="200055"/>
          </a:xfrm>
          <a:prstGeom prst="rect">
            <a:avLst/>
          </a:prstGeom>
          <a:noFill/>
        </p:spPr>
        <p:txBody>
          <a:bodyPr vert="horz" wrap="square" lIns="63500" tIns="38100" rIns="63500" bIns="38100" rtlCol="0">
            <a:spAutoFit/>
          </a:bodyPr>
          <a:lstStyle/>
          <a:p>
            <a:r>
              <a:rPr lang="en-GB" sz="800">
                <a:solidFill>
                  <a:srgbClr val="5B6B7A"/>
                </a:solidFill>
                <a:latin typeface="Arial" panose="020B0604020202020204" pitchFamily="34" charset="0"/>
              </a:rPr>
              <a:t>A strong answer uses build-log evidence to explain decisions, problems, fixes and quality checks.</a:t>
            </a:r>
            <a:endParaRPr lang="en-AU" sz="800">
              <a:solidFill>
                <a:srgbClr val="5B6B7A"/>
              </a:solidFill>
              <a:latin typeface="Arial" panose="020B0604020202020204" pitchFamily="34" charset="0"/>
            </a:endParaRPr>
          </a:p>
        </p:txBody>
      </p:sp>
      <p:pic>
        <p:nvPicPr>
          <p:cNvPr id="12" name="Picture 11">
            <a:extLst>
              <a:ext uri="{FF2B5EF4-FFF2-40B4-BE49-F238E27FC236}">
                <a16:creationId xmlns:a16="http://schemas.microsoft.com/office/drawing/2014/main" id="{1B93DFC6-30EF-F8E2-3B19-24852BE8891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38867" y="1752600"/>
            <a:ext cx="2980267" cy="2235200"/>
          </a:xfrm>
          <a:prstGeom prst="rect">
            <a:avLst/>
          </a:prstGeom>
        </p:spPr>
      </p:pic>
      <p:sp>
        <p:nvSpPr>
          <p:cNvPr id="13" name="Rectangle 12">
            <a:extLst>
              <a:ext uri="{FF2B5EF4-FFF2-40B4-BE49-F238E27FC236}">
                <a16:creationId xmlns:a16="http://schemas.microsoft.com/office/drawing/2014/main" id="{0D7C450D-506B-3301-96D8-93D9DF74EBB1}"/>
              </a:ext>
            </a:extLst>
          </p:cNvPr>
          <p:cNvSpPr/>
          <p:nvPr/>
        </p:nvSpPr>
        <p:spPr>
          <a:xfrm>
            <a:off x="355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85DE1CB-1C17-F696-61C1-636258585B49}"/>
              </a:ext>
            </a:extLst>
          </p:cNvPr>
          <p:cNvSpPr/>
          <p:nvPr/>
        </p:nvSpPr>
        <p:spPr>
          <a:xfrm>
            <a:off x="355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8BC0E177-3487-E588-A918-C1D0490F034A}"/>
              </a:ext>
            </a:extLst>
          </p:cNvPr>
          <p:cNvSpPr txBox="1"/>
          <p:nvPr/>
        </p:nvSpPr>
        <p:spPr>
          <a:xfrm>
            <a:off x="381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1</a:t>
            </a:r>
          </a:p>
        </p:txBody>
      </p:sp>
      <p:sp>
        <p:nvSpPr>
          <p:cNvPr id="16" name="TextBox 15">
            <a:extLst>
              <a:ext uri="{FF2B5EF4-FFF2-40B4-BE49-F238E27FC236}">
                <a16:creationId xmlns:a16="http://schemas.microsoft.com/office/drawing/2014/main" id="{F8C2F0EF-1887-3FB3-0A12-0BD5B3C735DB}"/>
              </a:ext>
            </a:extLst>
          </p:cNvPr>
          <p:cNvSpPr txBox="1"/>
          <p:nvPr/>
        </p:nvSpPr>
        <p:spPr>
          <a:xfrm>
            <a:off x="863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Build photos</a:t>
            </a:r>
          </a:p>
        </p:txBody>
      </p:sp>
      <p:sp>
        <p:nvSpPr>
          <p:cNvPr id="17" name="TextBox 16">
            <a:extLst>
              <a:ext uri="{FF2B5EF4-FFF2-40B4-BE49-F238E27FC236}">
                <a16:creationId xmlns:a16="http://schemas.microsoft.com/office/drawing/2014/main" id="{459087BD-DEBA-4187-57D1-72AB11A141A2}"/>
              </a:ext>
            </a:extLst>
          </p:cNvPr>
          <p:cNvSpPr txBox="1"/>
          <p:nvPr/>
        </p:nvSpPr>
        <p:spPr>
          <a:xfrm>
            <a:off x="457200" y="4622800"/>
            <a:ext cx="1752600" cy="569387"/>
          </a:xfrm>
          <a:prstGeom prst="rect">
            <a:avLst/>
          </a:prstGeom>
          <a:noFill/>
        </p:spPr>
        <p:txBody>
          <a:bodyPr vert="horz" wrap="square" lIns="63500" tIns="38100" rIns="63500" bIns="38100" rtlCol="0">
            <a:spAutoFit/>
          </a:bodyPr>
          <a:lstStyle/>
          <a:p>
            <a:r>
              <a:rPr lang="en-AU" sz="800">
                <a:solidFill>
                  <a:srgbClr val="081F2F"/>
                </a:solidFill>
                <a:latin typeface="Arial" panose="020B0604020202020204" pitchFamily="34" charset="0"/>
              </a:rPr>
              <a:t>- Base Frame</a:t>
            </a:r>
          </a:p>
          <a:p>
            <a:r>
              <a:rPr lang="en-AU" sz="800">
                <a:solidFill>
                  <a:srgbClr val="081F2F"/>
                </a:solidFill>
                <a:latin typeface="Arial" panose="020B0604020202020204" pitchFamily="34" charset="0"/>
              </a:rPr>
              <a:t>- Boom / Dipper</a:t>
            </a:r>
          </a:p>
          <a:p>
            <a:r>
              <a:rPr lang="en-AU" sz="800">
                <a:solidFill>
                  <a:srgbClr val="081F2F"/>
                </a:solidFill>
                <a:latin typeface="Arial" panose="020B0604020202020204" pitchFamily="34" charset="0"/>
              </a:rPr>
              <a:t>- Bucket Linkage</a:t>
            </a:r>
          </a:p>
          <a:p>
            <a:r>
              <a:rPr lang="en-AU" sz="800">
                <a:solidFill>
                  <a:srgbClr val="081F2F"/>
                </a:solidFill>
                <a:latin typeface="Arial" panose="020B0604020202020204" pitchFamily="34" charset="0"/>
              </a:rPr>
              <a:t>- Syringe Mounts</a:t>
            </a:r>
          </a:p>
        </p:txBody>
      </p:sp>
      <p:sp>
        <p:nvSpPr>
          <p:cNvPr id="18" name="Rectangle 17">
            <a:extLst>
              <a:ext uri="{FF2B5EF4-FFF2-40B4-BE49-F238E27FC236}">
                <a16:creationId xmlns:a16="http://schemas.microsoft.com/office/drawing/2014/main" id="{14C48D8D-E96D-E53B-CC96-870365DCA374}"/>
              </a:ext>
            </a:extLst>
          </p:cNvPr>
          <p:cNvSpPr/>
          <p:nvPr/>
        </p:nvSpPr>
        <p:spPr>
          <a:xfrm>
            <a:off x="24511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767AE8F4-710E-38C3-8C34-F859DB745FB0}"/>
              </a:ext>
            </a:extLst>
          </p:cNvPr>
          <p:cNvSpPr/>
          <p:nvPr/>
        </p:nvSpPr>
        <p:spPr>
          <a:xfrm>
            <a:off x="24511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5A406C42-C060-D4B3-E584-CEA3D5E586B4}"/>
              </a:ext>
            </a:extLst>
          </p:cNvPr>
          <p:cNvSpPr txBox="1"/>
          <p:nvPr/>
        </p:nvSpPr>
        <p:spPr>
          <a:xfrm>
            <a:off x="24765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2</a:t>
            </a:r>
          </a:p>
        </p:txBody>
      </p:sp>
      <p:sp>
        <p:nvSpPr>
          <p:cNvPr id="21" name="TextBox 20">
            <a:extLst>
              <a:ext uri="{FF2B5EF4-FFF2-40B4-BE49-F238E27FC236}">
                <a16:creationId xmlns:a16="http://schemas.microsoft.com/office/drawing/2014/main" id="{61102E96-F428-2564-A97F-A712CD1A9686}"/>
              </a:ext>
            </a:extLst>
          </p:cNvPr>
          <p:cNvSpPr txBox="1"/>
          <p:nvPr/>
        </p:nvSpPr>
        <p:spPr>
          <a:xfrm>
            <a:off x="29591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Problems and fixes</a:t>
            </a:r>
          </a:p>
        </p:txBody>
      </p:sp>
      <p:sp>
        <p:nvSpPr>
          <p:cNvPr id="22" name="TextBox 21">
            <a:extLst>
              <a:ext uri="{FF2B5EF4-FFF2-40B4-BE49-F238E27FC236}">
                <a16:creationId xmlns:a16="http://schemas.microsoft.com/office/drawing/2014/main" id="{9EA4A846-C8B1-A6DA-8D56-E777105CBA03}"/>
              </a:ext>
            </a:extLst>
          </p:cNvPr>
          <p:cNvSpPr txBox="1"/>
          <p:nvPr/>
        </p:nvSpPr>
        <p:spPr>
          <a:xfrm>
            <a:off x="25527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Name one issue clearly</a:t>
            </a:r>
          </a:p>
          <a:p>
            <a:r>
              <a:rPr lang="en-GB" sz="800">
                <a:solidFill>
                  <a:srgbClr val="081F2F"/>
                </a:solidFill>
                <a:latin typeface="Arial" panose="020B0604020202020204" pitchFamily="34" charset="0"/>
              </a:rPr>
              <a:t>- Explain what caused it</a:t>
            </a:r>
          </a:p>
          <a:p>
            <a:r>
              <a:rPr lang="en-GB" sz="800">
                <a:solidFill>
                  <a:srgbClr val="081F2F"/>
                </a:solidFill>
                <a:latin typeface="Arial" panose="020B0604020202020204" pitchFamily="34" charset="0"/>
              </a:rPr>
              <a:t>- Show the fix with evidence</a:t>
            </a:r>
            <a:endParaRPr lang="en-AU" sz="800">
              <a:solidFill>
                <a:srgbClr val="081F2F"/>
              </a:solidFill>
              <a:latin typeface="Arial" panose="020B0604020202020204" pitchFamily="34" charset="0"/>
            </a:endParaRPr>
          </a:p>
        </p:txBody>
      </p:sp>
      <p:sp>
        <p:nvSpPr>
          <p:cNvPr id="23" name="Rectangle 22">
            <a:extLst>
              <a:ext uri="{FF2B5EF4-FFF2-40B4-BE49-F238E27FC236}">
                <a16:creationId xmlns:a16="http://schemas.microsoft.com/office/drawing/2014/main" id="{5844BBFF-3D0D-8EAD-34A8-8F3A30F29A14}"/>
              </a:ext>
            </a:extLst>
          </p:cNvPr>
          <p:cNvSpPr/>
          <p:nvPr/>
        </p:nvSpPr>
        <p:spPr>
          <a:xfrm>
            <a:off x="4546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FE065422-C9A5-9F10-120F-F0C3BAF12BBD}"/>
              </a:ext>
            </a:extLst>
          </p:cNvPr>
          <p:cNvSpPr/>
          <p:nvPr/>
        </p:nvSpPr>
        <p:spPr>
          <a:xfrm>
            <a:off x="4546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2574212A-AA55-6C12-B11A-C18D34D253DC}"/>
              </a:ext>
            </a:extLst>
          </p:cNvPr>
          <p:cNvSpPr txBox="1"/>
          <p:nvPr/>
        </p:nvSpPr>
        <p:spPr>
          <a:xfrm>
            <a:off x="4572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3</a:t>
            </a:r>
          </a:p>
        </p:txBody>
      </p:sp>
      <p:sp>
        <p:nvSpPr>
          <p:cNvPr id="26" name="TextBox 25">
            <a:extLst>
              <a:ext uri="{FF2B5EF4-FFF2-40B4-BE49-F238E27FC236}">
                <a16:creationId xmlns:a16="http://schemas.microsoft.com/office/drawing/2014/main" id="{DF334839-DB83-7D42-3EBB-FDEFC71DAA4F}"/>
              </a:ext>
            </a:extLst>
          </p:cNvPr>
          <p:cNvSpPr txBox="1"/>
          <p:nvPr/>
        </p:nvSpPr>
        <p:spPr>
          <a:xfrm>
            <a:off x="5054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Quality checks</a:t>
            </a:r>
          </a:p>
        </p:txBody>
      </p:sp>
      <p:sp>
        <p:nvSpPr>
          <p:cNvPr id="27" name="TextBox 26">
            <a:extLst>
              <a:ext uri="{FF2B5EF4-FFF2-40B4-BE49-F238E27FC236}">
                <a16:creationId xmlns:a16="http://schemas.microsoft.com/office/drawing/2014/main" id="{CBA8BEC0-157F-60FD-D68D-99CF4DE2127C}"/>
              </a:ext>
            </a:extLst>
          </p:cNvPr>
          <p:cNvSpPr txBox="1"/>
          <p:nvPr/>
        </p:nvSpPr>
        <p:spPr>
          <a:xfrm>
            <a:off x="4648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Pivots move freely</a:t>
            </a:r>
          </a:p>
          <a:p>
            <a:r>
              <a:rPr lang="en-GB" sz="800">
                <a:solidFill>
                  <a:srgbClr val="081F2F"/>
                </a:solidFill>
                <a:latin typeface="Arial" panose="020B0604020202020204" pitchFamily="34" charset="0"/>
              </a:rPr>
              <a:t>- Arms are stiff and aligned</a:t>
            </a:r>
          </a:p>
          <a:p>
            <a:r>
              <a:rPr lang="en-GB" sz="800">
                <a:solidFill>
                  <a:srgbClr val="081F2F"/>
                </a:solidFill>
                <a:latin typeface="Arial" panose="020B0604020202020204" pitchFamily="34" charset="0"/>
              </a:rPr>
              <a:t>- Mounts are secure</a:t>
            </a:r>
            <a:endParaRPr lang="en-AU" sz="800">
              <a:solidFill>
                <a:srgbClr val="081F2F"/>
              </a:solidFill>
              <a:latin typeface="Arial" panose="020B0604020202020204" pitchFamily="34" charset="0"/>
            </a:endParaRPr>
          </a:p>
        </p:txBody>
      </p:sp>
      <p:sp>
        <p:nvSpPr>
          <p:cNvPr id="28" name="Rectangle 27">
            <a:extLst>
              <a:ext uri="{FF2B5EF4-FFF2-40B4-BE49-F238E27FC236}">
                <a16:creationId xmlns:a16="http://schemas.microsoft.com/office/drawing/2014/main" id="{257A94CC-C45D-6DE8-4FCF-C3FA3B5A9815}"/>
              </a:ext>
            </a:extLst>
          </p:cNvPr>
          <p:cNvSpPr/>
          <p:nvPr/>
        </p:nvSpPr>
        <p:spPr>
          <a:xfrm>
            <a:off x="355600" y="7404100"/>
            <a:ext cx="6146800" cy="1473200"/>
          </a:xfrm>
          <a:prstGeom prst="rect">
            <a:avLst/>
          </a:prstGeom>
          <a:solidFill>
            <a:srgbClr val="FFF4BF"/>
          </a:solidFill>
          <a:ln w="1778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CADF1921-92F2-27F9-710B-DA339721CAAB}"/>
              </a:ext>
            </a:extLst>
          </p:cNvPr>
          <p:cNvSpPr/>
          <p:nvPr/>
        </p:nvSpPr>
        <p:spPr>
          <a:xfrm>
            <a:off x="520700" y="7670800"/>
            <a:ext cx="469900" cy="469900"/>
          </a:xfrm>
          <a:prstGeom prst="ellipse">
            <a:avLst/>
          </a:prstGeom>
          <a:solidFill>
            <a:srgbClr val="F2C700"/>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DDEEC3E0-D443-036D-46D9-5A4DF2F03C79}"/>
              </a:ext>
            </a:extLst>
          </p:cNvPr>
          <p:cNvSpPr txBox="1"/>
          <p:nvPr/>
        </p:nvSpPr>
        <p:spPr>
          <a:xfrm>
            <a:off x="571500" y="7747000"/>
            <a:ext cx="3556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OK</a:t>
            </a:r>
          </a:p>
        </p:txBody>
      </p:sp>
      <p:sp>
        <p:nvSpPr>
          <p:cNvPr id="31" name="TextBox 30">
            <a:extLst>
              <a:ext uri="{FF2B5EF4-FFF2-40B4-BE49-F238E27FC236}">
                <a16:creationId xmlns:a16="http://schemas.microsoft.com/office/drawing/2014/main" id="{D1719AE2-5D0F-D399-F90A-A300DC3BE304}"/>
              </a:ext>
            </a:extLst>
          </p:cNvPr>
          <p:cNvSpPr txBox="1"/>
          <p:nvPr/>
        </p:nvSpPr>
        <p:spPr>
          <a:xfrm>
            <a:off x="1155700" y="7543800"/>
            <a:ext cx="4953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BEST PRACTICE STUDENT RESPONSE</a:t>
            </a:r>
          </a:p>
        </p:txBody>
      </p:sp>
      <p:sp>
        <p:nvSpPr>
          <p:cNvPr id="32" name="TextBox 31">
            <a:extLst>
              <a:ext uri="{FF2B5EF4-FFF2-40B4-BE49-F238E27FC236}">
                <a16:creationId xmlns:a16="http://schemas.microsoft.com/office/drawing/2014/main" id="{130B1015-014D-DEEC-1230-F90D0E025E3C}"/>
              </a:ext>
            </a:extLst>
          </p:cNvPr>
          <p:cNvSpPr txBox="1"/>
          <p:nvPr/>
        </p:nvSpPr>
        <p:spPr>
          <a:xfrm>
            <a:off x="1155700" y="7835900"/>
            <a:ext cx="49530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During assembly we built the base, boom, dipper and bucket linkage, then checked that each pivot moved freely. One problem was a loose pivot, which caused poor bucket control. We fixed it by adding a washer and realigning the mount.</a:t>
            </a:r>
            <a:endParaRPr lang="en-AU" sz="800">
              <a:solidFill>
                <a:srgbClr val="081F2F"/>
              </a:solidFill>
              <a:latin typeface="Arial" panose="020B0604020202020204" pitchFamily="34" charset="0"/>
            </a:endParaRPr>
          </a:p>
        </p:txBody>
      </p:sp>
      <p:sp>
        <p:nvSpPr>
          <p:cNvPr id="33" name="Rectangle 32">
            <a:extLst>
              <a:ext uri="{FF2B5EF4-FFF2-40B4-BE49-F238E27FC236}">
                <a16:creationId xmlns:a16="http://schemas.microsoft.com/office/drawing/2014/main" id="{13F8CFAD-527B-2BD2-4D95-88570E9CE2F9}"/>
              </a:ext>
            </a:extLst>
          </p:cNvPr>
          <p:cNvSpPr/>
          <p:nvPr/>
        </p:nvSpPr>
        <p:spPr>
          <a:xfrm>
            <a:off x="355600" y="9448800"/>
            <a:ext cx="6146800" cy="533400"/>
          </a:xfrm>
          <a:prstGeom prst="rect">
            <a:avLst/>
          </a:prstGeom>
          <a:solidFill>
            <a:srgbClr val="FFFFFF"/>
          </a:solidFill>
          <a:ln w="1397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8CAC24B9-3C3E-E51E-1C33-1449A2F38076}"/>
              </a:ext>
            </a:extLst>
          </p:cNvPr>
          <p:cNvSpPr txBox="1"/>
          <p:nvPr/>
        </p:nvSpPr>
        <p:spPr>
          <a:xfrm>
            <a:off x="469900" y="9499600"/>
            <a:ext cx="1168400" cy="323165"/>
          </a:xfrm>
          <a:prstGeom prst="rect">
            <a:avLst/>
          </a:prstGeom>
          <a:noFill/>
        </p:spPr>
        <p:txBody>
          <a:bodyPr vert="horz" wrap="square" lIns="63500" tIns="38100" rIns="63500" bIns="38100" rtlCol="0">
            <a:spAutoFit/>
          </a:bodyPr>
          <a:lstStyle/>
          <a:p>
            <a:r>
              <a:rPr lang="en-AU" sz="800" b="1">
                <a:solidFill>
                  <a:srgbClr val="081F2F"/>
                </a:solidFill>
                <a:latin typeface="Arial" panose="020B0604020202020204" pitchFamily="34" charset="0"/>
              </a:rPr>
              <a:t>BEFORE YOU TICK DONE</a:t>
            </a:r>
          </a:p>
        </p:txBody>
      </p:sp>
      <p:sp>
        <p:nvSpPr>
          <p:cNvPr id="35" name="Rectangle 34">
            <a:extLst>
              <a:ext uri="{FF2B5EF4-FFF2-40B4-BE49-F238E27FC236}">
                <a16:creationId xmlns:a16="http://schemas.microsoft.com/office/drawing/2014/main" id="{53E98987-3CC6-B336-FEA1-F3D721BE4895}"/>
              </a:ext>
            </a:extLst>
          </p:cNvPr>
          <p:cNvSpPr/>
          <p:nvPr/>
        </p:nvSpPr>
        <p:spPr>
          <a:xfrm>
            <a:off x="17399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a:extLst>
              <a:ext uri="{FF2B5EF4-FFF2-40B4-BE49-F238E27FC236}">
                <a16:creationId xmlns:a16="http://schemas.microsoft.com/office/drawing/2014/main" id="{CF9A3664-DFBD-84A6-B370-41C0500A5833}"/>
              </a:ext>
            </a:extLst>
          </p:cNvPr>
          <p:cNvSpPr txBox="1"/>
          <p:nvPr/>
        </p:nvSpPr>
        <p:spPr>
          <a:xfrm>
            <a:off x="18923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Photos included</a:t>
            </a:r>
          </a:p>
        </p:txBody>
      </p:sp>
      <p:sp>
        <p:nvSpPr>
          <p:cNvPr id="37" name="Rectangle 36">
            <a:extLst>
              <a:ext uri="{FF2B5EF4-FFF2-40B4-BE49-F238E27FC236}">
                <a16:creationId xmlns:a16="http://schemas.microsoft.com/office/drawing/2014/main" id="{AEBC5272-FFB2-40DA-90AE-A2C461BEFB0D}"/>
              </a:ext>
            </a:extLst>
          </p:cNvPr>
          <p:cNvSpPr/>
          <p:nvPr/>
        </p:nvSpPr>
        <p:spPr>
          <a:xfrm>
            <a:off x="32385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0FC8F15F-CCC7-88B8-00A0-CF3109DC6946}"/>
              </a:ext>
            </a:extLst>
          </p:cNvPr>
          <p:cNvSpPr txBox="1"/>
          <p:nvPr/>
        </p:nvSpPr>
        <p:spPr>
          <a:xfrm>
            <a:off x="33909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Problem fixed</a:t>
            </a:r>
          </a:p>
        </p:txBody>
      </p:sp>
      <p:sp>
        <p:nvSpPr>
          <p:cNvPr id="39" name="Rectangle 38">
            <a:extLst>
              <a:ext uri="{FF2B5EF4-FFF2-40B4-BE49-F238E27FC236}">
                <a16:creationId xmlns:a16="http://schemas.microsoft.com/office/drawing/2014/main" id="{78B8C0C4-DA47-FD99-9486-5D3740314005}"/>
              </a:ext>
            </a:extLst>
          </p:cNvPr>
          <p:cNvSpPr/>
          <p:nvPr/>
        </p:nvSpPr>
        <p:spPr>
          <a:xfrm>
            <a:off x="47371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D2DB0A4D-3328-ADBE-BF95-A2833EF4CABD}"/>
              </a:ext>
            </a:extLst>
          </p:cNvPr>
          <p:cNvSpPr txBox="1"/>
          <p:nvPr/>
        </p:nvSpPr>
        <p:spPr>
          <a:xfrm>
            <a:off x="48895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Quality checked</a:t>
            </a:r>
          </a:p>
        </p:txBody>
      </p:sp>
    </p:spTree>
    <p:extLst>
      <p:ext uri="{BB962C8B-B14F-4D97-AF65-F5344CB8AC3E}">
        <p14:creationId xmlns:p14="http://schemas.microsoft.com/office/powerpoint/2010/main" val="1462034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3E0D89-DD01-B6A7-F03D-F8BFEADC334D}"/>
              </a:ext>
            </a:extLst>
          </p:cNvPr>
          <p:cNvSpPr/>
          <p:nvPr/>
        </p:nvSpPr>
        <p:spPr>
          <a:xfrm>
            <a:off x="0" y="0"/>
            <a:ext cx="6858000" cy="812800"/>
          </a:xfrm>
          <a:prstGeom prst="rect">
            <a:avLst/>
          </a:prstGeom>
          <a:solidFill>
            <a:srgbClr val="081F2F"/>
          </a:solidFill>
          <a:ln w="0">
            <a:solidFill>
              <a:srgbClr val="081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FF05FCD8-F747-6BDB-7C8E-FB17F8F31C2C}"/>
              </a:ext>
            </a:extLst>
          </p:cNvPr>
          <p:cNvSpPr/>
          <p:nvPr/>
        </p:nvSpPr>
        <p:spPr>
          <a:xfrm>
            <a:off x="355600" y="228600"/>
            <a:ext cx="889000" cy="228600"/>
          </a:xfrm>
          <a:prstGeom prst="rect">
            <a:avLst/>
          </a:prstGeom>
          <a:solidFill>
            <a:srgbClr val="0B2B3B"/>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8C2CF3DC-DB23-1E1C-1D68-330F0022A72A}"/>
              </a:ext>
            </a:extLst>
          </p:cNvPr>
          <p:cNvSpPr txBox="1"/>
          <p:nvPr/>
        </p:nvSpPr>
        <p:spPr>
          <a:xfrm>
            <a:off x="431800" y="254000"/>
            <a:ext cx="736600" cy="184666"/>
          </a:xfrm>
          <a:prstGeom prst="rect">
            <a:avLst/>
          </a:prstGeom>
          <a:noFill/>
        </p:spPr>
        <p:txBody>
          <a:bodyPr vert="horz" wrap="square" lIns="63500" tIns="38100" rIns="63500" bIns="38100" rtlCol="0">
            <a:spAutoFit/>
          </a:bodyPr>
          <a:lstStyle/>
          <a:p>
            <a:r>
              <a:rPr lang="en-AU" sz="700" b="1">
                <a:solidFill>
                  <a:srgbClr val="FFFFFF"/>
                </a:solidFill>
                <a:latin typeface="Arial" panose="020B0604020202020204" pitchFamily="34" charset="0"/>
              </a:rPr>
              <a:t>SECTION 8</a:t>
            </a:r>
          </a:p>
        </p:txBody>
      </p:sp>
      <p:sp>
        <p:nvSpPr>
          <p:cNvPr id="5" name="TextBox 4">
            <a:extLst>
              <a:ext uri="{FF2B5EF4-FFF2-40B4-BE49-F238E27FC236}">
                <a16:creationId xmlns:a16="http://schemas.microsoft.com/office/drawing/2014/main" id="{17777847-6573-5DE3-C095-7DAC8611499C}"/>
              </a:ext>
            </a:extLst>
          </p:cNvPr>
          <p:cNvSpPr txBox="1"/>
          <p:nvPr/>
        </p:nvSpPr>
        <p:spPr>
          <a:xfrm>
            <a:off x="1422400" y="165100"/>
            <a:ext cx="3429000" cy="307777"/>
          </a:xfrm>
          <a:prstGeom prst="rect">
            <a:avLst/>
          </a:prstGeom>
          <a:noFill/>
        </p:spPr>
        <p:txBody>
          <a:bodyPr vert="horz" wrap="square" lIns="63500" tIns="38100" rIns="63500" bIns="38100" rtlCol="0">
            <a:spAutoFit/>
          </a:bodyPr>
          <a:lstStyle/>
          <a:p>
            <a:r>
              <a:rPr lang="en-AU" sz="1500" b="1">
                <a:solidFill>
                  <a:srgbClr val="FFFFFF"/>
                </a:solidFill>
                <a:latin typeface="Arial Narrow" panose="020B0606020202030204" pitchFamily="34" charset="0"/>
              </a:rPr>
              <a:t>BEST PRACTICE ANSWER</a:t>
            </a:r>
          </a:p>
        </p:txBody>
      </p:sp>
      <p:sp>
        <p:nvSpPr>
          <p:cNvPr id="6" name="Rectangle 5">
            <a:extLst>
              <a:ext uri="{FF2B5EF4-FFF2-40B4-BE49-F238E27FC236}">
                <a16:creationId xmlns:a16="http://schemas.microsoft.com/office/drawing/2014/main" id="{B4B0817E-DB19-73F5-EA25-E18ECEC01D4E}"/>
              </a:ext>
            </a:extLst>
          </p:cNvPr>
          <p:cNvSpPr/>
          <p:nvPr/>
        </p:nvSpPr>
        <p:spPr>
          <a:xfrm>
            <a:off x="5207000" y="165100"/>
            <a:ext cx="1168400" cy="3556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5402F444-7041-8E27-EB0B-CF739E685D1E}"/>
              </a:ext>
            </a:extLst>
          </p:cNvPr>
          <p:cNvSpPr txBox="1"/>
          <p:nvPr/>
        </p:nvSpPr>
        <p:spPr>
          <a:xfrm>
            <a:off x="5257800" y="228600"/>
            <a:ext cx="1066800" cy="169277"/>
          </a:xfrm>
          <a:prstGeom prst="rect">
            <a:avLst/>
          </a:prstGeom>
          <a:noFill/>
        </p:spPr>
        <p:txBody>
          <a:bodyPr vert="horz" wrap="square" lIns="63500" tIns="38100" rIns="63500" bIns="38100" rtlCol="0">
            <a:spAutoFit/>
          </a:bodyPr>
          <a:lstStyle/>
          <a:p>
            <a:r>
              <a:rPr lang="en-AU" sz="600" b="1">
                <a:solidFill>
                  <a:srgbClr val="081F2F"/>
                </a:solidFill>
                <a:latin typeface="Arial" panose="020B0604020202020204" pitchFamily="34" charset="0"/>
              </a:rPr>
              <a:t>YEAR 9 ENGINEERING</a:t>
            </a:r>
          </a:p>
        </p:txBody>
      </p:sp>
      <p:sp>
        <p:nvSpPr>
          <p:cNvPr id="8" name="Rectangle 7">
            <a:extLst>
              <a:ext uri="{FF2B5EF4-FFF2-40B4-BE49-F238E27FC236}">
                <a16:creationId xmlns:a16="http://schemas.microsoft.com/office/drawing/2014/main" id="{1C27576F-BF65-6AFC-48A5-81EB5BDC8D7E}"/>
              </a:ext>
            </a:extLst>
          </p:cNvPr>
          <p:cNvSpPr/>
          <p:nvPr/>
        </p:nvSpPr>
        <p:spPr>
          <a:xfrm>
            <a:off x="0" y="812800"/>
            <a:ext cx="6858000" cy="76200"/>
          </a:xfrm>
          <a:prstGeom prst="rect">
            <a:avLst/>
          </a:prstGeom>
          <a:solidFill>
            <a:srgbClr val="F2C700"/>
          </a:solidFill>
          <a:ln w="0">
            <a:solidFill>
              <a:srgbClr val="F2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E20AC3C5-3A1E-9A9A-8472-E467603BAF07}"/>
              </a:ext>
            </a:extLst>
          </p:cNvPr>
          <p:cNvSpPr txBox="1"/>
          <p:nvPr/>
        </p:nvSpPr>
        <p:spPr>
          <a:xfrm>
            <a:off x="355600" y="1041400"/>
            <a:ext cx="6146800" cy="353943"/>
          </a:xfrm>
          <a:prstGeom prst="rect">
            <a:avLst/>
          </a:prstGeom>
          <a:noFill/>
        </p:spPr>
        <p:txBody>
          <a:bodyPr vert="horz" wrap="square" lIns="63500" tIns="38100" rIns="63500" bIns="38100" rtlCol="0">
            <a:spAutoFit/>
          </a:bodyPr>
          <a:lstStyle/>
          <a:p>
            <a:r>
              <a:rPr lang="en-AU" b="1">
                <a:solidFill>
                  <a:srgbClr val="081F2F"/>
                </a:solidFill>
                <a:latin typeface="Arial Narrow" panose="020B0606020202030204" pitchFamily="34" charset="0"/>
              </a:rPr>
              <a:t>HYDRAULIC SETUP</a:t>
            </a:r>
          </a:p>
        </p:txBody>
      </p:sp>
      <p:sp>
        <p:nvSpPr>
          <p:cNvPr id="10" name="TextBox 9">
            <a:extLst>
              <a:ext uri="{FF2B5EF4-FFF2-40B4-BE49-F238E27FC236}">
                <a16:creationId xmlns:a16="http://schemas.microsoft.com/office/drawing/2014/main" id="{C0D4661C-800D-3B05-1122-A5AD6D097F3C}"/>
              </a:ext>
            </a:extLst>
          </p:cNvPr>
          <p:cNvSpPr txBox="1"/>
          <p:nvPr/>
        </p:nvSpPr>
        <p:spPr>
          <a:xfrm>
            <a:off x="355600" y="1409700"/>
            <a:ext cx="6146800" cy="200055"/>
          </a:xfrm>
          <a:prstGeom prst="rect">
            <a:avLst/>
          </a:prstGeom>
          <a:noFill/>
        </p:spPr>
        <p:txBody>
          <a:bodyPr vert="horz" wrap="square" lIns="63500" tIns="38100" rIns="63500" bIns="38100" rtlCol="0">
            <a:spAutoFit/>
          </a:bodyPr>
          <a:lstStyle/>
          <a:p>
            <a:r>
              <a:rPr lang="en-GB" sz="800">
                <a:solidFill>
                  <a:srgbClr val="5B6B7A"/>
                </a:solidFill>
                <a:latin typeface="Arial" panose="020B0604020202020204" pitchFamily="34" charset="0"/>
              </a:rPr>
              <a:t>A strong answer documents filling, plumbing, de-airing, leak checks, hose routing and syringe mounting.</a:t>
            </a:r>
            <a:endParaRPr lang="en-AU" sz="800">
              <a:solidFill>
                <a:srgbClr val="5B6B7A"/>
              </a:solidFill>
              <a:latin typeface="Arial" panose="020B0604020202020204" pitchFamily="34" charset="0"/>
            </a:endParaRPr>
          </a:p>
        </p:txBody>
      </p:sp>
      <p:pic>
        <p:nvPicPr>
          <p:cNvPr id="12" name="Picture 11">
            <a:extLst>
              <a:ext uri="{FF2B5EF4-FFF2-40B4-BE49-F238E27FC236}">
                <a16:creationId xmlns:a16="http://schemas.microsoft.com/office/drawing/2014/main" id="{56550B72-26C3-1205-8C8B-58B9BFD3C52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38867" y="1752600"/>
            <a:ext cx="2980267" cy="2235200"/>
          </a:xfrm>
          <a:prstGeom prst="rect">
            <a:avLst/>
          </a:prstGeom>
        </p:spPr>
      </p:pic>
      <p:sp>
        <p:nvSpPr>
          <p:cNvPr id="13" name="Rectangle 12">
            <a:extLst>
              <a:ext uri="{FF2B5EF4-FFF2-40B4-BE49-F238E27FC236}">
                <a16:creationId xmlns:a16="http://schemas.microsoft.com/office/drawing/2014/main" id="{DBE59BA2-6423-5080-4BEE-F4186F689479}"/>
              </a:ext>
            </a:extLst>
          </p:cNvPr>
          <p:cNvSpPr/>
          <p:nvPr/>
        </p:nvSpPr>
        <p:spPr>
          <a:xfrm>
            <a:off x="355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C268608D-9D99-FB79-B704-A2F56901DF4A}"/>
              </a:ext>
            </a:extLst>
          </p:cNvPr>
          <p:cNvSpPr/>
          <p:nvPr/>
        </p:nvSpPr>
        <p:spPr>
          <a:xfrm>
            <a:off x="355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2E87CC95-D754-DA79-D330-689B3E8DDC4E}"/>
              </a:ext>
            </a:extLst>
          </p:cNvPr>
          <p:cNvSpPr txBox="1"/>
          <p:nvPr/>
        </p:nvSpPr>
        <p:spPr>
          <a:xfrm>
            <a:off x="381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1</a:t>
            </a:r>
          </a:p>
        </p:txBody>
      </p:sp>
      <p:sp>
        <p:nvSpPr>
          <p:cNvPr id="16" name="TextBox 15">
            <a:extLst>
              <a:ext uri="{FF2B5EF4-FFF2-40B4-BE49-F238E27FC236}">
                <a16:creationId xmlns:a16="http://schemas.microsoft.com/office/drawing/2014/main" id="{90E25129-90ED-B00F-1172-D5F925D38B04}"/>
              </a:ext>
            </a:extLst>
          </p:cNvPr>
          <p:cNvSpPr txBox="1"/>
          <p:nvPr/>
        </p:nvSpPr>
        <p:spPr>
          <a:xfrm>
            <a:off x="863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Fill and connect</a:t>
            </a:r>
          </a:p>
        </p:txBody>
      </p:sp>
      <p:sp>
        <p:nvSpPr>
          <p:cNvPr id="17" name="TextBox 16">
            <a:extLst>
              <a:ext uri="{FF2B5EF4-FFF2-40B4-BE49-F238E27FC236}">
                <a16:creationId xmlns:a16="http://schemas.microsoft.com/office/drawing/2014/main" id="{D5EC34BE-6FAC-09EE-DDEA-77C40ACD4ED9}"/>
              </a:ext>
            </a:extLst>
          </p:cNvPr>
          <p:cNvSpPr txBox="1"/>
          <p:nvPr/>
        </p:nvSpPr>
        <p:spPr>
          <a:xfrm>
            <a:off x="457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Fill syringes with water</a:t>
            </a:r>
          </a:p>
          <a:p>
            <a:r>
              <a:rPr lang="en-GB" sz="800">
                <a:solidFill>
                  <a:srgbClr val="081F2F"/>
                </a:solidFill>
                <a:latin typeface="Arial" panose="020B0604020202020204" pitchFamily="34" charset="0"/>
              </a:rPr>
              <a:t>- Connect tubing securely</a:t>
            </a:r>
          </a:p>
          <a:p>
            <a:r>
              <a:rPr lang="en-GB" sz="800">
                <a:solidFill>
                  <a:srgbClr val="081F2F"/>
                </a:solidFill>
                <a:latin typeface="Arial" panose="020B0604020202020204" pitchFamily="34" charset="0"/>
              </a:rPr>
              <a:t>- Route hoses to avoid kinks</a:t>
            </a:r>
            <a:endParaRPr lang="en-AU" sz="800">
              <a:solidFill>
                <a:srgbClr val="081F2F"/>
              </a:solidFill>
              <a:latin typeface="Arial" panose="020B0604020202020204" pitchFamily="34" charset="0"/>
            </a:endParaRPr>
          </a:p>
        </p:txBody>
      </p:sp>
      <p:sp>
        <p:nvSpPr>
          <p:cNvPr id="18" name="Rectangle 17">
            <a:extLst>
              <a:ext uri="{FF2B5EF4-FFF2-40B4-BE49-F238E27FC236}">
                <a16:creationId xmlns:a16="http://schemas.microsoft.com/office/drawing/2014/main" id="{2C81D0AF-8CB0-F856-9D6C-A4F7F9F402E8}"/>
              </a:ext>
            </a:extLst>
          </p:cNvPr>
          <p:cNvSpPr/>
          <p:nvPr/>
        </p:nvSpPr>
        <p:spPr>
          <a:xfrm>
            <a:off x="24511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10EC6357-2C68-0794-B863-E718BA391568}"/>
              </a:ext>
            </a:extLst>
          </p:cNvPr>
          <p:cNvSpPr/>
          <p:nvPr/>
        </p:nvSpPr>
        <p:spPr>
          <a:xfrm>
            <a:off x="24511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6E4E95B8-7841-070A-DFC4-73F49B228E4F}"/>
              </a:ext>
            </a:extLst>
          </p:cNvPr>
          <p:cNvSpPr txBox="1"/>
          <p:nvPr/>
        </p:nvSpPr>
        <p:spPr>
          <a:xfrm>
            <a:off x="24765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2</a:t>
            </a:r>
          </a:p>
        </p:txBody>
      </p:sp>
      <p:sp>
        <p:nvSpPr>
          <p:cNvPr id="21" name="TextBox 20">
            <a:extLst>
              <a:ext uri="{FF2B5EF4-FFF2-40B4-BE49-F238E27FC236}">
                <a16:creationId xmlns:a16="http://schemas.microsoft.com/office/drawing/2014/main" id="{4E5F9A72-0D80-7E29-E593-854030FF986C}"/>
              </a:ext>
            </a:extLst>
          </p:cNvPr>
          <p:cNvSpPr txBox="1"/>
          <p:nvPr/>
        </p:nvSpPr>
        <p:spPr>
          <a:xfrm>
            <a:off x="29591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De-air system</a:t>
            </a:r>
          </a:p>
        </p:txBody>
      </p:sp>
      <p:sp>
        <p:nvSpPr>
          <p:cNvPr id="22" name="TextBox 21">
            <a:extLst>
              <a:ext uri="{FF2B5EF4-FFF2-40B4-BE49-F238E27FC236}">
                <a16:creationId xmlns:a16="http://schemas.microsoft.com/office/drawing/2014/main" id="{946006A9-0355-ABA0-FA40-D763727725F7}"/>
              </a:ext>
            </a:extLst>
          </p:cNvPr>
          <p:cNvSpPr txBox="1"/>
          <p:nvPr/>
        </p:nvSpPr>
        <p:spPr>
          <a:xfrm>
            <a:off x="25527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Remove bubbles from tubing</a:t>
            </a:r>
          </a:p>
          <a:p>
            <a:r>
              <a:rPr lang="en-GB" sz="800">
                <a:solidFill>
                  <a:srgbClr val="081F2F"/>
                </a:solidFill>
                <a:latin typeface="Arial" panose="020B0604020202020204" pitchFamily="34" charset="0"/>
              </a:rPr>
              <a:t>- Cycle syringes before testing</a:t>
            </a:r>
          </a:p>
          <a:p>
            <a:r>
              <a:rPr lang="en-GB" sz="800">
                <a:solidFill>
                  <a:srgbClr val="081F2F"/>
                </a:solidFill>
                <a:latin typeface="Arial" panose="020B0604020202020204" pitchFamily="34" charset="0"/>
              </a:rPr>
              <a:t>- Refill if movement feels spongy</a:t>
            </a:r>
            <a:endParaRPr lang="en-AU" sz="800">
              <a:solidFill>
                <a:srgbClr val="081F2F"/>
              </a:solidFill>
              <a:latin typeface="Arial" panose="020B0604020202020204" pitchFamily="34" charset="0"/>
            </a:endParaRPr>
          </a:p>
        </p:txBody>
      </p:sp>
      <p:sp>
        <p:nvSpPr>
          <p:cNvPr id="23" name="Rectangle 22">
            <a:extLst>
              <a:ext uri="{FF2B5EF4-FFF2-40B4-BE49-F238E27FC236}">
                <a16:creationId xmlns:a16="http://schemas.microsoft.com/office/drawing/2014/main" id="{2B1609CE-CC03-25E3-63AD-BD451C1C53A4}"/>
              </a:ext>
            </a:extLst>
          </p:cNvPr>
          <p:cNvSpPr/>
          <p:nvPr/>
        </p:nvSpPr>
        <p:spPr>
          <a:xfrm>
            <a:off x="4546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D0684863-077A-1980-5D66-02A161B8FA7B}"/>
              </a:ext>
            </a:extLst>
          </p:cNvPr>
          <p:cNvSpPr/>
          <p:nvPr/>
        </p:nvSpPr>
        <p:spPr>
          <a:xfrm>
            <a:off x="4546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E2D18B6A-1089-216E-3844-5C55B49C4A6D}"/>
              </a:ext>
            </a:extLst>
          </p:cNvPr>
          <p:cNvSpPr txBox="1"/>
          <p:nvPr/>
        </p:nvSpPr>
        <p:spPr>
          <a:xfrm>
            <a:off x="4572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3</a:t>
            </a:r>
          </a:p>
        </p:txBody>
      </p:sp>
      <p:sp>
        <p:nvSpPr>
          <p:cNvPr id="26" name="TextBox 25">
            <a:extLst>
              <a:ext uri="{FF2B5EF4-FFF2-40B4-BE49-F238E27FC236}">
                <a16:creationId xmlns:a16="http://schemas.microsoft.com/office/drawing/2014/main" id="{4E66DFAF-FDED-B999-D0C1-B54F9D3AD3F8}"/>
              </a:ext>
            </a:extLst>
          </p:cNvPr>
          <p:cNvSpPr txBox="1"/>
          <p:nvPr/>
        </p:nvSpPr>
        <p:spPr>
          <a:xfrm>
            <a:off x="5054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Leak check</a:t>
            </a:r>
          </a:p>
        </p:txBody>
      </p:sp>
      <p:sp>
        <p:nvSpPr>
          <p:cNvPr id="27" name="TextBox 26">
            <a:extLst>
              <a:ext uri="{FF2B5EF4-FFF2-40B4-BE49-F238E27FC236}">
                <a16:creationId xmlns:a16="http://schemas.microsoft.com/office/drawing/2014/main" id="{B2212A81-65D8-3DA4-9C7C-9469A8D8CADA}"/>
              </a:ext>
            </a:extLst>
          </p:cNvPr>
          <p:cNvSpPr txBox="1"/>
          <p:nvPr/>
        </p:nvSpPr>
        <p:spPr>
          <a:xfrm>
            <a:off x="4648200" y="4622800"/>
            <a:ext cx="1752600" cy="569387"/>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Filled Syringe</a:t>
            </a:r>
          </a:p>
          <a:p>
            <a:r>
              <a:rPr lang="en-GB" sz="800">
                <a:solidFill>
                  <a:srgbClr val="081F2F"/>
                </a:solidFill>
                <a:latin typeface="Arial" panose="020B0604020202020204" pitchFamily="34" charset="0"/>
              </a:rPr>
              <a:t>- Hose Routing</a:t>
            </a:r>
          </a:p>
          <a:p>
            <a:r>
              <a:rPr lang="en-GB" sz="800">
                <a:solidFill>
                  <a:srgbClr val="081F2F"/>
                </a:solidFill>
                <a:latin typeface="Arial" panose="020B0604020202020204" pitchFamily="34" charset="0"/>
              </a:rPr>
              <a:t>- De-airing</a:t>
            </a:r>
          </a:p>
          <a:p>
            <a:r>
              <a:rPr lang="en-GB" sz="800">
                <a:solidFill>
                  <a:srgbClr val="081F2F"/>
                </a:solidFill>
                <a:latin typeface="Arial" panose="020B0604020202020204" pitchFamily="34" charset="0"/>
              </a:rPr>
              <a:t>- Leak Check</a:t>
            </a:r>
            <a:endParaRPr lang="en-AU" sz="800">
              <a:solidFill>
                <a:srgbClr val="081F2F"/>
              </a:solidFill>
              <a:latin typeface="Arial" panose="020B0604020202020204" pitchFamily="34" charset="0"/>
            </a:endParaRPr>
          </a:p>
        </p:txBody>
      </p:sp>
      <p:sp>
        <p:nvSpPr>
          <p:cNvPr id="28" name="Rectangle 27">
            <a:extLst>
              <a:ext uri="{FF2B5EF4-FFF2-40B4-BE49-F238E27FC236}">
                <a16:creationId xmlns:a16="http://schemas.microsoft.com/office/drawing/2014/main" id="{5F037591-E088-D7C6-B17B-F4916D1CAA32}"/>
              </a:ext>
            </a:extLst>
          </p:cNvPr>
          <p:cNvSpPr/>
          <p:nvPr/>
        </p:nvSpPr>
        <p:spPr>
          <a:xfrm>
            <a:off x="355600" y="7404100"/>
            <a:ext cx="6146800" cy="1473200"/>
          </a:xfrm>
          <a:prstGeom prst="rect">
            <a:avLst/>
          </a:prstGeom>
          <a:solidFill>
            <a:srgbClr val="FFF4BF"/>
          </a:solidFill>
          <a:ln w="1778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BFD734C9-4122-3C4B-5564-A66A23A642BA}"/>
              </a:ext>
            </a:extLst>
          </p:cNvPr>
          <p:cNvSpPr/>
          <p:nvPr/>
        </p:nvSpPr>
        <p:spPr>
          <a:xfrm>
            <a:off x="520700" y="7670800"/>
            <a:ext cx="469900" cy="469900"/>
          </a:xfrm>
          <a:prstGeom prst="ellipse">
            <a:avLst/>
          </a:prstGeom>
          <a:solidFill>
            <a:srgbClr val="F2C700"/>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805A1EC3-4D13-D3CC-945B-9C2B14CD7E93}"/>
              </a:ext>
            </a:extLst>
          </p:cNvPr>
          <p:cNvSpPr txBox="1"/>
          <p:nvPr/>
        </p:nvSpPr>
        <p:spPr>
          <a:xfrm>
            <a:off x="571500" y="7747000"/>
            <a:ext cx="3556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OK</a:t>
            </a:r>
          </a:p>
        </p:txBody>
      </p:sp>
      <p:sp>
        <p:nvSpPr>
          <p:cNvPr id="31" name="TextBox 30">
            <a:extLst>
              <a:ext uri="{FF2B5EF4-FFF2-40B4-BE49-F238E27FC236}">
                <a16:creationId xmlns:a16="http://schemas.microsoft.com/office/drawing/2014/main" id="{7EAB907C-4CFE-5A5F-CD81-5585DFCE8869}"/>
              </a:ext>
            </a:extLst>
          </p:cNvPr>
          <p:cNvSpPr txBox="1"/>
          <p:nvPr/>
        </p:nvSpPr>
        <p:spPr>
          <a:xfrm>
            <a:off x="1155700" y="7543800"/>
            <a:ext cx="4953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BEST PRACTICE STUDENT RESPONSE</a:t>
            </a:r>
          </a:p>
        </p:txBody>
      </p:sp>
      <p:sp>
        <p:nvSpPr>
          <p:cNvPr id="32" name="TextBox 31">
            <a:extLst>
              <a:ext uri="{FF2B5EF4-FFF2-40B4-BE49-F238E27FC236}">
                <a16:creationId xmlns:a16="http://schemas.microsoft.com/office/drawing/2014/main" id="{56DB32DD-1C98-2314-1FE1-803567DFFA3E}"/>
              </a:ext>
            </a:extLst>
          </p:cNvPr>
          <p:cNvSpPr txBox="1"/>
          <p:nvPr/>
        </p:nvSpPr>
        <p:spPr>
          <a:xfrm>
            <a:off x="1155700" y="7835900"/>
            <a:ext cx="49530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We filled each hydraulic circuit with water and connected the tubing securely. We removed air by cycling the syringes until movement was smooth. The system worked best when there were no bubbles, no kinks and no leaks at the joins.</a:t>
            </a:r>
            <a:endParaRPr lang="en-AU" sz="800">
              <a:solidFill>
                <a:srgbClr val="081F2F"/>
              </a:solidFill>
              <a:latin typeface="Arial" panose="020B0604020202020204" pitchFamily="34" charset="0"/>
            </a:endParaRPr>
          </a:p>
        </p:txBody>
      </p:sp>
      <p:sp>
        <p:nvSpPr>
          <p:cNvPr id="33" name="Rectangle 32">
            <a:extLst>
              <a:ext uri="{FF2B5EF4-FFF2-40B4-BE49-F238E27FC236}">
                <a16:creationId xmlns:a16="http://schemas.microsoft.com/office/drawing/2014/main" id="{19BC53D7-4A7E-0E5C-C5EB-46297F4A0842}"/>
              </a:ext>
            </a:extLst>
          </p:cNvPr>
          <p:cNvSpPr/>
          <p:nvPr/>
        </p:nvSpPr>
        <p:spPr>
          <a:xfrm>
            <a:off x="355600" y="9448800"/>
            <a:ext cx="6146800" cy="533400"/>
          </a:xfrm>
          <a:prstGeom prst="rect">
            <a:avLst/>
          </a:prstGeom>
          <a:solidFill>
            <a:srgbClr val="FFFFFF"/>
          </a:solidFill>
          <a:ln w="1397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5EB84968-6751-AE34-5FCB-6B7B152A578E}"/>
              </a:ext>
            </a:extLst>
          </p:cNvPr>
          <p:cNvSpPr txBox="1"/>
          <p:nvPr/>
        </p:nvSpPr>
        <p:spPr>
          <a:xfrm>
            <a:off x="469900" y="9499600"/>
            <a:ext cx="1168400" cy="323165"/>
          </a:xfrm>
          <a:prstGeom prst="rect">
            <a:avLst/>
          </a:prstGeom>
          <a:noFill/>
        </p:spPr>
        <p:txBody>
          <a:bodyPr vert="horz" wrap="square" lIns="63500" tIns="38100" rIns="63500" bIns="38100" rtlCol="0">
            <a:spAutoFit/>
          </a:bodyPr>
          <a:lstStyle/>
          <a:p>
            <a:r>
              <a:rPr lang="en-AU" sz="800" b="1">
                <a:solidFill>
                  <a:srgbClr val="081F2F"/>
                </a:solidFill>
                <a:latin typeface="Arial" panose="020B0604020202020204" pitchFamily="34" charset="0"/>
              </a:rPr>
              <a:t>BEFORE YOU TICK DONE</a:t>
            </a:r>
          </a:p>
        </p:txBody>
      </p:sp>
      <p:sp>
        <p:nvSpPr>
          <p:cNvPr id="35" name="Rectangle 34">
            <a:extLst>
              <a:ext uri="{FF2B5EF4-FFF2-40B4-BE49-F238E27FC236}">
                <a16:creationId xmlns:a16="http://schemas.microsoft.com/office/drawing/2014/main" id="{96F857F9-C21C-0E76-1012-949E4286ECE9}"/>
              </a:ext>
            </a:extLst>
          </p:cNvPr>
          <p:cNvSpPr/>
          <p:nvPr/>
        </p:nvSpPr>
        <p:spPr>
          <a:xfrm>
            <a:off x="17399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a:extLst>
              <a:ext uri="{FF2B5EF4-FFF2-40B4-BE49-F238E27FC236}">
                <a16:creationId xmlns:a16="http://schemas.microsoft.com/office/drawing/2014/main" id="{4C49A297-2E8C-8511-5D15-6284E72826C3}"/>
              </a:ext>
            </a:extLst>
          </p:cNvPr>
          <p:cNvSpPr txBox="1"/>
          <p:nvPr/>
        </p:nvSpPr>
        <p:spPr>
          <a:xfrm>
            <a:off x="18923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Filled shown</a:t>
            </a:r>
          </a:p>
        </p:txBody>
      </p:sp>
      <p:sp>
        <p:nvSpPr>
          <p:cNvPr id="37" name="Rectangle 36">
            <a:extLst>
              <a:ext uri="{FF2B5EF4-FFF2-40B4-BE49-F238E27FC236}">
                <a16:creationId xmlns:a16="http://schemas.microsoft.com/office/drawing/2014/main" id="{B1EC3D3A-5D80-7F1B-F7FC-B46185A2B4C9}"/>
              </a:ext>
            </a:extLst>
          </p:cNvPr>
          <p:cNvSpPr/>
          <p:nvPr/>
        </p:nvSpPr>
        <p:spPr>
          <a:xfrm>
            <a:off x="32385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43620489-AD50-1DA2-D105-4A0860E28A03}"/>
              </a:ext>
            </a:extLst>
          </p:cNvPr>
          <p:cNvSpPr txBox="1"/>
          <p:nvPr/>
        </p:nvSpPr>
        <p:spPr>
          <a:xfrm>
            <a:off x="33909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Air removed</a:t>
            </a:r>
          </a:p>
        </p:txBody>
      </p:sp>
      <p:sp>
        <p:nvSpPr>
          <p:cNvPr id="39" name="Rectangle 38">
            <a:extLst>
              <a:ext uri="{FF2B5EF4-FFF2-40B4-BE49-F238E27FC236}">
                <a16:creationId xmlns:a16="http://schemas.microsoft.com/office/drawing/2014/main" id="{1E25E9C8-99CF-80D0-21C0-DD0A42B2BB8F}"/>
              </a:ext>
            </a:extLst>
          </p:cNvPr>
          <p:cNvSpPr/>
          <p:nvPr/>
        </p:nvSpPr>
        <p:spPr>
          <a:xfrm>
            <a:off x="47371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F3060AC2-E6F1-EA8A-3896-C73D262BC259}"/>
              </a:ext>
            </a:extLst>
          </p:cNvPr>
          <p:cNvSpPr txBox="1"/>
          <p:nvPr/>
        </p:nvSpPr>
        <p:spPr>
          <a:xfrm>
            <a:off x="48895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Leaks checked</a:t>
            </a:r>
          </a:p>
        </p:txBody>
      </p:sp>
    </p:spTree>
    <p:extLst>
      <p:ext uri="{BB962C8B-B14F-4D97-AF65-F5344CB8AC3E}">
        <p14:creationId xmlns:p14="http://schemas.microsoft.com/office/powerpoint/2010/main" val="2100746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101125-8D32-1311-4446-B98CB64291EE}"/>
              </a:ext>
            </a:extLst>
          </p:cNvPr>
          <p:cNvSpPr/>
          <p:nvPr/>
        </p:nvSpPr>
        <p:spPr>
          <a:xfrm>
            <a:off x="0" y="0"/>
            <a:ext cx="6858000" cy="812800"/>
          </a:xfrm>
          <a:prstGeom prst="rect">
            <a:avLst/>
          </a:prstGeom>
          <a:solidFill>
            <a:srgbClr val="081F2F"/>
          </a:solidFill>
          <a:ln w="0">
            <a:solidFill>
              <a:srgbClr val="081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4E4E4765-2A7D-DCC4-AF42-3208C3C6B952}"/>
              </a:ext>
            </a:extLst>
          </p:cNvPr>
          <p:cNvSpPr/>
          <p:nvPr/>
        </p:nvSpPr>
        <p:spPr>
          <a:xfrm>
            <a:off x="355600" y="228600"/>
            <a:ext cx="889000" cy="228600"/>
          </a:xfrm>
          <a:prstGeom prst="rect">
            <a:avLst/>
          </a:prstGeom>
          <a:solidFill>
            <a:srgbClr val="0B2B3B"/>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8E85C4CB-9154-2337-541F-330D0D6D67C6}"/>
              </a:ext>
            </a:extLst>
          </p:cNvPr>
          <p:cNvSpPr txBox="1"/>
          <p:nvPr/>
        </p:nvSpPr>
        <p:spPr>
          <a:xfrm>
            <a:off x="431800" y="254000"/>
            <a:ext cx="736600" cy="184666"/>
          </a:xfrm>
          <a:prstGeom prst="rect">
            <a:avLst/>
          </a:prstGeom>
          <a:noFill/>
        </p:spPr>
        <p:txBody>
          <a:bodyPr vert="horz" wrap="square" lIns="63500" tIns="38100" rIns="63500" bIns="38100" rtlCol="0">
            <a:spAutoFit/>
          </a:bodyPr>
          <a:lstStyle/>
          <a:p>
            <a:r>
              <a:rPr lang="en-AU" sz="700" b="1">
                <a:solidFill>
                  <a:srgbClr val="FFFFFF"/>
                </a:solidFill>
                <a:latin typeface="Arial" panose="020B0604020202020204" pitchFamily="34" charset="0"/>
              </a:rPr>
              <a:t>SECTION 9</a:t>
            </a:r>
          </a:p>
        </p:txBody>
      </p:sp>
      <p:sp>
        <p:nvSpPr>
          <p:cNvPr id="5" name="TextBox 4">
            <a:extLst>
              <a:ext uri="{FF2B5EF4-FFF2-40B4-BE49-F238E27FC236}">
                <a16:creationId xmlns:a16="http://schemas.microsoft.com/office/drawing/2014/main" id="{722481EB-AED2-F1B2-06E1-6F855AA3833F}"/>
              </a:ext>
            </a:extLst>
          </p:cNvPr>
          <p:cNvSpPr txBox="1"/>
          <p:nvPr/>
        </p:nvSpPr>
        <p:spPr>
          <a:xfrm>
            <a:off x="1422400" y="165100"/>
            <a:ext cx="3429000" cy="307777"/>
          </a:xfrm>
          <a:prstGeom prst="rect">
            <a:avLst/>
          </a:prstGeom>
          <a:noFill/>
        </p:spPr>
        <p:txBody>
          <a:bodyPr vert="horz" wrap="square" lIns="63500" tIns="38100" rIns="63500" bIns="38100" rtlCol="0">
            <a:spAutoFit/>
          </a:bodyPr>
          <a:lstStyle/>
          <a:p>
            <a:r>
              <a:rPr lang="en-AU" sz="1500" b="1">
                <a:solidFill>
                  <a:srgbClr val="FFFFFF"/>
                </a:solidFill>
                <a:latin typeface="Arial Narrow" panose="020B0606020202030204" pitchFamily="34" charset="0"/>
              </a:rPr>
              <a:t>BEST PRACTICE ANSWER</a:t>
            </a:r>
          </a:p>
        </p:txBody>
      </p:sp>
      <p:sp>
        <p:nvSpPr>
          <p:cNvPr id="6" name="Rectangle 5">
            <a:extLst>
              <a:ext uri="{FF2B5EF4-FFF2-40B4-BE49-F238E27FC236}">
                <a16:creationId xmlns:a16="http://schemas.microsoft.com/office/drawing/2014/main" id="{A5F44E3E-61AA-3614-6CC4-5981A6F0BF6A}"/>
              </a:ext>
            </a:extLst>
          </p:cNvPr>
          <p:cNvSpPr/>
          <p:nvPr/>
        </p:nvSpPr>
        <p:spPr>
          <a:xfrm>
            <a:off x="5207000" y="165100"/>
            <a:ext cx="1168400" cy="3556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FDD0FE14-C426-8023-E2CD-2096329D1D97}"/>
              </a:ext>
            </a:extLst>
          </p:cNvPr>
          <p:cNvSpPr txBox="1"/>
          <p:nvPr/>
        </p:nvSpPr>
        <p:spPr>
          <a:xfrm>
            <a:off x="5257800" y="228600"/>
            <a:ext cx="1066800" cy="169277"/>
          </a:xfrm>
          <a:prstGeom prst="rect">
            <a:avLst/>
          </a:prstGeom>
          <a:noFill/>
        </p:spPr>
        <p:txBody>
          <a:bodyPr vert="horz" wrap="square" lIns="63500" tIns="38100" rIns="63500" bIns="38100" rtlCol="0">
            <a:spAutoFit/>
          </a:bodyPr>
          <a:lstStyle/>
          <a:p>
            <a:r>
              <a:rPr lang="en-AU" sz="600" b="1">
                <a:solidFill>
                  <a:srgbClr val="081F2F"/>
                </a:solidFill>
                <a:latin typeface="Arial" panose="020B0604020202020204" pitchFamily="34" charset="0"/>
              </a:rPr>
              <a:t>YEAR 9 ENGINEERING</a:t>
            </a:r>
          </a:p>
        </p:txBody>
      </p:sp>
      <p:sp>
        <p:nvSpPr>
          <p:cNvPr id="8" name="Rectangle 7">
            <a:extLst>
              <a:ext uri="{FF2B5EF4-FFF2-40B4-BE49-F238E27FC236}">
                <a16:creationId xmlns:a16="http://schemas.microsoft.com/office/drawing/2014/main" id="{47689A64-CF14-0058-2C8A-783CD982CE20}"/>
              </a:ext>
            </a:extLst>
          </p:cNvPr>
          <p:cNvSpPr/>
          <p:nvPr/>
        </p:nvSpPr>
        <p:spPr>
          <a:xfrm>
            <a:off x="0" y="812800"/>
            <a:ext cx="6858000" cy="76200"/>
          </a:xfrm>
          <a:prstGeom prst="rect">
            <a:avLst/>
          </a:prstGeom>
          <a:solidFill>
            <a:srgbClr val="F2C700"/>
          </a:solidFill>
          <a:ln w="0">
            <a:solidFill>
              <a:srgbClr val="F2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DBAC3C24-5712-9FC0-2033-A0D18837D9A1}"/>
              </a:ext>
            </a:extLst>
          </p:cNvPr>
          <p:cNvSpPr txBox="1"/>
          <p:nvPr/>
        </p:nvSpPr>
        <p:spPr>
          <a:xfrm>
            <a:off x="355600" y="1041400"/>
            <a:ext cx="6146800" cy="353943"/>
          </a:xfrm>
          <a:prstGeom prst="rect">
            <a:avLst/>
          </a:prstGeom>
          <a:noFill/>
        </p:spPr>
        <p:txBody>
          <a:bodyPr vert="horz" wrap="square" lIns="63500" tIns="38100" rIns="63500" bIns="38100" rtlCol="0">
            <a:spAutoFit/>
          </a:bodyPr>
          <a:lstStyle/>
          <a:p>
            <a:r>
              <a:rPr lang="en-AU" b="1">
                <a:solidFill>
                  <a:srgbClr val="081F2F"/>
                </a:solidFill>
                <a:latin typeface="Arial Narrow" panose="020B0606020202030204" pitchFamily="34" charset="0"/>
              </a:rPr>
              <a:t>TEST METHOD</a:t>
            </a:r>
          </a:p>
        </p:txBody>
      </p:sp>
      <p:sp>
        <p:nvSpPr>
          <p:cNvPr id="10" name="TextBox 9">
            <a:extLst>
              <a:ext uri="{FF2B5EF4-FFF2-40B4-BE49-F238E27FC236}">
                <a16:creationId xmlns:a16="http://schemas.microsoft.com/office/drawing/2014/main" id="{5FD8DD5C-AD78-49E9-7D61-2F924E6B587A}"/>
              </a:ext>
            </a:extLst>
          </p:cNvPr>
          <p:cNvSpPr txBox="1"/>
          <p:nvPr/>
        </p:nvSpPr>
        <p:spPr>
          <a:xfrm>
            <a:off x="355600" y="1409700"/>
            <a:ext cx="6146800" cy="200055"/>
          </a:xfrm>
          <a:prstGeom prst="rect">
            <a:avLst/>
          </a:prstGeom>
          <a:noFill/>
        </p:spPr>
        <p:txBody>
          <a:bodyPr vert="horz" wrap="square" lIns="63500" tIns="38100" rIns="63500" bIns="38100" rtlCol="0">
            <a:spAutoFit/>
          </a:bodyPr>
          <a:lstStyle/>
          <a:p>
            <a:r>
              <a:rPr lang="en-GB" sz="800">
                <a:solidFill>
                  <a:srgbClr val="5B6B7A"/>
                </a:solidFill>
                <a:latin typeface="Arial" panose="020B0604020202020204" pitchFamily="34" charset="0"/>
              </a:rPr>
              <a:t>A strong answer describes a fair, repeatable setup another group could follow safely.</a:t>
            </a:r>
            <a:endParaRPr lang="en-AU" sz="800">
              <a:solidFill>
                <a:srgbClr val="5B6B7A"/>
              </a:solidFill>
              <a:latin typeface="Arial" panose="020B0604020202020204" pitchFamily="34" charset="0"/>
            </a:endParaRPr>
          </a:p>
        </p:txBody>
      </p:sp>
      <p:pic>
        <p:nvPicPr>
          <p:cNvPr id="12" name="Picture 11">
            <a:extLst>
              <a:ext uri="{FF2B5EF4-FFF2-40B4-BE49-F238E27FC236}">
                <a16:creationId xmlns:a16="http://schemas.microsoft.com/office/drawing/2014/main" id="{00EB0547-8AC3-C8E8-98B3-3C4E5D86049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38867" y="1752600"/>
            <a:ext cx="2980267" cy="2235200"/>
          </a:xfrm>
          <a:prstGeom prst="rect">
            <a:avLst/>
          </a:prstGeom>
        </p:spPr>
      </p:pic>
      <p:sp>
        <p:nvSpPr>
          <p:cNvPr id="13" name="Rectangle 12">
            <a:extLst>
              <a:ext uri="{FF2B5EF4-FFF2-40B4-BE49-F238E27FC236}">
                <a16:creationId xmlns:a16="http://schemas.microsoft.com/office/drawing/2014/main" id="{3A64D7B3-0D0C-FD83-136C-4FD119445891}"/>
              </a:ext>
            </a:extLst>
          </p:cNvPr>
          <p:cNvSpPr/>
          <p:nvPr/>
        </p:nvSpPr>
        <p:spPr>
          <a:xfrm>
            <a:off x="355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25BD4F8C-D763-20D6-ECCA-FE361A9044ED}"/>
              </a:ext>
            </a:extLst>
          </p:cNvPr>
          <p:cNvSpPr/>
          <p:nvPr/>
        </p:nvSpPr>
        <p:spPr>
          <a:xfrm>
            <a:off x="355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A1601FA5-348D-E21E-F29E-BC6FFDE389BB}"/>
              </a:ext>
            </a:extLst>
          </p:cNvPr>
          <p:cNvSpPr txBox="1"/>
          <p:nvPr/>
        </p:nvSpPr>
        <p:spPr>
          <a:xfrm>
            <a:off x="381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1</a:t>
            </a:r>
          </a:p>
        </p:txBody>
      </p:sp>
      <p:sp>
        <p:nvSpPr>
          <p:cNvPr id="16" name="TextBox 15">
            <a:extLst>
              <a:ext uri="{FF2B5EF4-FFF2-40B4-BE49-F238E27FC236}">
                <a16:creationId xmlns:a16="http://schemas.microsoft.com/office/drawing/2014/main" id="{610FACD8-FCFD-86E4-97DC-85923551EF67}"/>
              </a:ext>
            </a:extLst>
          </p:cNvPr>
          <p:cNvSpPr txBox="1"/>
          <p:nvPr/>
        </p:nvSpPr>
        <p:spPr>
          <a:xfrm>
            <a:off x="863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Fair setup</a:t>
            </a:r>
          </a:p>
        </p:txBody>
      </p:sp>
      <p:sp>
        <p:nvSpPr>
          <p:cNvPr id="17" name="TextBox 16">
            <a:extLst>
              <a:ext uri="{FF2B5EF4-FFF2-40B4-BE49-F238E27FC236}">
                <a16:creationId xmlns:a16="http://schemas.microsoft.com/office/drawing/2014/main" id="{7C9953CB-D3A4-EDB2-66D9-7D48B7FE9318}"/>
              </a:ext>
            </a:extLst>
          </p:cNvPr>
          <p:cNvSpPr txBox="1"/>
          <p:nvPr/>
        </p:nvSpPr>
        <p:spPr>
          <a:xfrm>
            <a:off x="457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Use the same start position</a:t>
            </a:r>
          </a:p>
          <a:p>
            <a:r>
              <a:rPr lang="en-GB" sz="800">
                <a:solidFill>
                  <a:srgbClr val="081F2F"/>
                </a:solidFill>
                <a:latin typeface="Arial" panose="020B0604020202020204" pitchFamily="34" charset="0"/>
              </a:rPr>
              <a:t>- Keep the base in the same place</a:t>
            </a:r>
          </a:p>
          <a:p>
            <a:r>
              <a:rPr lang="en-GB" sz="800">
                <a:solidFill>
                  <a:srgbClr val="081F2F"/>
                </a:solidFill>
                <a:latin typeface="Arial" panose="020B0604020202020204" pitchFamily="34" charset="0"/>
              </a:rPr>
              <a:t>- Use the same load for lift tests</a:t>
            </a:r>
            <a:endParaRPr lang="en-AU" sz="800">
              <a:solidFill>
                <a:srgbClr val="081F2F"/>
              </a:solidFill>
              <a:latin typeface="Arial" panose="020B0604020202020204" pitchFamily="34" charset="0"/>
            </a:endParaRPr>
          </a:p>
        </p:txBody>
      </p:sp>
      <p:sp>
        <p:nvSpPr>
          <p:cNvPr id="18" name="Rectangle 17">
            <a:extLst>
              <a:ext uri="{FF2B5EF4-FFF2-40B4-BE49-F238E27FC236}">
                <a16:creationId xmlns:a16="http://schemas.microsoft.com/office/drawing/2014/main" id="{F42CFA90-9327-61C5-9F2C-6CD70182C8E2}"/>
              </a:ext>
            </a:extLst>
          </p:cNvPr>
          <p:cNvSpPr/>
          <p:nvPr/>
        </p:nvSpPr>
        <p:spPr>
          <a:xfrm>
            <a:off x="24511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136768C9-97FF-A964-722B-2DB9DBA2FE98}"/>
              </a:ext>
            </a:extLst>
          </p:cNvPr>
          <p:cNvSpPr/>
          <p:nvPr/>
        </p:nvSpPr>
        <p:spPr>
          <a:xfrm>
            <a:off x="24511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EDBE9D31-1702-BF54-EA9C-09465A4F8FD4}"/>
              </a:ext>
            </a:extLst>
          </p:cNvPr>
          <p:cNvSpPr txBox="1"/>
          <p:nvPr/>
        </p:nvSpPr>
        <p:spPr>
          <a:xfrm>
            <a:off x="24765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2</a:t>
            </a:r>
          </a:p>
        </p:txBody>
      </p:sp>
      <p:sp>
        <p:nvSpPr>
          <p:cNvPr id="21" name="TextBox 20">
            <a:extLst>
              <a:ext uri="{FF2B5EF4-FFF2-40B4-BE49-F238E27FC236}">
                <a16:creationId xmlns:a16="http://schemas.microsoft.com/office/drawing/2014/main" id="{F93AF1DB-38A1-BCDA-27D4-6BB358A28C74}"/>
              </a:ext>
            </a:extLst>
          </p:cNvPr>
          <p:cNvSpPr txBox="1"/>
          <p:nvPr/>
        </p:nvSpPr>
        <p:spPr>
          <a:xfrm>
            <a:off x="29591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Measurements</a:t>
            </a:r>
          </a:p>
        </p:txBody>
      </p:sp>
      <p:sp>
        <p:nvSpPr>
          <p:cNvPr id="22" name="TextBox 21">
            <a:extLst>
              <a:ext uri="{FF2B5EF4-FFF2-40B4-BE49-F238E27FC236}">
                <a16:creationId xmlns:a16="http://schemas.microsoft.com/office/drawing/2014/main" id="{E940EA7A-00ED-3056-5CCF-5F87FFE8A048}"/>
              </a:ext>
            </a:extLst>
          </p:cNvPr>
          <p:cNvSpPr txBox="1"/>
          <p:nvPr/>
        </p:nvSpPr>
        <p:spPr>
          <a:xfrm>
            <a:off x="25527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Measure reach</a:t>
            </a:r>
          </a:p>
          <a:p>
            <a:r>
              <a:rPr lang="en-GB" sz="800">
                <a:solidFill>
                  <a:srgbClr val="081F2F"/>
                </a:solidFill>
                <a:latin typeface="Arial" panose="020B0604020202020204" pitchFamily="34" charset="0"/>
              </a:rPr>
              <a:t>- Measure lift or load capacity</a:t>
            </a:r>
          </a:p>
          <a:p>
            <a:r>
              <a:rPr lang="en-GB" sz="800">
                <a:solidFill>
                  <a:srgbClr val="081F2F"/>
                </a:solidFill>
                <a:latin typeface="Arial" panose="020B0604020202020204" pitchFamily="34" charset="0"/>
              </a:rPr>
              <a:t>- Measure input/output travel</a:t>
            </a:r>
            <a:endParaRPr lang="en-AU" sz="800">
              <a:solidFill>
                <a:srgbClr val="081F2F"/>
              </a:solidFill>
              <a:latin typeface="Arial" panose="020B0604020202020204" pitchFamily="34" charset="0"/>
            </a:endParaRPr>
          </a:p>
        </p:txBody>
      </p:sp>
      <p:sp>
        <p:nvSpPr>
          <p:cNvPr id="23" name="Rectangle 22">
            <a:extLst>
              <a:ext uri="{FF2B5EF4-FFF2-40B4-BE49-F238E27FC236}">
                <a16:creationId xmlns:a16="http://schemas.microsoft.com/office/drawing/2014/main" id="{F6C720C4-F577-4A63-8134-6B24D1B64D13}"/>
              </a:ext>
            </a:extLst>
          </p:cNvPr>
          <p:cNvSpPr/>
          <p:nvPr/>
        </p:nvSpPr>
        <p:spPr>
          <a:xfrm>
            <a:off x="4546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3F44E842-E746-DA87-DF3D-A39D125D9243}"/>
              </a:ext>
            </a:extLst>
          </p:cNvPr>
          <p:cNvSpPr/>
          <p:nvPr/>
        </p:nvSpPr>
        <p:spPr>
          <a:xfrm>
            <a:off x="4546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619A92AE-62F8-F4E9-F61D-82C61215FA0A}"/>
              </a:ext>
            </a:extLst>
          </p:cNvPr>
          <p:cNvSpPr txBox="1"/>
          <p:nvPr/>
        </p:nvSpPr>
        <p:spPr>
          <a:xfrm>
            <a:off x="4572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3</a:t>
            </a:r>
          </a:p>
        </p:txBody>
      </p:sp>
      <p:sp>
        <p:nvSpPr>
          <p:cNvPr id="26" name="TextBox 25">
            <a:extLst>
              <a:ext uri="{FF2B5EF4-FFF2-40B4-BE49-F238E27FC236}">
                <a16:creationId xmlns:a16="http://schemas.microsoft.com/office/drawing/2014/main" id="{6433F6BE-E676-4167-681D-72422EF2B85A}"/>
              </a:ext>
            </a:extLst>
          </p:cNvPr>
          <p:cNvSpPr txBox="1"/>
          <p:nvPr/>
        </p:nvSpPr>
        <p:spPr>
          <a:xfrm>
            <a:off x="5054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Safety zone</a:t>
            </a:r>
          </a:p>
        </p:txBody>
      </p:sp>
      <p:sp>
        <p:nvSpPr>
          <p:cNvPr id="27" name="TextBox 26">
            <a:extLst>
              <a:ext uri="{FF2B5EF4-FFF2-40B4-BE49-F238E27FC236}">
                <a16:creationId xmlns:a16="http://schemas.microsoft.com/office/drawing/2014/main" id="{36C15F1A-DE95-B275-DED4-FAFC8AD8D2CC}"/>
              </a:ext>
            </a:extLst>
          </p:cNvPr>
          <p:cNvSpPr txBox="1"/>
          <p:nvPr/>
        </p:nvSpPr>
        <p:spPr>
          <a:xfrm>
            <a:off x="4648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Clear the test area</a:t>
            </a:r>
          </a:p>
          <a:p>
            <a:r>
              <a:rPr lang="en-GB" sz="800">
                <a:solidFill>
                  <a:srgbClr val="081F2F"/>
                </a:solidFill>
                <a:latin typeface="Arial" panose="020B0604020202020204" pitchFamily="34" charset="0"/>
              </a:rPr>
              <a:t>- Keep hands away from linkages</a:t>
            </a:r>
          </a:p>
          <a:p>
            <a:r>
              <a:rPr lang="en-GB" sz="800">
                <a:solidFill>
                  <a:srgbClr val="081F2F"/>
                </a:solidFill>
                <a:latin typeface="Arial" panose="020B0604020202020204" pitchFamily="34" charset="0"/>
              </a:rPr>
              <a:t>- Record results straight away</a:t>
            </a:r>
            <a:endParaRPr lang="en-AU" sz="800">
              <a:solidFill>
                <a:srgbClr val="081F2F"/>
              </a:solidFill>
              <a:latin typeface="Arial" panose="020B0604020202020204" pitchFamily="34" charset="0"/>
            </a:endParaRPr>
          </a:p>
        </p:txBody>
      </p:sp>
      <p:sp>
        <p:nvSpPr>
          <p:cNvPr id="28" name="Rectangle 27">
            <a:extLst>
              <a:ext uri="{FF2B5EF4-FFF2-40B4-BE49-F238E27FC236}">
                <a16:creationId xmlns:a16="http://schemas.microsoft.com/office/drawing/2014/main" id="{A00D700E-23D7-8B27-30B0-3EA5DDDB29AA}"/>
              </a:ext>
            </a:extLst>
          </p:cNvPr>
          <p:cNvSpPr/>
          <p:nvPr/>
        </p:nvSpPr>
        <p:spPr>
          <a:xfrm>
            <a:off x="355600" y="7404100"/>
            <a:ext cx="6146800" cy="1473200"/>
          </a:xfrm>
          <a:prstGeom prst="rect">
            <a:avLst/>
          </a:prstGeom>
          <a:solidFill>
            <a:srgbClr val="FFF4BF"/>
          </a:solidFill>
          <a:ln w="1778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C499297A-AD36-B3E5-0BF1-FD2BF1F4DA5D}"/>
              </a:ext>
            </a:extLst>
          </p:cNvPr>
          <p:cNvSpPr/>
          <p:nvPr/>
        </p:nvSpPr>
        <p:spPr>
          <a:xfrm>
            <a:off x="520700" y="7670800"/>
            <a:ext cx="469900" cy="469900"/>
          </a:xfrm>
          <a:prstGeom prst="ellipse">
            <a:avLst/>
          </a:prstGeom>
          <a:solidFill>
            <a:srgbClr val="F2C700"/>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322E615B-6E6E-114F-C550-B5FE2EA4BAA2}"/>
              </a:ext>
            </a:extLst>
          </p:cNvPr>
          <p:cNvSpPr txBox="1"/>
          <p:nvPr/>
        </p:nvSpPr>
        <p:spPr>
          <a:xfrm>
            <a:off x="571500" y="7747000"/>
            <a:ext cx="3556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OK</a:t>
            </a:r>
          </a:p>
        </p:txBody>
      </p:sp>
      <p:sp>
        <p:nvSpPr>
          <p:cNvPr id="31" name="TextBox 30">
            <a:extLst>
              <a:ext uri="{FF2B5EF4-FFF2-40B4-BE49-F238E27FC236}">
                <a16:creationId xmlns:a16="http://schemas.microsoft.com/office/drawing/2014/main" id="{857B8FEB-D093-1DF8-E4A4-67F3C0689B66}"/>
              </a:ext>
            </a:extLst>
          </p:cNvPr>
          <p:cNvSpPr txBox="1"/>
          <p:nvPr/>
        </p:nvSpPr>
        <p:spPr>
          <a:xfrm>
            <a:off x="1155700" y="7543800"/>
            <a:ext cx="4953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BEST PRACTICE STUDENT RESPONSE</a:t>
            </a:r>
          </a:p>
        </p:txBody>
      </p:sp>
      <p:sp>
        <p:nvSpPr>
          <p:cNvPr id="32" name="TextBox 31">
            <a:extLst>
              <a:ext uri="{FF2B5EF4-FFF2-40B4-BE49-F238E27FC236}">
                <a16:creationId xmlns:a16="http://schemas.microsoft.com/office/drawing/2014/main" id="{C0F7B7FF-E109-A295-7E33-68D89B21049B}"/>
              </a:ext>
            </a:extLst>
          </p:cNvPr>
          <p:cNvSpPr txBox="1"/>
          <p:nvPr/>
        </p:nvSpPr>
        <p:spPr>
          <a:xfrm>
            <a:off x="1155700" y="7835900"/>
            <a:ext cx="49530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To test the digger, we used the same start position each time and measured reach, lift and travel with a ruler. The test was fair because the base position and load were kept the same. We kept a clear safety zone during movement.</a:t>
            </a:r>
            <a:endParaRPr lang="en-AU" sz="800">
              <a:solidFill>
                <a:srgbClr val="081F2F"/>
              </a:solidFill>
              <a:latin typeface="Arial" panose="020B0604020202020204" pitchFamily="34" charset="0"/>
            </a:endParaRPr>
          </a:p>
        </p:txBody>
      </p:sp>
      <p:sp>
        <p:nvSpPr>
          <p:cNvPr id="33" name="Rectangle 32">
            <a:extLst>
              <a:ext uri="{FF2B5EF4-FFF2-40B4-BE49-F238E27FC236}">
                <a16:creationId xmlns:a16="http://schemas.microsoft.com/office/drawing/2014/main" id="{37B231FE-586F-6549-557A-E3139AE9D4D4}"/>
              </a:ext>
            </a:extLst>
          </p:cNvPr>
          <p:cNvSpPr/>
          <p:nvPr/>
        </p:nvSpPr>
        <p:spPr>
          <a:xfrm>
            <a:off x="355600" y="9448800"/>
            <a:ext cx="6146800" cy="533400"/>
          </a:xfrm>
          <a:prstGeom prst="rect">
            <a:avLst/>
          </a:prstGeom>
          <a:solidFill>
            <a:srgbClr val="FFFFFF"/>
          </a:solidFill>
          <a:ln w="1397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E01111C3-6B61-27E8-E698-E11EB45D5C25}"/>
              </a:ext>
            </a:extLst>
          </p:cNvPr>
          <p:cNvSpPr txBox="1"/>
          <p:nvPr/>
        </p:nvSpPr>
        <p:spPr>
          <a:xfrm>
            <a:off x="469900" y="9499600"/>
            <a:ext cx="1168400" cy="323165"/>
          </a:xfrm>
          <a:prstGeom prst="rect">
            <a:avLst/>
          </a:prstGeom>
          <a:noFill/>
        </p:spPr>
        <p:txBody>
          <a:bodyPr vert="horz" wrap="square" lIns="63500" tIns="38100" rIns="63500" bIns="38100" rtlCol="0">
            <a:spAutoFit/>
          </a:bodyPr>
          <a:lstStyle/>
          <a:p>
            <a:r>
              <a:rPr lang="en-AU" sz="800" b="1">
                <a:solidFill>
                  <a:srgbClr val="081F2F"/>
                </a:solidFill>
                <a:latin typeface="Arial" panose="020B0604020202020204" pitchFamily="34" charset="0"/>
              </a:rPr>
              <a:t>BEFORE YOU TICK DONE</a:t>
            </a:r>
          </a:p>
        </p:txBody>
      </p:sp>
      <p:sp>
        <p:nvSpPr>
          <p:cNvPr id="35" name="Rectangle 34">
            <a:extLst>
              <a:ext uri="{FF2B5EF4-FFF2-40B4-BE49-F238E27FC236}">
                <a16:creationId xmlns:a16="http://schemas.microsoft.com/office/drawing/2014/main" id="{874C3A3D-F976-8958-E14F-6CCCE85DEC51}"/>
              </a:ext>
            </a:extLst>
          </p:cNvPr>
          <p:cNvSpPr/>
          <p:nvPr/>
        </p:nvSpPr>
        <p:spPr>
          <a:xfrm>
            <a:off x="17399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a:extLst>
              <a:ext uri="{FF2B5EF4-FFF2-40B4-BE49-F238E27FC236}">
                <a16:creationId xmlns:a16="http://schemas.microsoft.com/office/drawing/2014/main" id="{2FAE0CF2-0322-4A75-0250-C6EA67DD640C}"/>
              </a:ext>
            </a:extLst>
          </p:cNvPr>
          <p:cNvSpPr txBox="1"/>
          <p:nvPr/>
        </p:nvSpPr>
        <p:spPr>
          <a:xfrm>
            <a:off x="18923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Fair setup</a:t>
            </a:r>
          </a:p>
        </p:txBody>
      </p:sp>
      <p:sp>
        <p:nvSpPr>
          <p:cNvPr id="37" name="Rectangle 36">
            <a:extLst>
              <a:ext uri="{FF2B5EF4-FFF2-40B4-BE49-F238E27FC236}">
                <a16:creationId xmlns:a16="http://schemas.microsoft.com/office/drawing/2014/main" id="{0775BC5C-C83D-5014-C6C2-5DDDA8C97663}"/>
              </a:ext>
            </a:extLst>
          </p:cNvPr>
          <p:cNvSpPr/>
          <p:nvPr/>
        </p:nvSpPr>
        <p:spPr>
          <a:xfrm>
            <a:off x="32385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2CB3B1A3-92C4-6607-4380-9E9BDA23A176}"/>
              </a:ext>
            </a:extLst>
          </p:cNvPr>
          <p:cNvSpPr txBox="1"/>
          <p:nvPr/>
        </p:nvSpPr>
        <p:spPr>
          <a:xfrm>
            <a:off x="33909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Measures named</a:t>
            </a:r>
          </a:p>
        </p:txBody>
      </p:sp>
      <p:sp>
        <p:nvSpPr>
          <p:cNvPr id="39" name="Rectangle 38">
            <a:extLst>
              <a:ext uri="{FF2B5EF4-FFF2-40B4-BE49-F238E27FC236}">
                <a16:creationId xmlns:a16="http://schemas.microsoft.com/office/drawing/2014/main" id="{0EA3282C-E8BF-13A7-8824-04124F6D0578}"/>
              </a:ext>
            </a:extLst>
          </p:cNvPr>
          <p:cNvSpPr/>
          <p:nvPr/>
        </p:nvSpPr>
        <p:spPr>
          <a:xfrm>
            <a:off x="47371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39D7F997-0182-E1DA-0D7E-D6271B019529}"/>
              </a:ext>
            </a:extLst>
          </p:cNvPr>
          <p:cNvSpPr txBox="1"/>
          <p:nvPr/>
        </p:nvSpPr>
        <p:spPr>
          <a:xfrm>
            <a:off x="48895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Safety clear</a:t>
            </a:r>
          </a:p>
        </p:txBody>
      </p:sp>
    </p:spTree>
    <p:extLst>
      <p:ext uri="{BB962C8B-B14F-4D97-AF65-F5344CB8AC3E}">
        <p14:creationId xmlns:p14="http://schemas.microsoft.com/office/powerpoint/2010/main" val="1643031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DD7FD4-F8AE-8360-4A3E-051D03E13DB8}"/>
              </a:ext>
            </a:extLst>
          </p:cNvPr>
          <p:cNvSpPr/>
          <p:nvPr/>
        </p:nvSpPr>
        <p:spPr>
          <a:xfrm>
            <a:off x="0" y="0"/>
            <a:ext cx="6858000" cy="812800"/>
          </a:xfrm>
          <a:prstGeom prst="rect">
            <a:avLst/>
          </a:prstGeom>
          <a:solidFill>
            <a:srgbClr val="081F2F"/>
          </a:solidFill>
          <a:ln w="0">
            <a:solidFill>
              <a:srgbClr val="081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BBA9D34D-147E-2994-206C-7794A45894D0}"/>
              </a:ext>
            </a:extLst>
          </p:cNvPr>
          <p:cNvSpPr/>
          <p:nvPr/>
        </p:nvSpPr>
        <p:spPr>
          <a:xfrm>
            <a:off x="355600" y="228600"/>
            <a:ext cx="889000" cy="228600"/>
          </a:xfrm>
          <a:prstGeom prst="rect">
            <a:avLst/>
          </a:prstGeom>
          <a:solidFill>
            <a:srgbClr val="0B2B3B"/>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906A0E4B-8DD7-7D74-4929-2D2CA1119895}"/>
              </a:ext>
            </a:extLst>
          </p:cNvPr>
          <p:cNvSpPr txBox="1"/>
          <p:nvPr/>
        </p:nvSpPr>
        <p:spPr>
          <a:xfrm>
            <a:off x="431800" y="254000"/>
            <a:ext cx="736600" cy="184666"/>
          </a:xfrm>
          <a:prstGeom prst="rect">
            <a:avLst/>
          </a:prstGeom>
          <a:noFill/>
        </p:spPr>
        <p:txBody>
          <a:bodyPr vert="horz" wrap="square" lIns="63500" tIns="38100" rIns="63500" bIns="38100" rtlCol="0">
            <a:spAutoFit/>
          </a:bodyPr>
          <a:lstStyle/>
          <a:p>
            <a:r>
              <a:rPr lang="en-AU" sz="700" b="1">
                <a:solidFill>
                  <a:srgbClr val="FFFFFF"/>
                </a:solidFill>
                <a:latin typeface="Arial" panose="020B0604020202020204" pitchFamily="34" charset="0"/>
              </a:rPr>
              <a:t>SECTION 10</a:t>
            </a:r>
          </a:p>
        </p:txBody>
      </p:sp>
      <p:sp>
        <p:nvSpPr>
          <p:cNvPr id="5" name="TextBox 4">
            <a:extLst>
              <a:ext uri="{FF2B5EF4-FFF2-40B4-BE49-F238E27FC236}">
                <a16:creationId xmlns:a16="http://schemas.microsoft.com/office/drawing/2014/main" id="{20D320D2-3862-2DEF-1FBF-AA5DA6730E35}"/>
              </a:ext>
            </a:extLst>
          </p:cNvPr>
          <p:cNvSpPr txBox="1"/>
          <p:nvPr/>
        </p:nvSpPr>
        <p:spPr>
          <a:xfrm>
            <a:off x="1422400" y="165100"/>
            <a:ext cx="3429000" cy="307777"/>
          </a:xfrm>
          <a:prstGeom prst="rect">
            <a:avLst/>
          </a:prstGeom>
          <a:noFill/>
        </p:spPr>
        <p:txBody>
          <a:bodyPr vert="horz" wrap="square" lIns="63500" tIns="38100" rIns="63500" bIns="38100" rtlCol="0">
            <a:spAutoFit/>
          </a:bodyPr>
          <a:lstStyle/>
          <a:p>
            <a:r>
              <a:rPr lang="en-AU" sz="1500" b="1">
                <a:solidFill>
                  <a:srgbClr val="FFFFFF"/>
                </a:solidFill>
                <a:latin typeface="Arial Narrow" panose="020B0606020202030204" pitchFamily="34" charset="0"/>
              </a:rPr>
              <a:t>BEST PRACTICE ANSWER</a:t>
            </a:r>
          </a:p>
        </p:txBody>
      </p:sp>
      <p:sp>
        <p:nvSpPr>
          <p:cNvPr id="6" name="Rectangle 5">
            <a:extLst>
              <a:ext uri="{FF2B5EF4-FFF2-40B4-BE49-F238E27FC236}">
                <a16:creationId xmlns:a16="http://schemas.microsoft.com/office/drawing/2014/main" id="{1821636B-EDE5-CBA0-2EF7-5B4C58A9471E}"/>
              </a:ext>
            </a:extLst>
          </p:cNvPr>
          <p:cNvSpPr/>
          <p:nvPr/>
        </p:nvSpPr>
        <p:spPr>
          <a:xfrm>
            <a:off x="5207000" y="165100"/>
            <a:ext cx="1168400" cy="3556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B05C14FE-F9D7-1198-1FAA-8443466B3768}"/>
              </a:ext>
            </a:extLst>
          </p:cNvPr>
          <p:cNvSpPr txBox="1"/>
          <p:nvPr/>
        </p:nvSpPr>
        <p:spPr>
          <a:xfrm>
            <a:off x="5257800" y="228600"/>
            <a:ext cx="1066800" cy="169277"/>
          </a:xfrm>
          <a:prstGeom prst="rect">
            <a:avLst/>
          </a:prstGeom>
          <a:noFill/>
        </p:spPr>
        <p:txBody>
          <a:bodyPr vert="horz" wrap="square" lIns="63500" tIns="38100" rIns="63500" bIns="38100" rtlCol="0">
            <a:spAutoFit/>
          </a:bodyPr>
          <a:lstStyle/>
          <a:p>
            <a:r>
              <a:rPr lang="en-AU" sz="600" b="1">
                <a:solidFill>
                  <a:srgbClr val="081F2F"/>
                </a:solidFill>
                <a:latin typeface="Arial" panose="020B0604020202020204" pitchFamily="34" charset="0"/>
              </a:rPr>
              <a:t>YEAR 9 ENGINEERING</a:t>
            </a:r>
          </a:p>
        </p:txBody>
      </p:sp>
      <p:sp>
        <p:nvSpPr>
          <p:cNvPr id="8" name="Rectangle 7">
            <a:extLst>
              <a:ext uri="{FF2B5EF4-FFF2-40B4-BE49-F238E27FC236}">
                <a16:creationId xmlns:a16="http://schemas.microsoft.com/office/drawing/2014/main" id="{CEC069CD-54EE-CEBE-7875-6ECC2AF83914}"/>
              </a:ext>
            </a:extLst>
          </p:cNvPr>
          <p:cNvSpPr/>
          <p:nvPr/>
        </p:nvSpPr>
        <p:spPr>
          <a:xfrm>
            <a:off x="0" y="812800"/>
            <a:ext cx="6858000" cy="76200"/>
          </a:xfrm>
          <a:prstGeom prst="rect">
            <a:avLst/>
          </a:prstGeom>
          <a:solidFill>
            <a:srgbClr val="F2C700"/>
          </a:solidFill>
          <a:ln w="0">
            <a:solidFill>
              <a:srgbClr val="F2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12124DA2-2868-4BBA-E047-174559D7E5FB}"/>
              </a:ext>
            </a:extLst>
          </p:cNvPr>
          <p:cNvSpPr txBox="1"/>
          <p:nvPr/>
        </p:nvSpPr>
        <p:spPr>
          <a:xfrm>
            <a:off x="355600" y="1041400"/>
            <a:ext cx="6146800" cy="353943"/>
          </a:xfrm>
          <a:prstGeom prst="rect">
            <a:avLst/>
          </a:prstGeom>
          <a:noFill/>
        </p:spPr>
        <p:txBody>
          <a:bodyPr vert="horz" wrap="square" lIns="63500" tIns="38100" rIns="63500" bIns="38100" rtlCol="0">
            <a:spAutoFit/>
          </a:bodyPr>
          <a:lstStyle/>
          <a:p>
            <a:r>
              <a:rPr lang="en-AU" b="1">
                <a:solidFill>
                  <a:srgbClr val="081F2F"/>
                </a:solidFill>
                <a:latin typeface="Arial Narrow" panose="020B0606020202030204" pitchFamily="34" charset="0"/>
              </a:rPr>
              <a:t>RESULTS AND DATA</a:t>
            </a:r>
          </a:p>
        </p:txBody>
      </p:sp>
      <p:sp>
        <p:nvSpPr>
          <p:cNvPr id="10" name="TextBox 9">
            <a:extLst>
              <a:ext uri="{FF2B5EF4-FFF2-40B4-BE49-F238E27FC236}">
                <a16:creationId xmlns:a16="http://schemas.microsoft.com/office/drawing/2014/main" id="{9805CE20-6743-7C16-F057-7CE2D06EE82A}"/>
              </a:ext>
            </a:extLst>
          </p:cNvPr>
          <p:cNvSpPr txBox="1"/>
          <p:nvPr/>
        </p:nvSpPr>
        <p:spPr>
          <a:xfrm>
            <a:off x="355600" y="1409700"/>
            <a:ext cx="6146800" cy="200055"/>
          </a:xfrm>
          <a:prstGeom prst="rect">
            <a:avLst/>
          </a:prstGeom>
          <a:noFill/>
        </p:spPr>
        <p:txBody>
          <a:bodyPr vert="horz" wrap="square" lIns="63500" tIns="38100" rIns="63500" bIns="38100" rtlCol="0">
            <a:spAutoFit/>
          </a:bodyPr>
          <a:lstStyle/>
          <a:p>
            <a:r>
              <a:rPr lang="en-GB" sz="800">
                <a:solidFill>
                  <a:srgbClr val="5B6B7A"/>
                </a:solidFill>
                <a:latin typeface="Arial" panose="020B0604020202020204" pitchFamily="34" charset="0"/>
              </a:rPr>
              <a:t>A strong answer reports measured performance and interprets reach, lift, movement, MA, VR and efficiency.</a:t>
            </a:r>
            <a:endParaRPr lang="en-AU" sz="800">
              <a:solidFill>
                <a:srgbClr val="5B6B7A"/>
              </a:solidFill>
              <a:latin typeface="Arial" panose="020B0604020202020204" pitchFamily="34" charset="0"/>
            </a:endParaRPr>
          </a:p>
        </p:txBody>
      </p:sp>
      <p:pic>
        <p:nvPicPr>
          <p:cNvPr id="12" name="Picture 11">
            <a:extLst>
              <a:ext uri="{FF2B5EF4-FFF2-40B4-BE49-F238E27FC236}">
                <a16:creationId xmlns:a16="http://schemas.microsoft.com/office/drawing/2014/main" id="{43EC3C20-A201-3C1B-D0F3-14066B7D701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38867" y="1752600"/>
            <a:ext cx="2980267" cy="2235200"/>
          </a:xfrm>
          <a:prstGeom prst="rect">
            <a:avLst/>
          </a:prstGeom>
        </p:spPr>
      </p:pic>
      <p:sp>
        <p:nvSpPr>
          <p:cNvPr id="13" name="Rectangle 12">
            <a:extLst>
              <a:ext uri="{FF2B5EF4-FFF2-40B4-BE49-F238E27FC236}">
                <a16:creationId xmlns:a16="http://schemas.microsoft.com/office/drawing/2014/main" id="{BD0193B6-2B6C-4AD6-9BD4-2D0926BE356A}"/>
              </a:ext>
            </a:extLst>
          </p:cNvPr>
          <p:cNvSpPr/>
          <p:nvPr/>
        </p:nvSpPr>
        <p:spPr>
          <a:xfrm>
            <a:off x="355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01738EBC-5E97-1DF2-0140-BA333F5FCDD2}"/>
              </a:ext>
            </a:extLst>
          </p:cNvPr>
          <p:cNvSpPr/>
          <p:nvPr/>
        </p:nvSpPr>
        <p:spPr>
          <a:xfrm>
            <a:off x="355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28EA9ED4-2A55-0EB8-7744-A4E0DE109AC9}"/>
              </a:ext>
            </a:extLst>
          </p:cNvPr>
          <p:cNvSpPr txBox="1"/>
          <p:nvPr/>
        </p:nvSpPr>
        <p:spPr>
          <a:xfrm>
            <a:off x="381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1</a:t>
            </a:r>
          </a:p>
        </p:txBody>
      </p:sp>
      <p:sp>
        <p:nvSpPr>
          <p:cNvPr id="16" name="TextBox 15">
            <a:extLst>
              <a:ext uri="{FF2B5EF4-FFF2-40B4-BE49-F238E27FC236}">
                <a16:creationId xmlns:a16="http://schemas.microsoft.com/office/drawing/2014/main" id="{FCC69848-8F4C-887D-CEDA-9F9AEBE8103F}"/>
              </a:ext>
            </a:extLst>
          </p:cNvPr>
          <p:cNvSpPr txBox="1"/>
          <p:nvPr/>
        </p:nvSpPr>
        <p:spPr>
          <a:xfrm>
            <a:off x="863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Data table</a:t>
            </a:r>
          </a:p>
        </p:txBody>
      </p:sp>
      <p:sp>
        <p:nvSpPr>
          <p:cNvPr id="17" name="TextBox 16">
            <a:extLst>
              <a:ext uri="{FF2B5EF4-FFF2-40B4-BE49-F238E27FC236}">
                <a16:creationId xmlns:a16="http://schemas.microsoft.com/office/drawing/2014/main" id="{EC400B02-096E-C4DD-A1AE-E784A398BB49}"/>
              </a:ext>
            </a:extLst>
          </p:cNvPr>
          <p:cNvSpPr txBox="1"/>
          <p:nvPr/>
        </p:nvSpPr>
        <p:spPr>
          <a:xfrm>
            <a:off x="457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Record reach and lift results</a:t>
            </a:r>
          </a:p>
          <a:p>
            <a:r>
              <a:rPr lang="en-GB" sz="800">
                <a:solidFill>
                  <a:srgbClr val="081F2F"/>
                </a:solidFill>
                <a:latin typeface="Arial" panose="020B0604020202020204" pitchFamily="34" charset="0"/>
              </a:rPr>
              <a:t>- Record input and output travel</a:t>
            </a:r>
          </a:p>
          <a:p>
            <a:r>
              <a:rPr lang="en-GB" sz="800">
                <a:solidFill>
                  <a:srgbClr val="081F2F"/>
                </a:solidFill>
                <a:latin typeface="Arial" panose="020B0604020202020204" pitchFamily="34" charset="0"/>
              </a:rPr>
              <a:t>- Use clear headings and units</a:t>
            </a:r>
            <a:endParaRPr lang="en-AU" sz="800">
              <a:solidFill>
                <a:srgbClr val="081F2F"/>
              </a:solidFill>
              <a:latin typeface="Arial" panose="020B0604020202020204" pitchFamily="34" charset="0"/>
            </a:endParaRPr>
          </a:p>
        </p:txBody>
      </p:sp>
      <p:sp>
        <p:nvSpPr>
          <p:cNvPr id="18" name="Rectangle 17">
            <a:extLst>
              <a:ext uri="{FF2B5EF4-FFF2-40B4-BE49-F238E27FC236}">
                <a16:creationId xmlns:a16="http://schemas.microsoft.com/office/drawing/2014/main" id="{87C8C3E2-D83E-8207-336B-1DC9E59A6362}"/>
              </a:ext>
            </a:extLst>
          </p:cNvPr>
          <p:cNvSpPr/>
          <p:nvPr/>
        </p:nvSpPr>
        <p:spPr>
          <a:xfrm>
            <a:off x="24511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B26EE500-220E-0805-CB51-3621C0878853}"/>
              </a:ext>
            </a:extLst>
          </p:cNvPr>
          <p:cNvSpPr/>
          <p:nvPr/>
        </p:nvSpPr>
        <p:spPr>
          <a:xfrm>
            <a:off x="24511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356BE34E-9D1B-5526-0088-7FF736F8D6D0}"/>
              </a:ext>
            </a:extLst>
          </p:cNvPr>
          <p:cNvSpPr txBox="1"/>
          <p:nvPr/>
        </p:nvSpPr>
        <p:spPr>
          <a:xfrm>
            <a:off x="24765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2</a:t>
            </a:r>
          </a:p>
        </p:txBody>
      </p:sp>
      <p:sp>
        <p:nvSpPr>
          <p:cNvPr id="21" name="TextBox 20">
            <a:extLst>
              <a:ext uri="{FF2B5EF4-FFF2-40B4-BE49-F238E27FC236}">
                <a16:creationId xmlns:a16="http://schemas.microsoft.com/office/drawing/2014/main" id="{F479467C-A7DE-1633-7FD4-C95FED8A104C}"/>
              </a:ext>
            </a:extLst>
          </p:cNvPr>
          <p:cNvSpPr txBox="1"/>
          <p:nvPr/>
        </p:nvSpPr>
        <p:spPr>
          <a:xfrm>
            <a:off x="29591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Performance</a:t>
            </a:r>
          </a:p>
        </p:txBody>
      </p:sp>
      <p:sp>
        <p:nvSpPr>
          <p:cNvPr id="22" name="TextBox 21">
            <a:extLst>
              <a:ext uri="{FF2B5EF4-FFF2-40B4-BE49-F238E27FC236}">
                <a16:creationId xmlns:a16="http://schemas.microsoft.com/office/drawing/2014/main" id="{D9D5AACF-4A63-E6F7-C7CC-95C22A27F4E4}"/>
              </a:ext>
            </a:extLst>
          </p:cNvPr>
          <p:cNvSpPr txBox="1"/>
          <p:nvPr/>
        </p:nvSpPr>
        <p:spPr>
          <a:xfrm>
            <a:off x="25527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Maximum lift</a:t>
            </a:r>
          </a:p>
          <a:p>
            <a:r>
              <a:rPr lang="en-GB" sz="800">
                <a:solidFill>
                  <a:srgbClr val="081F2F"/>
                </a:solidFill>
                <a:latin typeface="Arial" panose="020B0604020202020204" pitchFamily="34" charset="0"/>
              </a:rPr>
              <a:t>- Reach result</a:t>
            </a:r>
          </a:p>
          <a:p>
            <a:r>
              <a:rPr lang="en-GB" sz="800">
                <a:solidFill>
                  <a:srgbClr val="081F2F"/>
                </a:solidFill>
                <a:latin typeface="Arial" panose="020B0604020202020204" pitchFamily="34" charset="0"/>
              </a:rPr>
              <a:t>- Smooth movement observations</a:t>
            </a:r>
            <a:endParaRPr lang="en-AU" sz="800">
              <a:solidFill>
                <a:srgbClr val="081F2F"/>
              </a:solidFill>
              <a:latin typeface="Arial" panose="020B0604020202020204" pitchFamily="34" charset="0"/>
            </a:endParaRPr>
          </a:p>
        </p:txBody>
      </p:sp>
      <p:sp>
        <p:nvSpPr>
          <p:cNvPr id="23" name="Rectangle 22">
            <a:extLst>
              <a:ext uri="{FF2B5EF4-FFF2-40B4-BE49-F238E27FC236}">
                <a16:creationId xmlns:a16="http://schemas.microsoft.com/office/drawing/2014/main" id="{E2BB09BB-EEBA-BE24-25DC-77115928A50A}"/>
              </a:ext>
            </a:extLst>
          </p:cNvPr>
          <p:cNvSpPr/>
          <p:nvPr/>
        </p:nvSpPr>
        <p:spPr>
          <a:xfrm>
            <a:off x="4546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A5625144-5313-97BE-00B1-AAC3AA92F49D}"/>
              </a:ext>
            </a:extLst>
          </p:cNvPr>
          <p:cNvSpPr/>
          <p:nvPr/>
        </p:nvSpPr>
        <p:spPr>
          <a:xfrm>
            <a:off x="4546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A784E7C0-9063-C265-3311-8387293A28E4}"/>
              </a:ext>
            </a:extLst>
          </p:cNvPr>
          <p:cNvSpPr txBox="1"/>
          <p:nvPr/>
        </p:nvSpPr>
        <p:spPr>
          <a:xfrm>
            <a:off x="4572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3</a:t>
            </a:r>
          </a:p>
        </p:txBody>
      </p:sp>
      <p:sp>
        <p:nvSpPr>
          <p:cNvPr id="26" name="TextBox 25">
            <a:extLst>
              <a:ext uri="{FF2B5EF4-FFF2-40B4-BE49-F238E27FC236}">
                <a16:creationId xmlns:a16="http://schemas.microsoft.com/office/drawing/2014/main" id="{3BE8096A-9B18-8C3A-4564-FDFDD93696F2}"/>
              </a:ext>
            </a:extLst>
          </p:cNvPr>
          <p:cNvSpPr txBox="1"/>
          <p:nvPr/>
        </p:nvSpPr>
        <p:spPr>
          <a:xfrm>
            <a:off x="5054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Calculations</a:t>
            </a:r>
          </a:p>
        </p:txBody>
      </p:sp>
      <p:sp>
        <p:nvSpPr>
          <p:cNvPr id="27" name="TextBox 26">
            <a:extLst>
              <a:ext uri="{FF2B5EF4-FFF2-40B4-BE49-F238E27FC236}">
                <a16:creationId xmlns:a16="http://schemas.microsoft.com/office/drawing/2014/main" id="{20018125-22B1-DB2A-FBA0-1025B2DC1F13}"/>
              </a:ext>
            </a:extLst>
          </p:cNvPr>
          <p:cNvSpPr txBox="1"/>
          <p:nvPr/>
        </p:nvSpPr>
        <p:spPr>
          <a:xfrm>
            <a:off x="4648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Mechanical advantage</a:t>
            </a:r>
          </a:p>
          <a:p>
            <a:r>
              <a:rPr lang="en-GB" sz="800">
                <a:solidFill>
                  <a:srgbClr val="081F2F"/>
                </a:solidFill>
                <a:latin typeface="Arial" panose="020B0604020202020204" pitchFamily="34" charset="0"/>
              </a:rPr>
              <a:t>- Velocity ratio</a:t>
            </a:r>
          </a:p>
          <a:p>
            <a:r>
              <a:rPr lang="en-GB" sz="800">
                <a:solidFill>
                  <a:srgbClr val="081F2F"/>
                </a:solidFill>
                <a:latin typeface="Arial" panose="020B0604020202020204" pitchFamily="34" charset="0"/>
              </a:rPr>
              <a:t>- Efficiency or losses</a:t>
            </a:r>
            <a:endParaRPr lang="en-AU" sz="800">
              <a:solidFill>
                <a:srgbClr val="081F2F"/>
              </a:solidFill>
              <a:latin typeface="Arial" panose="020B0604020202020204" pitchFamily="34" charset="0"/>
            </a:endParaRPr>
          </a:p>
        </p:txBody>
      </p:sp>
      <p:sp>
        <p:nvSpPr>
          <p:cNvPr id="28" name="Rectangle 27">
            <a:extLst>
              <a:ext uri="{FF2B5EF4-FFF2-40B4-BE49-F238E27FC236}">
                <a16:creationId xmlns:a16="http://schemas.microsoft.com/office/drawing/2014/main" id="{C369E470-4394-D74E-DE10-F5C21BED8EDB}"/>
              </a:ext>
            </a:extLst>
          </p:cNvPr>
          <p:cNvSpPr/>
          <p:nvPr/>
        </p:nvSpPr>
        <p:spPr>
          <a:xfrm>
            <a:off x="355600" y="7404100"/>
            <a:ext cx="6146800" cy="1473200"/>
          </a:xfrm>
          <a:prstGeom prst="rect">
            <a:avLst/>
          </a:prstGeom>
          <a:solidFill>
            <a:srgbClr val="FFF4BF"/>
          </a:solidFill>
          <a:ln w="1778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9E0CE8A5-AD3F-11B1-5E49-8861233124B7}"/>
              </a:ext>
            </a:extLst>
          </p:cNvPr>
          <p:cNvSpPr/>
          <p:nvPr/>
        </p:nvSpPr>
        <p:spPr>
          <a:xfrm>
            <a:off x="520700" y="7670800"/>
            <a:ext cx="469900" cy="469900"/>
          </a:xfrm>
          <a:prstGeom prst="ellipse">
            <a:avLst/>
          </a:prstGeom>
          <a:solidFill>
            <a:srgbClr val="F2C700"/>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09D3181B-19F0-2DF1-45C1-FC68E79C9646}"/>
              </a:ext>
            </a:extLst>
          </p:cNvPr>
          <p:cNvSpPr txBox="1"/>
          <p:nvPr/>
        </p:nvSpPr>
        <p:spPr>
          <a:xfrm>
            <a:off x="571500" y="7747000"/>
            <a:ext cx="3556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OK</a:t>
            </a:r>
          </a:p>
        </p:txBody>
      </p:sp>
      <p:sp>
        <p:nvSpPr>
          <p:cNvPr id="31" name="TextBox 30">
            <a:extLst>
              <a:ext uri="{FF2B5EF4-FFF2-40B4-BE49-F238E27FC236}">
                <a16:creationId xmlns:a16="http://schemas.microsoft.com/office/drawing/2014/main" id="{06B250C7-F49C-69D8-2680-7E2BDF3CBA7F}"/>
              </a:ext>
            </a:extLst>
          </p:cNvPr>
          <p:cNvSpPr txBox="1"/>
          <p:nvPr/>
        </p:nvSpPr>
        <p:spPr>
          <a:xfrm>
            <a:off x="1155700" y="7543800"/>
            <a:ext cx="4953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BEST PRACTICE STUDENT RESPONSE</a:t>
            </a:r>
          </a:p>
        </p:txBody>
      </p:sp>
      <p:sp>
        <p:nvSpPr>
          <p:cNvPr id="32" name="TextBox 31">
            <a:extLst>
              <a:ext uri="{FF2B5EF4-FFF2-40B4-BE49-F238E27FC236}">
                <a16:creationId xmlns:a16="http://schemas.microsoft.com/office/drawing/2014/main" id="{607088A9-8E04-8391-CBF4-45B3FC5343CD}"/>
              </a:ext>
            </a:extLst>
          </p:cNvPr>
          <p:cNvSpPr txBox="1"/>
          <p:nvPr/>
        </p:nvSpPr>
        <p:spPr>
          <a:xfrm>
            <a:off x="1155700" y="7835900"/>
            <a:ext cx="49530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The results table shows our measured reach, lift and input/output travel. The maximum lift was recorded during a controlled test. The MA and VR results show the trade-off between force and movement, with losses caused by friction, flex and small leaks.</a:t>
            </a:r>
            <a:endParaRPr lang="en-AU" sz="800">
              <a:solidFill>
                <a:srgbClr val="081F2F"/>
              </a:solidFill>
              <a:latin typeface="Arial" panose="020B0604020202020204" pitchFamily="34" charset="0"/>
            </a:endParaRPr>
          </a:p>
        </p:txBody>
      </p:sp>
      <p:sp>
        <p:nvSpPr>
          <p:cNvPr id="33" name="Rectangle 32">
            <a:extLst>
              <a:ext uri="{FF2B5EF4-FFF2-40B4-BE49-F238E27FC236}">
                <a16:creationId xmlns:a16="http://schemas.microsoft.com/office/drawing/2014/main" id="{3F0BF956-FA33-07EE-6109-190DCBFBBC04}"/>
              </a:ext>
            </a:extLst>
          </p:cNvPr>
          <p:cNvSpPr/>
          <p:nvPr/>
        </p:nvSpPr>
        <p:spPr>
          <a:xfrm>
            <a:off x="355600" y="9448800"/>
            <a:ext cx="6146800" cy="533400"/>
          </a:xfrm>
          <a:prstGeom prst="rect">
            <a:avLst/>
          </a:prstGeom>
          <a:solidFill>
            <a:srgbClr val="FFFFFF"/>
          </a:solidFill>
          <a:ln w="1397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31CB5E4F-01E9-E196-7391-A490436FDB03}"/>
              </a:ext>
            </a:extLst>
          </p:cNvPr>
          <p:cNvSpPr txBox="1"/>
          <p:nvPr/>
        </p:nvSpPr>
        <p:spPr>
          <a:xfrm>
            <a:off x="469900" y="9499600"/>
            <a:ext cx="1168400" cy="323165"/>
          </a:xfrm>
          <a:prstGeom prst="rect">
            <a:avLst/>
          </a:prstGeom>
          <a:noFill/>
        </p:spPr>
        <p:txBody>
          <a:bodyPr vert="horz" wrap="square" lIns="63500" tIns="38100" rIns="63500" bIns="38100" rtlCol="0">
            <a:spAutoFit/>
          </a:bodyPr>
          <a:lstStyle/>
          <a:p>
            <a:r>
              <a:rPr lang="en-AU" sz="800" b="1">
                <a:solidFill>
                  <a:srgbClr val="081F2F"/>
                </a:solidFill>
                <a:latin typeface="Arial" panose="020B0604020202020204" pitchFamily="34" charset="0"/>
              </a:rPr>
              <a:t>BEFORE YOU TICK DONE</a:t>
            </a:r>
          </a:p>
        </p:txBody>
      </p:sp>
      <p:sp>
        <p:nvSpPr>
          <p:cNvPr id="35" name="Rectangle 34">
            <a:extLst>
              <a:ext uri="{FF2B5EF4-FFF2-40B4-BE49-F238E27FC236}">
                <a16:creationId xmlns:a16="http://schemas.microsoft.com/office/drawing/2014/main" id="{00C2087D-8F7C-7693-E9D1-16DE627D7A08}"/>
              </a:ext>
            </a:extLst>
          </p:cNvPr>
          <p:cNvSpPr/>
          <p:nvPr/>
        </p:nvSpPr>
        <p:spPr>
          <a:xfrm>
            <a:off x="17399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a:extLst>
              <a:ext uri="{FF2B5EF4-FFF2-40B4-BE49-F238E27FC236}">
                <a16:creationId xmlns:a16="http://schemas.microsoft.com/office/drawing/2014/main" id="{351F21D9-54D9-1E6C-8880-8EEAE6E57B4F}"/>
              </a:ext>
            </a:extLst>
          </p:cNvPr>
          <p:cNvSpPr txBox="1"/>
          <p:nvPr/>
        </p:nvSpPr>
        <p:spPr>
          <a:xfrm>
            <a:off x="18923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Data table</a:t>
            </a:r>
          </a:p>
        </p:txBody>
      </p:sp>
      <p:sp>
        <p:nvSpPr>
          <p:cNvPr id="37" name="Rectangle 36">
            <a:extLst>
              <a:ext uri="{FF2B5EF4-FFF2-40B4-BE49-F238E27FC236}">
                <a16:creationId xmlns:a16="http://schemas.microsoft.com/office/drawing/2014/main" id="{E1592416-7344-FD00-1C45-50CF9BFB2C7D}"/>
              </a:ext>
            </a:extLst>
          </p:cNvPr>
          <p:cNvSpPr/>
          <p:nvPr/>
        </p:nvSpPr>
        <p:spPr>
          <a:xfrm>
            <a:off x="32385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C834FD6F-FAAB-7FAD-EC5C-A935E9D90F4C}"/>
              </a:ext>
            </a:extLst>
          </p:cNvPr>
          <p:cNvSpPr txBox="1"/>
          <p:nvPr/>
        </p:nvSpPr>
        <p:spPr>
          <a:xfrm>
            <a:off x="33909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Units used</a:t>
            </a:r>
          </a:p>
        </p:txBody>
      </p:sp>
      <p:sp>
        <p:nvSpPr>
          <p:cNvPr id="39" name="Rectangle 38">
            <a:extLst>
              <a:ext uri="{FF2B5EF4-FFF2-40B4-BE49-F238E27FC236}">
                <a16:creationId xmlns:a16="http://schemas.microsoft.com/office/drawing/2014/main" id="{66F7283A-2162-DCA6-5299-34365DED75E5}"/>
              </a:ext>
            </a:extLst>
          </p:cNvPr>
          <p:cNvSpPr/>
          <p:nvPr/>
        </p:nvSpPr>
        <p:spPr>
          <a:xfrm>
            <a:off x="47371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500D0E03-EA8B-760B-5DBC-A8B74BE45EEC}"/>
              </a:ext>
            </a:extLst>
          </p:cNvPr>
          <p:cNvSpPr txBox="1"/>
          <p:nvPr/>
        </p:nvSpPr>
        <p:spPr>
          <a:xfrm>
            <a:off x="48895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Results interpreted</a:t>
            </a:r>
          </a:p>
        </p:txBody>
      </p:sp>
    </p:spTree>
    <p:extLst>
      <p:ext uri="{BB962C8B-B14F-4D97-AF65-F5344CB8AC3E}">
        <p14:creationId xmlns:p14="http://schemas.microsoft.com/office/powerpoint/2010/main" val="1221647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2EA6B8-5369-A018-0DC9-093D245B3BCF}"/>
              </a:ext>
            </a:extLst>
          </p:cNvPr>
          <p:cNvSpPr/>
          <p:nvPr/>
        </p:nvSpPr>
        <p:spPr>
          <a:xfrm>
            <a:off x="0" y="0"/>
            <a:ext cx="6858000" cy="812800"/>
          </a:xfrm>
          <a:prstGeom prst="rect">
            <a:avLst/>
          </a:prstGeom>
          <a:solidFill>
            <a:srgbClr val="081F2F"/>
          </a:solidFill>
          <a:ln w="0">
            <a:solidFill>
              <a:srgbClr val="081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26310F75-DA20-B96F-B28B-26AA194C2EA3}"/>
              </a:ext>
            </a:extLst>
          </p:cNvPr>
          <p:cNvSpPr/>
          <p:nvPr/>
        </p:nvSpPr>
        <p:spPr>
          <a:xfrm>
            <a:off x="355600" y="228600"/>
            <a:ext cx="889000" cy="228600"/>
          </a:xfrm>
          <a:prstGeom prst="rect">
            <a:avLst/>
          </a:prstGeom>
          <a:solidFill>
            <a:srgbClr val="0B2B3B"/>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52CA6026-8261-E407-C7E5-2EA4E49C5161}"/>
              </a:ext>
            </a:extLst>
          </p:cNvPr>
          <p:cNvSpPr txBox="1"/>
          <p:nvPr/>
        </p:nvSpPr>
        <p:spPr>
          <a:xfrm>
            <a:off x="431800" y="254000"/>
            <a:ext cx="736600" cy="184666"/>
          </a:xfrm>
          <a:prstGeom prst="rect">
            <a:avLst/>
          </a:prstGeom>
          <a:noFill/>
        </p:spPr>
        <p:txBody>
          <a:bodyPr vert="horz" wrap="square" lIns="63500" tIns="38100" rIns="63500" bIns="38100" rtlCol="0">
            <a:spAutoFit/>
          </a:bodyPr>
          <a:lstStyle/>
          <a:p>
            <a:r>
              <a:rPr lang="en-AU" sz="700" b="1">
                <a:solidFill>
                  <a:srgbClr val="FFFFFF"/>
                </a:solidFill>
                <a:latin typeface="Arial" panose="020B0604020202020204" pitchFamily="34" charset="0"/>
              </a:rPr>
              <a:t>SECTION 11</a:t>
            </a:r>
          </a:p>
        </p:txBody>
      </p:sp>
      <p:sp>
        <p:nvSpPr>
          <p:cNvPr id="5" name="TextBox 4">
            <a:extLst>
              <a:ext uri="{FF2B5EF4-FFF2-40B4-BE49-F238E27FC236}">
                <a16:creationId xmlns:a16="http://schemas.microsoft.com/office/drawing/2014/main" id="{4FBBA6D9-0FB8-038E-D458-0F4F90BE4318}"/>
              </a:ext>
            </a:extLst>
          </p:cNvPr>
          <p:cNvSpPr txBox="1"/>
          <p:nvPr/>
        </p:nvSpPr>
        <p:spPr>
          <a:xfrm>
            <a:off x="1422400" y="165100"/>
            <a:ext cx="3429000" cy="307777"/>
          </a:xfrm>
          <a:prstGeom prst="rect">
            <a:avLst/>
          </a:prstGeom>
          <a:noFill/>
        </p:spPr>
        <p:txBody>
          <a:bodyPr vert="horz" wrap="square" lIns="63500" tIns="38100" rIns="63500" bIns="38100" rtlCol="0">
            <a:spAutoFit/>
          </a:bodyPr>
          <a:lstStyle/>
          <a:p>
            <a:r>
              <a:rPr lang="en-AU" sz="1500" b="1">
                <a:solidFill>
                  <a:srgbClr val="FFFFFF"/>
                </a:solidFill>
                <a:latin typeface="Arial Narrow" panose="020B0606020202030204" pitchFamily="34" charset="0"/>
              </a:rPr>
              <a:t>BEST PRACTICE ANSWER</a:t>
            </a:r>
          </a:p>
        </p:txBody>
      </p:sp>
      <p:sp>
        <p:nvSpPr>
          <p:cNvPr id="6" name="Rectangle 5">
            <a:extLst>
              <a:ext uri="{FF2B5EF4-FFF2-40B4-BE49-F238E27FC236}">
                <a16:creationId xmlns:a16="http://schemas.microsoft.com/office/drawing/2014/main" id="{E6E1C4FA-E663-2B70-3A5E-C362E828272C}"/>
              </a:ext>
            </a:extLst>
          </p:cNvPr>
          <p:cNvSpPr/>
          <p:nvPr/>
        </p:nvSpPr>
        <p:spPr>
          <a:xfrm>
            <a:off x="5207000" y="165100"/>
            <a:ext cx="1168400" cy="3556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7F7B45C0-08F0-839E-61EC-98A441CD4222}"/>
              </a:ext>
            </a:extLst>
          </p:cNvPr>
          <p:cNvSpPr txBox="1"/>
          <p:nvPr/>
        </p:nvSpPr>
        <p:spPr>
          <a:xfrm>
            <a:off x="5257800" y="228600"/>
            <a:ext cx="1066800" cy="169277"/>
          </a:xfrm>
          <a:prstGeom prst="rect">
            <a:avLst/>
          </a:prstGeom>
          <a:noFill/>
        </p:spPr>
        <p:txBody>
          <a:bodyPr vert="horz" wrap="square" lIns="63500" tIns="38100" rIns="63500" bIns="38100" rtlCol="0">
            <a:spAutoFit/>
          </a:bodyPr>
          <a:lstStyle/>
          <a:p>
            <a:r>
              <a:rPr lang="en-AU" sz="600" b="1">
                <a:solidFill>
                  <a:srgbClr val="081F2F"/>
                </a:solidFill>
                <a:latin typeface="Arial" panose="020B0604020202020204" pitchFamily="34" charset="0"/>
              </a:rPr>
              <a:t>YEAR 9 ENGINEERING</a:t>
            </a:r>
          </a:p>
        </p:txBody>
      </p:sp>
      <p:sp>
        <p:nvSpPr>
          <p:cNvPr id="8" name="Rectangle 7">
            <a:extLst>
              <a:ext uri="{FF2B5EF4-FFF2-40B4-BE49-F238E27FC236}">
                <a16:creationId xmlns:a16="http://schemas.microsoft.com/office/drawing/2014/main" id="{A26A59B9-D6D1-AECB-DA33-96559431498A}"/>
              </a:ext>
            </a:extLst>
          </p:cNvPr>
          <p:cNvSpPr/>
          <p:nvPr/>
        </p:nvSpPr>
        <p:spPr>
          <a:xfrm>
            <a:off x="0" y="812800"/>
            <a:ext cx="6858000" cy="76200"/>
          </a:xfrm>
          <a:prstGeom prst="rect">
            <a:avLst/>
          </a:prstGeom>
          <a:solidFill>
            <a:srgbClr val="F2C700"/>
          </a:solidFill>
          <a:ln w="0">
            <a:solidFill>
              <a:srgbClr val="F2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A9E7B156-CD5B-5CD0-8F90-47975A1A70A8}"/>
              </a:ext>
            </a:extLst>
          </p:cNvPr>
          <p:cNvSpPr txBox="1"/>
          <p:nvPr/>
        </p:nvSpPr>
        <p:spPr>
          <a:xfrm>
            <a:off x="355600" y="1041400"/>
            <a:ext cx="6146800" cy="353943"/>
          </a:xfrm>
          <a:prstGeom prst="rect">
            <a:avLst/>
          </a:prstGeom>
          <a:noFill/>
        </p:spPr>
        <p:txBody>
          <a:bodyPr vert="horz" wrap="square" lIns="63500" tIns="38100" rIns="63500" bIns="38100" rtlCol="0">
            <a:spAutoFit/>
          </a:bodyPr>
          <a:lstStyle/>
          <a:p>
            <a:r>
              <a:rPr lang="en-AU" b="1">
                <a:solidFill>
                  <a:srgbClr val="081F2F"/>
                </a:solidFill>
                <a:latin typeface="Arial Narrow" panose="020B0606020202030204" pitchFamily="34" charset="0"/>
              </a:rPr>
              <a:t>TUNING AND REDESIGN</a:t>
            </a:r>
          </a:p>
        </p:txBody>
      </p:sp>
      <p:sp>
        <p:nvSpPr>
          <p:cNvPr id="10" name="TextBox 9">
            <a:extLst>
              <a:ext uri="{FF2B5EF4-FFF2-40B4-BE49-F238E27FC236}">
                <a16:creationId xmlns:a16="http://schemas.microsoft.com/office/drawing/2014/main" id="{0D335CB1-8D32-3278-3C68-421C589872D7}"/>
              </a:ext>
            </a:extLst>
          </p:cNvPr>
          <p:cNvSpPr txBox="1"/>
          <p:nvPr/>
        </p:nvSpPr>
        <p:spPr>
          <a:xfrm>
            <a:off x="355600" y="1409700"/>
            <a:ext cx="6146800" cy="200055"/>
          </a:xfrm>
          <a:prstGeom prst="rect">
            <a:avLst/>
          </a:prstGeom>
          <a:noFill/>
        </p:spPr>
        <p:txBody>
          <a:bodyPr vert="horz" wrap="square" lIns="63500" tIns="38100" rIns="63500" bIns="38100" rtlCol="0">
            <a:spAutoFit/>
          </a:bodyPr>
          <a:lstStyle/>
          <a:p>
            <a:r>
              <a:rPr lang="en-GB" sz="800">
                <a:solidFill>
                  <a:srgbClr val="5B6B7A"/>
                </a:solidFill>
                <a:latin typeface="Arial" panose="020B0604020202020204" pitchFamily="34" charset="0"/>
              </a:rPr>
              <a:t>A strong answer analyses what limited performance and proposes a specific improvement.</a:t>
            </a:r>
            <a:endParaRPr lang="en-AU" sz="800">
              <a:solidFill>
                <a:srgbClr val="5B6B7A"/>
              </a:solidFill>
              <a:latin typeface="Arial" panose="020B0604020202020204" pitchFamily="34" charset="0"/>
            </a:endParaRPr>
          </a:p>
        </p:txBody>
      </p:sp>
      <p:pic>
        <p:nvPicPr>
          <p:cNvPr id="12" name="Picture 11">
            <a:extLst>
              <a:ext uri="{FF2B5EF4-FFF2-40B4-BE49-F238E27FC236}">
                <a16:creationId xmlns:a16="http://schemas.microsoft.com/office/drawing/2014/main" id="{43CE2457-9CA7-F69C-29FD-2A35D4303D6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38867" y="1752600"/>
            <a:ext cx="2980267" cy="2235200"/>
          </a:xfrm>
          <a:prstGeom prst="rect">
            <a:avLst/>
          </a:prstGeom>
        </p:spPr>
      </p:pic>
      <p:sp>
        <p:nvSpPr>
          <p:cNvPr id="13" name="Rectangle 12">
            <a:extLst>
              <a:ext uri="{FF2B5EF4-FFF2-40B4-BE49-F238E27FC236}">
                <a16:creationId xmlns:a16="http://schemas.microsoft.com/office/drawing/2014/main" id="{1A5E87CB-67EA-3F9B-7DD4-8349217505D1}"/>
              </a:ext>
            </a:extLst>
          </p:cNvPr>
          <p:cNvSpPr/>
          <p:nvPr/>
        </p:nvSpPr>
        <p:spPr>
          <a:xfrm>
            <a:off x="355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13C05E48-562E-BB9E-0876-C67538428DD4}"/>
              </a:ext>
            </a:extLst>
          </p:cNvPr>
          <p:cNvSpPr/>
          <p:nvPr/>
        </p:nvSpPr>
        <p:spPr>
          <a:xfrm>
            <a:off x="355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8317CCB9-49C7-7C37-FA49-B354BD887BCE}"/>
              </a:ext>
            </a:extLst>
          </p:cNvPr>
          <p:cNvSpPr txBox="1"/>
          <p:nvPr/>
        </p:nvSpPr>
        <p:spPr>
          <a:xfrm>
            <a:off x="381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1</a:t>
            </a:r>
          </a:p>
        </p:txBody>
      </p:sp>
      <p:sp>
        <p:nvSpPr>
          <p:cNvPr id="16" name="TextBox 15">
            <a:extLst>
              <a:ext uri="{FF2B5EF4-FFF2-40B4-BE49-F238E27FC236}">
                <a16:creationId xmlns:a16="http://schemas.microsoft.com/office/drawing/2014/main" id="{8BC3D1D6-AAC2-454C-1FA5-272AA0C3EE0A}"/>
              </a:ext>
            </a:extLst>
          </p:cNvPr>
          <p:cNvSpPr txBox="1"/>
          <p:nvPr/>
        </p:nvSpPr>
        <p:spPr>
          <a:xfrm>
            <a:off x="863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Find the limit</a:t>
            </a:r>
          </a:p>
        </p:txBody>
      </p:sp>
      <p:sp>
        <p:nvSpPr>
          <p:cNvPr id="17" name="TextBox 16">
            <a:extLst>
              <a:ext uri="{FF2B5EF4-FFF2-40B4-BE49-F238E27FC236}">
                <a16:creationId xmlns:a16="http://schemas.microsoft.com/office/drawing/2014/main" id="{FD4800AE-162B-2A84-FC3B-D0AC07B26D17}"/>
              </a:ext>
            </a:extLst>
          </p:cNvPr>
          <p:cNvSpPr txBox="1"/>
          <p:nvPr/>
        </p:nvSpPr>
        <p:spPr>
          <a:xfrm>
            <a:off x="457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Leaks, air or friction</a:t>
            </a:r>
          </a:p>
          <a:p>
            <a:r>
              <a:rPr lang="en-GB" sz="800">
                <a:solidFill>
                  <a:srgbClr val="081F2F"/>
                </a:solidFill>
                <a:latin typeface="Arial" panose="020B0604020202020204" pitchFamily="34" charset="0"/>
              </a:rPr>
              <a:t>- Flex in arms or mounts</a:t>
            </a:r>
          </a:p>
          <a:p>
            <a:r>
              <a:rPr lang="en-GB" sz="800">
                <a:solidFill>
                  <a:srgbClr val="081F2F"/>
                </a:solidFill>
                <a:latin typeface="Arial" panose="020B0604020202020204" pitchFamily="34" charset="0"/>
              </a:rPr>
              <a:t>- Binding at pivots</a:t>
            </a:r>
            <a:endParaRPr lang="en-AU" sz="800">
              <a:solidFill>
                <a:srgbClr val="081F2F"/>
              </a:solidFill>
              <a:latin typeface="Arial" panose="020B0604020202020204" pitchFamily="34" charset="0"/>
            </a:endParaRPr>
          </a:p>
        </p:txBody>
      </p:sp>
      <p:sp>
        <p:nvSpPr>
          <p:cNvPr id="18" name="Rectangle 17">
            <a:extLst>
              <a:ext uri="{FF2B5EF4-FFF2-40B4-BE49-F238E27FC236}">
                <a16:creationId xmlns:a16="http://schemas.microsoft.com/office/drawing/2014/main" id="{F1ECA6F7-6B48-7772-F3BE-F06D20534707}"/>
              </a:ext>
            </a:extLst>
          </p:cNvPr>
          <p:cNvSpPr/>
          <p:nvPr/>
        </p:nvSpPr>
        <p:spPr>
          <a:xfrm>
            <a:off x="24511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991C582B-4CF1-1240-ED3E-41C9BDC64BBF}"/>
              </a:ext>
            </a:extLst>
          </p:cNvPr>
          <p:cNvSpPr/>
          <p:nvPr/>
        </p:nvSpPr>
        <p:spPr>
          <a:xfrm>
            <a:off x="24511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411EF537-B30F-AC1D-18F2-38B8BA069ABF}"/>
              </a:ext>
            </a:extLst>
          </p:cNvPr>
          <p:cNvSpPr txBox="1"/>
          <p:nvPr/>
        </p:nvSpPr>
        <p:spPr>
          <a:xfrm>
            <a:off x="24765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2</a:t>
            </a:r>
          </a:p>
        </p:txBody>
      </p:sp>
      <p:sp>
        <p:nvSpPr>
          <p:cNvPr id="21" name="TextBox 20">
            <a:extLst>
              <a:ext uri="{FF2B5EF4-FFF2-40B4-BE49-F238E27FC236}">
                <a16:creationId xmlns:a16="http://schemas.microsoft.com/office/drawing/2014/main" id="{F3A6AAB7-E162-0624-EF72-BFBD2559C3CD}"/>
              </a:ext>
            </a:extLst>
          </p:cNvPr>
          <p:cNvSpPr txBox="1"/>
          <p:nvPr/>
        </p:nvSpPr>
        <p:spPr>
          <a:xfrm>
            <a:off x="29591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Make one change</a:t>
            </a:r>
          </a:p>
        </p:txBody>
      </p:sp>
      <p:sp>
        <p:nvSpPr>
          <p:cNvPr id="22" name="TextBox 21">
            <a:extLst>
              <a:ext uri="{FF2B5EF4-FFF2-40B4-BE49-F238E27FC236}">
                <a16:creationId xmlns:a16="http://schemas.microsoft.com/office/drawing/2014/main" id="{E3CF82A1-3499-737A-F8B9-0F5212723D21}"/>
              </a:ext>
            </a:extLst>
          </p:cNvPr>
          <p:cNvSpPr txBox="1"/>
          <p:nvPr/>
        </p:nvSpPr>
        <p:spPr>
          <a:xfrm>
            <a:off x="25527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Adjust mount position</a:t>
            </a:r>
          </a:p>
          <a:p>
            <a:r>
              <a:rPr lang="en-GB" sz="800">
                <a:solidFill>
                  <a:srgbClr val="081F2F"/>
                </a:solidFill>
                <a:latin typeface="Arial" panose="020B0604020202020204" pitchFamily="34" charset="0"/>
              </a:rPr>
              <a:t>- Tighten or align a pivot</a:t>
            </a:r>
          </a:p>
          <a:p>
            <a:r>
              <a:rPr lang="en-GB" sz="800">
                <a:solidFill>
                  <a:srgbClr val="081F2F"/>
                </a:solidFill>
                <a:latin typeface="Arial" panose="020B0604020202020204" pitchFamily="34" charset="0"/>
              </a:rPr>
              <a:t>- Improve hose route or seal</a:t>
            </a:r>
            <a:endParaRPr lang="en-AU" sz="800">
              <a:solidFill>
                <a:srgbClr val="081F2F"/>
              </a:solidFill>
              <a:latin typeface="Arial" panose="020B0604020202020204" pitchFamily="34" charset="0"/>
            </a:endParaRPr>
          </a:p>
        </p:txBody>
      </p:sp>
      <p:sp>
        <p:nvSpPr>
          <p:cNvPr id="23" name="Rectangle 22">
            <a:extLst>
              <a:ext uri="{FF2B5EF4-FFF2-40B4-BE49-F238E27FC236}">
                <a16:creationId xmlns:a16="http://schemas.microsoft.com/office/drawing/2014/main" id="{AAE194BC-8EF0-CE65-5C41-BB586BC6A588}"/>
              </a:ext>
            </a:extLst>
          </p:cNvPr>
          <p:cNvSpPr/>
          <p:nvPr/>
        </p:nvSpPr>
        <p:spPr>
          <a:xfrm>
            <a:off x="4546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2500AA48-6DCF-4D0A-5299-423BD9EA6577}"/>
              </a:ext>
            </a:extLst>
          </p:cNvPr>
          <p:cNvSpPr/>
          <p:nvPr/>
        </p:nvSpPr>
        <p:spPr>
          <a:xfrm>
            <a:off x="4546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A8CD2F47-ED0D-1ADB-DC4A-362E3014DB26}"/>
              </a:ext>
            </a:extLst>
          </p:cNvPr>
          <p:cNvSpPr txBox="1"/>
          <p:nvPr/>
        </p:nvSpPr>
        <p:spPr>
          <a:xfrm>
            <a:off x="4572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3</a:t>
            </a:r>
          </a:p>
        </p:txBody>
      </p:sp>
      <p:sp>
        <p:nvSpPr>
          <p:cNvPr id="26" name="TextBox 25">
            <a:extLst>
              <a:ext uri="{FF2B5EF4-FFF2-40B4-BE49-F238E27FC236}">
                <a16:creationId xmlns:a16="http://schemas.microsoft.com/office/drawing/2014/main" id="{CBE49027-163D-4E31-24A7-76EE6C3A55B5}"/>
              </a:ext>
            </a:extLst>
          </p:cNvPr>
          <p:cNvSpPr txBox="1"/>
          <p:nvPr/>
        </p:nvSpPr>
        <p:spPr>
          <a:xfrm>
            <a:off x="5054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Retest and explain</a:t>
            </a:r>
          </a:p>
        </p:txBody>
      </p:sp>
      <p:sp>
        <p:nvSpPr>
          <p:cNvPr id="27" name="TextBox 26">
            <a:extLst>
              <a:ext uri="{FF2B5EF4-FFF2-40B4-BE49-F238E27FC236}">
                <a16:creationId xmlns:a16="http://schemas.microsoft.com/office/drawing/2014/main" id="{30C37588-41DD-2970-1D1D-1CDD361378B8}"/>
              </a:ext>
            </a:extLst>
          </p:cNvPr>
          <p:cNvSpPr txBox="1"/>
          <p:nvPr/>
        </p:nvSpPr>
        <p:spPr>
          <a:xfrm>
            <a:off x="4648200" y="4622800"/>
            <a:ext cx="1752600" cy="569387"/>
          </a:xfrm>
          <a:prstGeom prst="rect">
            <a:avLst/>
          </a:prstGeom>
          <a:noFill/>
        </p:spPr>
        <p:txBody>
          <a:bodyPr vert="horz" wrap="square" lIns="63500" tIns="38100" rIns="63500" bIns="38100" rtlCol="0">
            <a:spAutoFit/>
          </a:bodyPr>
          <a:lstStyle/>
          <a:p>
            <a:r>
              <a:rPr lang="en-AU" sz="800">
                <a:solidFill>
                  <a:srgbClr val="081F2F"/>
                </a:solidFill>
                <a:latin typeface="Arial" panose="020B0604020202020204" pitchFamily="34" charset="0"/>
              </a:rPr>
              <a:t>- Failure Point</a:t>
            </a:r>
          </a:p>
          <a:p>
            <a:r>
              <a:rPr lang="en-AU" sz="800">
                <a:solidFill>
                  <a:srgbClr val="081F2F"/>
                </a:solidFill>
                <a:latin typeface="Arial" panose="020B0604020202020204" pitchFamily="34" charset="0"/>
              </a:rPr>
              <a:t>- Adjustment</a:t>
            </a:r>
          </a:p>
          <a:p>
            <a:r>
              <a:rPr lang="en-AU" sz="800">
                <a:solidFill>
                  <a:srgbClr val="081F2F"/>
                </a:solidFill>
                <a:latin typeface="Arial" panose="020B0604020202020204" pitchFamily="34" charset="0"/>
              </a:rPr>
              <a:t>- Retest</a:t>
            </a:r>
          </a:p>
          <a:p>
            <a:r>
              <a:rPr lang="en-AU" sz="800">
                <a:solidFill>
                  <a:srgbClr val="081F2F"/>
                </a:solidFill>
                <a:latin typeface="Arial" panose="020B0604020202020204" pitchFamily="34" charset="0"/>
              </a:rPr>
              <a:t>- Improvement Sketch</a:t>
            </a:r>
          </a:p>
        </p:txBody>
      </p:sp>
      <p:sp>
        <p:nvSpPr>
          <p:cNvPr id="28" name="Rectangle 27">
            <a:extLst>
              <a:ext uri="{FF2B5EF4-FFF2-40B4-BE49-F238E27FC236}">
                <a16:creationId xmlns:a16="http://schemas.microsoft.com/office/drawing/2014/main" id="{8EBD587F-C9D5-1FFD-A508-1E27D1C304D8}"/>
              </a:ext>
            </a:extLst>
          </p:cNvPr>
          <p:cNvSpPr/>
          <p:nvPr/>
        </p:nvSpPr>
        <p:spPr>
          <a:xfrm>
            <a:off x="355600" y="7404100"/>
            <a:ext cx="6146800" cy="1473200"/>
          </a:xfrm>
          <a:prstGeom prst="rect">
            <a:avLst/>
          </a:prstGeom>
          <a:solidFill>
            <a:srgbClr val="FFF4BF"/>
          </a:solidFill>
          <a:ln w="1778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596403C9-B031-96DD-067D-AAA2592A9459}"/>
              </a:ext>
            </a:extLst>
          </p:cNvPr>
          <p:cNvSpPr/>
          <p:nvPr/>
        </p:nvSpPr>
        <p:spPr>
          <a:xfrm>
            <a:off x="520700" y="7670800"/>
            <a:ext cx="469900" cy="469900"/>
          </a:xfrm>
          <a:prstGeom prst="ellipse">
            <a:avLst/>
          </a:prstGeom>
          <a:solidFill>
            <a:srgbClr val="F2C700"/>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B8CFADB2-CC1A-D58E-8554-46FAE2CA44E6}"/>
              </a:ext>
            </a:extLst>
          </p:cNvPr>
          <p:cNvSpPr txBox="1"/>
          <p:nvPr/>
        </p:nvSpPr>
        <p:spPr>
          <a:xfrm>
            <a:off x="571500" y="7747000"/>
            <a:ext cx="3556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OK</a:t>
            </a:r>
          </a:p>
        </p:txBody>
      </p:sp>
      <p:sp>
        <p:nvSpPr>
          <p:cNvPr id="31" name="TextBox 30">
            <a:extLst>
              <a:ext uri="{FF2B5EF4-FFF2-40B4-BE49-F238E27FC236}">
                <a16:creationId xmlns:a16="http://schemas.microsoft.com/office/drawing/2014/main" id="{93588F0F-8AC9-9D1C-BDC0-7D2F4AC0915F}"/>
              </a:ext>
            </a:extLst>
          </p:cNvPr>
          <p:cNvSpPr txBox="1"/>
          <p:nvPr/>
        </p:nvSpPr>
        <p:spPr>
          <a:xfrm>
            <a:off x="1155700" y="7543800"/>
            <a:ext cx="4953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BEST PRACTICE STUDENT RESPONSE</a:t>
            </a:r>
          </a:p>
        </p:txBody>
      </p:sp>
      <p:sp>
        <p:nvSpPr>
          <p:cNvPr id="32" name="TextBox 31">
            <a:extLst>
              <a:ext uri="{FF2B5EF4-FFF2-40B4-BE49-F238E27FC236}">
                <a16:creationId xmlns:a16="http://schemas.microsoft.com/office/drawing/2014/main" id="{92FCF54F-E88B-1595-F1FA-BC38B915F934}"/>
              </a:ext>
            </a:extLst>
          </p:cNvPr>
          <p:cNvSpPr txBox="1"/>
          <p:nvPr/>
        </p:nvSpPr>
        <p:spPr>
          <a:xfrm>
            <a:off x="1155700" y="7835900"/>
            <a:ext cx="49530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The first limit was flex in the arm and friction at one pivot. This reduced smooth movement and lifting control. We improved it by realigning the pivot and would strengthen the arm next time. The retest showed smoother movement but still some loss from friction.</a:t>
            </a:r>
            <a:endParaRPr lang="en-AU" sz="800">
              <a:solidFill>
                <a:srgbClr val="081F2F"/>
              </a:solidFill>
              <a:latin typeface="Arial" panose="020B0604020202020204" pitchFamily="34" charset="0"/>
            </a:endParaRPr>
          </a:p>
        </p:txBody>
      </p:sp>
      <p:sp>
        <p:nvSpPr>
          <p:cNvPr id="33" name="Rectangle 32">
            <a:extLst>
              <a:ext uri="{FF2B5EF4-FFF2-40B4-BE49-F238E27FC236}">
                <a16:creationId xmlns:a16="http://schemas.microsoft.com/office/drawing/2014/main" id="{0607ACA7-FF05-882C-C281-E1B74222ABCC}"/>
              </a:ext>
            </a:extLst>
          </p:cNvPr>
          <p:cNvSpPr/>
          <p:nvPr/>
        </p:nvSpPr>
        <p:spPr>
          <a:xfrm>
            <a:off x="355600" y="9448800"/>
            <a:ext cx="6146800" cy="533400"/>
          </a:xfrm>
          <a:prstGeom prst="rect">
            <a:avLst/>
          </a:prstGeom>
          <a:solidFill>
            <a:srgbClr val="FFFFFF"/>
          </a:solidFill>
          <a:ln w="1397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42B2E2BB-4D48-D693-15B8-8A238A5E8C5A}"/>
              </a:ext>
            </a:extLst>
          </p:cNvPr>
          <p:cNvSpPr txBox="1"/>
          <p:nvPr/>
        </p:nvSpPr>
        <p:spPr>
          <a:xfrm>
            <a:off x="469900" y="9499600"/>
            <a:ext cx="1168400" cy="323165"/>
          </a:xfrm>
          <a:prstGeom prst="rect">
            <a:avLst/>
          </a:prstGeom>
          <a:noFill/>
        </p:spPr>
        <p:txBody>
          <a:bodyPr vert="horz" wrap="square" lIns="63500" tIns="38100" rIns="63500" bIns="38100" rtlCol="0">
            <a:spAutoFit/>
          </a:bodyPr>
          <a:lstStyle/>
          <a:p>
            <a:r>
              <a:rPr lang="en-AU" sz="800" b="1">
                <a:solidFill>
                  <a:srgbClr val="081F2F"/>
                </a:solidFill>
                <a:latin typeface="Arial" panose="020B0604020202020204" pitchFamily="34" charset="0"/>
              </a:rPr>
              <a:t>BEFORE YOU TICK DONE</a:t>
            </a:r>
          </a:p>
        </p:txBody>
      </p:sp>
      <p:sp>
        <p:nvSpPr>
          <p:cNvPr id="35" name="Rectangle 34">
            <a:extLst>
              <a:ext uri="{FF2B5EF4-FFF2-40B4-BE49-F238E27FC236}">
                <a16:creationId xmlns:a16="http://schemas.microsoft.com/office/drawing/2014/main" id="{255DEB9E-2870-B85A-3E42-DF82CEB957E3}"/>
              </a:ext>
            </a:extLst>
          </p:cNvPr>
          <p:cNvSpPr/>
          <p:nvPr/>
        </p:nvSpPr>
        <p:spPr>
          <a:xfrm>
            <a:off x="17399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a:extLst>
              <a:ext uri="{FF2B5EF4-FFF2-40B4-BE49-F238E27FC236}">
                <a16:creationId xmlns:a16="http://schemas.microsoft.com/office/drawing/2014/main" id="{7ECD1101-A71E-88A6-149D-F5B74BE6DEE2}"/>
              </a:ext>
            </a:extLst>
          </p:cNvPr>
          <p:cNvSpPr txBox="1"/>
          <p:nvPr/>
        </p:nvSpPr>
        <p:spPr>
          <a:xfrm>
            <a:off x="18923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Limit named</a:t>
            </a:r>
          </a:p>
        </p:txBody>
      </p:sp>
      <p:sp>
        <p:nvSpPr>
          <p:cNvPr id="37" name="Rectangle 36">
            <a:extLst>
              <a:ext uri="{FF2B5EF4-FFF2-40B4-BE49-F238E27FC236}">
                <a16:creationId xmlns:a16="http://schemas.microsoft.com/office/drawing/2014/main" id="{4B508796-A677-655B-B577-81281B88CE56}"/>
              </a:ext>
            </a:extLst>
          </p:cNvPr>
          <p:cNvSpPr/>
          <p:nvPr/>
        </p:nvSpPr>
        <p:spPr>
          <a:xfrm>
            <a:off x="32385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16957913-CAFB-A563-7253-D8FC1C305584}"/>
              </a:ext>
            </a:extLst>
          </p:cNvPr>
          <p:cNvSpPr txBox="1"/>
          <p:nvPr/>
        </p:nvSpPr>
        <p:spPr>
          <a:xfrm>
            <a:off x="33909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Change shown</a:t>
            </a:r>
          </a:p>
        </p:txBody>
      </p:sp>
      <p:sp>
        <p:nvSpPr>
          <p:cNvPr id="39" name="Rectangle 38">
            <a:extLst>
              <a:ext uri="{FF2B5EF4-FFF2-40B4-BE49-F238E27FC236}">
                <a16:creationId xmlns:a16="http://schemas.microsoft.com/office/drawing/2014/main" id="{769E341F-4874-64B8-FCA0-BFC456752C18}"/>
              </a:ext>
            </a:extLst>
          </p:cNvPr>
          <p:cNvSpPr/>
          <p:nvPr/>
        </p:nvSpPr>
        <p:spPr>
          <a:xfrm>
            <a:off x="47371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2326B11F-E119-7F92-2A90-E0F91F027D15}"/>
              </a:ext>
            </a:extLst>
          </p:cNvPr>
          <p:cNvSpPr txBox="1"/>
          <p:nvPr/>
        </p:nvSpPr>
        <p:spPr>
          <a:xfrm>
            <a:off x="48895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Trade-off explained</a:t>
            </a:r>
          </a:p>
        </p:txBody>
      </p:sp>
    </p:spTree>
    <p:extLst>
      <p:ext uri="{BB962C8B-B14F-4D97-AF65-F5344CB8AC3E}">
        <p14:creationId xmlns:p14="http://schemas.microsoft.com/office/powerpoint/2010/main" val="2287399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B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7E1BB2-7888-5F0A-E5DC-9BA94EB07F03}"/>
              </a:ext>
            </a:extLst>
          </p:cNvPr>
          <p:cNvSpPr/>
          <p:nvPr/>
        </p:nvSpPr>
        <p:spPr>
          <a:xfrm>
            <a:off x="0" y="0"/>
            <a:ext cx="6858000" cy="812800"/>
          </a:xfrm>
          <a:prstGeom prst="rect">
            <a:avLst/>
          </a:prstGeom>
          <a:solidFill>
            <a:srgbClr val="081F2F"/>
          </a:solidFill>
          <a:ln w="0">
            <a:solidFill>
              <a:srgbClr val="081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56534640-CD5B-78AA-E0D3-F03B71FD2EA4}"/>
              </a:ext>
            </a:extLst>
          </p:cNvPr>
          <p:cNvSpPr/>
          <p:nvPr/>
        </p:nvSpPr>
        <p:spPr>
          <a:xfrm>
            <a:off x="355600" y="228600"/>
            <a:ext cx="889000" cy="228600"/>
          </a:xfrm>
          <a:prstGeom prst="rect">
            <a:avLst/>
          </a:prstGeom>
          <a:solidFill>
            <a:srgbClr val="0B2B3B"/>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3143A93B-5630-2E4B-0FD1-538AC10FD24A}"/>
              </a:ext>
            </a:extLst>
          </p:cNvPr>
          <p:cNvSpPr txBox="1"/>
          <p:nvPr/>
        </p:nvSpPr>
        <p:spPr>
          <a:xfrm>
            <a:off x="431800" y="254000"/>
            <a:ext cx="736600" cy="184666"/>
          </a:xfrm>
          <a:prstGeom prst="rect">
            <a:avLst/>
          </a:prstGeom>
          <a:noFill/>
        </p:spPr>
        <p:txBody>
          <a:bodyPr vert="horz" wrap="square" lIns="63500" tIns="38100" rIns="63500" bIns="38100" rtlCol="0">
            <a:spAutoFit/>
          </a:bodyPr>
          <a:lstStyle/>
          <a:p>
            <a:r>
              <a:rPr lang="en-AU" sz="700" b="1">
                <a:solidFill>
                  <a:srgbClr val="FFFFFF"/>
                </a:solidFill>
                <a:latin typeface="Arial" panose="020B0604020202020204" pitchFamily="34" charset="0"/>
              </a:rPr>
              <a:t>SECTION 12</a:t>
            </a:r>
          </a:p>
        </p:txBody>
      </p:sp>
      <p:sp>
        <p:nvSpPr>
          <p:cNvPr id="5" name="TextBox 4">
            <a:extLst>
              <a:ext uri="{FF2B5EF4-FFF2-40B4-BE49-F238E27FC236}">
                <a16:creationId xmlns:a16="http://schemas.microsoft.com/office/drawing/2014/main" id="{ADD18D7E-3DBB-E075-FA62-8963F43BB7DD}"/>
              </a:ext>
            </a:extLst>
          </p:cNvPr>
          <p:cNvSpPr txBox="1"/>
          <p:nvPr/>
        </p:nvSpPr>
        <p:spPr>
          <a:xfrm>
            <a:off x="1422400" y="165100"/>
            <a:ext cx="3429000" cy="307777"/>
          </a:xfrm>
          <a:prstGeom prst="rect">
            <a:avLst/>
          </a:prstGeom>
          <a:noFill/>
        </p:spPr>
        <p:txBody>
          <a:bodyPr vert="horz" wrap="square" lIns="63500" tIns="38100" rIns="63500" bIns="38100" rtlCol="0">
            <a:spAutoFit/>
          </a:bodyPr>
          <a:lstStyle/>
          <a:p>
            <a:r>
              <a:rPr lang="en-AU" sz="1500" b="1">
                <a:solidFill>
                  <a:srgbClr val="FFFFFF"/>
                </a:solidFill>
                <a:latin typeface="Arial Narrow" panose="020B0606020202030204" pitchFamily="34" charset="0"/>
              </a:rPr>
              <a:t>BEST PRACTICE ANSWER</a:t>
            </a:r>
          </a:p>
        </p:txBody>
      </p:sp>
      <p:sp>
        <p:nvSpPr>
          <p:cNvPr id="6" name="Rectangle 5">
            <a:extLst>
              <a:ext uri="{FF2B5EF4-FFF2-40B4-BE49-F238E27FC236}">
                <a16:creationId xmlns:a16="http://schemas.microsoft.com/office/drawing/2014/main" id="{32FA6E08-7C3C-75F4-1C5F-B1950BDEBDBB}"/>
              </a:ext>
            </a:extLst>
          </p:cNvPr>
          <p:cNvSpPr/>
          <p:nvPr/>
        </p:nvSpPr>
        <p:spPr>
          <a:xfrm>
            <a:off x="5207000" y="165100"/>
            <a:ext cx="1168400" cy="3556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33229464-EBA4-3899-874C-74582B82A2C4}"/>
              </a:ext>
            </a:extLst>
          </p:cNvPr>
          <p:cNvSpPr txBox="1"/>
          <p:nvPr/>
        </p:nvSpPr>
        <p:spPr>
          <a:xfrm>
            <a:off x="5257800" y="228600"/>
            <a:ext cx="1066800" cy="169277"/>
          </a:xfrm>
          <a:prstGeom prst="rect">
            <a:avLst/>
          </a:prstGeom>
          <a:noFill/>
        </p:spPr>
        <p:txBody>
          <a:bodyPr vert="horz" wrap="square" lIns="63500" tIns="38100" rIns="63500" bIns="38100" rtlCol="0">
            <a:spAutoFit/>
          </a:bodyPr>
          <a:lstStyle/>
          <a:p>
            <a:r>
              <a:rPr lang="en-AU" sz="600" b="1">
                <a:solidFill>
                  <a:srgbClr val="081F2F"/>
                </a:solidFill>
                <a:latin typeface="Arial" panose="020B0604020202020204" pitchFamily="34" charset="0"/>
              </a:rPr>
              <a:t>YEAR 9 ENGINEERING</a:t>
            </a:r>
          </a:p>
        </p:txBody>
      </p:sp>
      <p:sp>
        <p:nvSpPr>
          <p:cNvPr id="8" name="Rectangle 7">
            <a:extLst>
              <a:ext uri="{FF2B5EF4-FFF2-40B4-BE49-F238E27FC236}">
                <a16:creationId xmlns:a16="http://schemas.microsoft.com/office/drawing/2014/main" id="{6E35C4D5-6B06-4111-3FFC-C3A6318014C1}"/>
              </a:ext>
            </a:extLst>
          </p:cNvPr>
          <p:cNvSpPr/>
          <p:nvPr/>
        </p:nvSpPr>
        <p:spPr>
          <a:xfrm>
            <a:off x="0" y="812800"/>
            <a:ext cx="6858000" cy="76200"/>
          </a:xfrm>
          <a:prstGeom prst="rect">
            <a:avLst/>
          </a:prstGeom>
          <a:solidFill>
            <a:srgbClr val="F2C700"/>
          </a:solidFill>
          <a:ln w="0">
            <a:solidFill>
              <a:srgbClr val="F2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A6F3AC0D-DD8A-9AAD-62B0-6EA04BC4F198}"/>
              </a:ext>
            </a:extLst>
          </p:cNvPr>
          <p:cNvSpPr txBox="1"/>
          <p:nvPr/>
        </p:nvSpPr>
        <p:spPr>
          <a:xfrm>
            <a:off x="355600" y="1041400"/>
            <a:ext cx="6146800" cy="353943"/>
          </a:xfrm>
          <a:prstGeom prst="rect">
            <a:avLst/>
          </a:prstGeom>
          <a:noFill/>
        </p:spPr>
        <p:txBody>
          <a:bodyPr vert="horz" wrap="square" lIns="63500" tIns="38100" rIns="63500" bIns="38100" rtlCol="0">
            <a:spAutoFit/>
          </a:bodyPr>
          <a:lstStyle/>
          <a:p>
            <a:r>
              <a:rPr lang="en-AU" b="1">
                <a:solidFill>
                  <a:srgbClr val="081F2F"/>
                </a:solidFill>
                <a:latin typeface="Arial Narrow" panose="020B0606020202030204" pitchFamily="34" charset="0"/>
              </a:rPr>
              <a:t>FINAL EVALUATION</a:t>
            </a:r>
          </a:p>
        </p:txBody>
      </p:sp>
      <p:sp>
        <p:nvSpPr>
          <p:cNvPr id="10" name="TextBox 9">
            <a:extLst>
              <a:ext uri="{FF2B5EF4-FFF2-40B4-BE49-F238E27FC236}">
                <a16:creationId xmlns:a16="http://schemas.microsoft.com/office/drawing/2014/main" id="{20F00BBE-A603-D801-CE9B-62244A3903A2}"/>
              </a:ext>
            </a:extLst>
          </p:cNvPr>
          <p:cNvSpPr txBox="1"/>
          <p:nvPr/>
        </p:nvSpPr>
        <p:spPr>
          <a:xfrm>
            <a:off x="355600" y="1409700"/>
            <a:ext cx="6146800" cy="200055"/>
          </a:xfrm>
          <a:prstGeom prst="rect">
            <a:avLst/>
          </a:prstGeom>
          <a:noFill/>
        </p:spPr>
        <p:txBody>
          <a:bodyPr vert="horz" wrap="square" lIns="63500" tIns="38100" rIns="63500" bIns="38100" rtlCol="0">
            <a:spAutoFit/>
          </a:bodyPr>
          <a:lstStyle/>
          <a:p>
            <a:r>
              <a:rPr lang="en-GB" sz="800">
                <a:solidFill>
                  <a:srgbClr val="5B6B7A"/>
                </a:solidFill>
                <a:latin typeface="Arial" panose="020B0604020202020204" pitchFamily="34" charset="0"/>
              </a:rPr>
              <a:t>A strong answer makes a final judgement that links evidence, engineering theory, WHS and improvements.</a:t>
            </a:r>
            <a:endParaRPr lang="en-AU" sz="800">
              <a:solidFill>
                <a:srgbClr val="5B6B7A"/>
              </a:solidFill>
              <a:latin typeface="Arial" panose="020B0604020202020204" pitchFamily="34" charset="0"/>
            </a:endParaRPr>
          </a:p>
        </p:txBody>
      </p:sp>
      <p:pic>
        <p:nvPicPr>
          <p:cNvPr id="12" name="Picture 11">
            <a:extLst>
              <a:ext uri="{FF2B5EF4-FFF2-40B4-BE49-F238E27FC236}">
                <a16:creationId xmlns:a16="http://schemas.microsoft.com/office/drawing/2014/main" id="{4DDA9686-9611-33A6-BE6F-C575A8F0C3E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38867" y="1752600"/>
            <a:ext cx="2980267" cy="2235200"/>
          </a:xfrm>
          <a:prstGeom prst="rect">
            <a:avLst/>
          </a:prstGeom>
        </p:spPr>
      </p:pic>
      <p:sp>
        <p:nvSpPr>
          <p:cNvPr id="13" name="Rectangle 12">
            <a:extLst>
              <a:ext uri="{FF2B5EF4-FFF2-40B4-BE49-F238E27FC236}">
                <a16:creationId xmlns:a16="http://schemas.microsoft.com/office/drawing/2014/main" id="{E386D0ED-E549-C49E-EBDA-94B599A036F4}"/>
              </a:ext>
            </a:extLst>
          </p:cNvPr>
          <p:cNvSpPr/>
          <p:nvPr/>
        </p:nvSpPr>
        <p:spPr>
          <a:xfrm>
            <a:off x="355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CD83A1DA-7B69-C542-A42C-78BFC8E997A0}"/>
              </a:ext>
            </a:extLst>
          </p:cNvPr>
          <p:cNvSpPr/>
          <p:nvPr/>
        </p:nvSpPr>
        <p:spPr>
          <a:xfrm>
            <a:off x="355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CC0FA5AB-C1E0-3372-EB74-8F72F12256C5}"/>
              </a:ext>
            </a:extLst>
          </p:cNvPr>
          <p:cNvSpPr txBox="1"/>
          <p:nvPr/>
        </p:nvSpPr>
        <p:spPr>
          <a:xfrm>
            <a:off x="381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1</a:t>
            </a:r>
          </a:p>
        </p:txBody>
      </p:sp>
      <p:sp>
        <p:nvSpPr>
          <p:cNvPr id="16" name="TextBox 15">
            <a:extLst>
              <a:ext uri="{FF2B5EF4-FFF2-40B4-BE49-F238E27FC236}">
                <a16:creationId xmlns:a16="http://schemas.microsoft.com/office/drawing/2014/main" id="{F55B4E54-407F-8981-33E6-7FCCC3DDF7E7}"/>
              </a:ext>
            </a:extLst>
          </p:cNvPr>
          <p:cNvSpPr txBox="1"/>
          <p:nvPr/>
        </p:nvSpPr>
        <p:spPr>
          <a:xfrm>
            <a:off x="863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Judge success</a:t>
            </a:r>
          </a:p>
        </p:txBody>
      </p:sp>
      <p:sp>
        <p:nvSpPr>
          <p:cNvPr id="17" name="TextBox 16">
            <a:extLst>
              <a:ext uri="{FF2B5EF4-FFF2-40B4-BE49-F238E27FC236}">
                <a16:creationId xmlns:a16="http://schemas.microsoft.com/office/drawing/2014/main" id="{2AD7FB5A-8C46-6E0F-673B-A799B1126ED8}"/>
              </a:ext>
            </a:extLst>
          </p:cNvPr>
          <p:cNvSpPr txBox="1"/>
          <p:nvPr/>
        </p:nvSpPr>
        <p:spPr>
          <a:xfrm>
            <a:off x="457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What worked best</a:t>
            </a:r>
          </a:p>
          <a:p>
            <a:r>
              <a:rPr lang="en-GB" sz="800">
                <a:solidFill>
                  <a:srgbClr val="081F2F"/>
                </a:solidFill>
                <a:latin typeface="Arial" panose="020B0604020202020204" pitchFamily="34" charset="0"/>
              </a:rPr>
              <a:t>- What failed first</a:t>
            </a:r>
          </a:p>
          <a:p>
            <a:r>
              <a:rPr lang="en-GB" sz="800">
                <a:solidFill>
                  <a:srgbClr val="081F2F"/>
                </a:solidFill>
                <a:latin typeface="Arial" panose="020B0604020202020204" pitchFamily="34" charset="0"/>
              </a:rPr>
              <a:t>- Use evidence, not guesses</a:t>
            </a:r>
            <a:endParaRPr lang="en-AU" sz="800">
              <a:solidFill>
                <a:srgbClr val="081F2F"/>
              </a:solidFill>
              <a:latin typeface="Arial" panose="020B0604020202020204" pitchFamily="34" charset="0"/>
            </a:endParaRPr>
          </a:p>
        </p:txBody>
      </p:sp>
      <p:sp>
        <p:nvSpPr>
          <p:cNvPr id="18" name="Rectangle 17">
            <a:extLst>
              <a:ext uri="{FF2B5EF4-FFF2-40B4-BE49-F238E27FC236}">
                <a16:creationId xmlns:a16="http://schemas.microsoft.com/office/drawing/2014/main" id="{C91A7E3B-E73A-4CFA-37F6-B9F2755DED43}"/>
              </a:ext>
            </a:extLst>
          </p:cNvPr>
          <p:cNvSpPr/>
          <p:nvPr/>
        </p:nvSpPr>
        <p:spPr>
          <a:xfrm>
            <a:off x="24511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D6E2F010-D459-D5EA-1EAF-EE93E2D92D2E}"/>
              </a:ext>
            </a:extLst>
          </p:cNvPr>
          <p:cNvSpPr/>
          <p:nvPr/>
        </p:nvSpPr>
        <p:spPr>
          <a:xfrm>
            <a:off x="24511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42B1BABF-CD29-8FA0-F28A-962D281F7F06}"/>
              </a:ext>
            </a:extLst>
          </p:cNvPr>
          <p:cNvSpPr txBox="1"/>
          <p:nvPr/>
        </p:nvSpPr>
        <p:spPr>
          <a:xfrm>
            <a:off x="24765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2</a:t>
            </a:r>
          </a:p>
        </p:txBody>
      </p:sp>
      <p:sp>
        <p:nvSpPr>
          <p:cNvPr id="21" name="TextBox 20">
            <a:extLst>
              <a:ext uri="{FF2B5EF4-FFF2-40B4-BE49-F238E27FC236}">
                <a16:creationId xmlns:a16="http://schemas.microsoft.com/office/drawing/2014/main" id="{E2030920-68A9-8132-4263-A85D48CFD95E}"/>
              </a:ext>
            </a:extLst>
          </p:cNvPr>
          <p:cNvSpPr txBox="1"/>
          <p:nvPr/>
        </p:nvSpPr>
        <p:spPr>
          <a:xfrm>
            <a:off x="29591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Link theory</a:t>
            </a:r>
          </a:p>
        </p:txBody>
      </p:sp>
      <p:sp>
        <p:nvSpPr>
          <p:cNvPr id="22" name="TextBox 21">
            <a:extLst>
              <a:ext uri="{FF2B5EF4-FFF2-40B4-BE49-F238E27FC236}">
                <a16:creationId xmlns:a16="http://schemas.microsoft.com/office/drawing/2014/main" id="{4383437A-3026-4A1F-B7AD-17CA28C65856}"/>
              </a:ext>
            </a:extLst>
          </p:cNvPr>
          <p:cNvSpPr txBox="1"/>
          <p:nvPr/>
        </p:nvSpPr>
        <p:spPr>
          <a:xfrm>
            <a:off x="25527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Hydraulic pressure transfer</a:t>
            </a:r>
          </a:p>
          <a:p>
            <a:r>
              <a:rPr lang="en-GB" sz="800">
                <a:solidFill>
                  <a:srgbClr val="081F2F"/>
                </a:solidFill>
                <a:latin typeface="Arial" panose="020B0604020202020204" pitchFamily="34" charset="0"/>
              </a:rPr>
              <a:t>- Force-travel trade-off</a:t>
            </a:r>
          </a:p>
          <a:p>
            <a:r>
              <a:rPr lang="en-GB" sz="800">
                <a:solidFill>
                  <a:srgbClr val="081F2F"/>
                </a:solidFill>
                <a:latin typeface="Arial" panose="020B0604020202020204" pitchFamily="34" charset="0"/>
              </a:rPr>
              <a:t>- Friction, leaks and air loss</a:t>
            </a:r>
            <a:endParaRPr lang="en-AU" sz="800">
              <a:solidFill>
                <a:srgbClr val="081F2F"/>
              </a:solidFill>
              <a:latin typeface="Arial" panose="020B0604020202020204" pitchFamily="34" charset="0"/>
            </a:endParaRPr>
          </a:p>
        </p:txBody>
      </p:sp>
      <p:sp>
        <p:nvSpPr>
          <p:cNvPr id="23" name="Rectangle 22">
            <a:extLst>
              <a:ext uri="{FF2B5EF4-FFF2-40B4-BE49-F238E27FC236}">
                <a16:creationId xmlns:a16="http://schemas.microsoft.com/office/drawing/2014/main" id="{6B2B1DD3-AEF4-2C9A-E935-399BF76A5675}"/>
              </a:ext>
            </a:extLst>
          </p:cNvPr>
          <p:cNvSpPr/>
          <p:nvPr/>
        </p:nvSpPr>
        <p:spPr>
          <a:xfrm>
            <a:off x="4546600" y="4229100"/>
            <a:ext cx="1955800" cy="2667000"/>
          </a:xfrm>
          <a:prstGeom prst="rect">
            <a:avLst/>
          </a:prstGeom>
          <a:solidFill>
            <a:srgbClr val="FFFFFF"/>
          </a:solidFill>
          <a:ln w="1524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6C1AFB27-7ADC-7573-528B-A21CC3535CC0}"/>
              </a:ext>
            </a:extLst>
          </p:cNvPr>
          <p:cNvSpPr/>
          <p:nvPr/>
        </p:nvSpPr>
        <p:spPr>
          <a:xfrm>
            <a:off x="4546600" y="4229100"/>
            <a:ext cx="431800" cy="304800"/>
          </a:xfrm>
          <a:prstGeom prst="rect">
            <a:avLst/>
          </a:prstGeom>
          <a:solidFill>
            <a:srgbClr val="F2C700"/>
          </a:solidFill>
          <a:ln w="1270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B297FF82-8767-C7EA-E76E-040D96697DE8}"/>
              </a:ext>
            </a:extLst>
          </p:cNvPr>
          <p:cNvSpPr txBox="1"/>
          <p:nvPr/>
        </p:nvSpPr>
        <p:spPr>
          <a:xfrm>
            <a:off x="4572000" y="4241800"/>
            <a:ext cx="381000" cy="292388"/>
          </a:xfrm>
          <a:prstGeom prst="rect">
            <a:avLst/>
          </a:prstGeom>
          <a:noFill/>
        </p:spPr>
        <p:txBody>
          <a:bodyPr vert="horz" wrap="square" lIns="63500" tIns="38100" rIns="63500" bIns="38100" rtlCol="0">
            <a:spAutoFit/>
          </a:bodyPr>
          <a:lstStyle/>
          <a:p>
            <a:pPr algn="ctr"/>
            <a:r>
              <a:rPr lang="en-AU" sz="1400" b="1">
                <a:solidFill>
                  <a:srgbClr val="081F2F"/>
                </a:solidFill>
                <a:latin typeface="Arial" panose="020B0604020202020204" pitchFamily="34" charset="0"/>
              </a:rPr>
              <a:t>3</a:t>
            </a:r>
          </a:p>
        </p:txBody>
      </p:sp>
      <p:sp>
        <p:nvSpPr>
          <p:cNvPr id="26" name="TextBox 25">
            <a:extLst>
              <a:ext uri="{FF2B5EF4-FFF2-40B4-BE49-F238E27FC236}">
                <a16:creationId xmlns:a16="http://schemas.microsoft.com/office/drawing/2014/main" id="{2BBBEFB2-AB61-8E19-E8E4-B4F34E6869BC}"/>
              </a:ext>
            </a:extLst>
          </p:cNvPr>
          <p:cNvSpPr txBox="1"/>
          <p:nvPr/>
        </p:nvSpPr>
        <p:spPr>
          <a:xfrm>
            <a:off x="5054600" y="4267200"/>
            <a:ext cx="1397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Reflect and improve</a:t>
            </a:r>
          </a:p>
        </p:txBody>
      </p:sp>
      <p:sp>
        <p:nvSpPr>
          <p:cNvPr id="27" name="TextBox 26">
            <a:extLst>
              <a:ext uri="{FF2B5EF4-FFF2-40B4-BE49-F238E27FC236}">
                <a16:creationId xmlns:a16="http://schemas.microsoft.com/office/drawing/2014/main" id="{45BC261B-0485-8F72-7393-F1C0C898D388}"/>
              </a:ext>
            </a:extLst>
          </p:cNvPr>
          <p:cNvSpPr txBox="1"/>
          <p:nvPr/>
        </p:nvSpPr>
        <p:spPr>
          <a:xfrm>
            <a:off x="4648200" y="4622800"/>
            <a:ext cx="17526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 Name a practical improvement</a:t>
            </a:r>
          </a:p>
          <a:p>
            <a:r>
              <a:rPr lang="en-GB" sz="800">
                <a:solidFill>
                  <a:srgbClr val="081F2F"/>
                </a:solidFill>
                <a:latin typeface="Arial" panose="020B0604020202020204" pitchFamily="34" charset="0"/>
              </a:rPr>
              <a:t>- Explain why it would help</a:t>
            </a:r>
          </a:p>
          <a:p>
            <a:r>
              <a:rPr lang="en-GB" sz="800">
                <a:solidFill>
                  <a:srgbClr val="081F2F"/>
                </a:solidFill>
                <a:latin typeface="Arial" panose="020B0604020202020204" pitchFamily="34" charset="0"/>
              </a:rPr>
              <a:t>- Refer to operation video evidence</a:t>
            </a:r>
            <a:endParaRPr lang="en-AU" sz="800">
              <a:solidFill>
                <a:srgbClr val="081F2F"/>
              </a:solidFill>
              <a:latin typeface="Arial" panose="020B0604020202020204" pitchFamily="34" charset="0"/>
            </a:endParaRPr>
          </a:p>
        </p:txBody>
      </p:sp>
      <p:sp>
        <p:nvSpPr>
          <p:cNvPr id="28" name="Rectangle 27">
            <a:extLst>
              <a:ext uri="{FF2B5EF4-FFF2-40B4-BE49-F238E27FC236}">
                <a16:creationId xmlns:a16="http://schemas.microsoft.com/office/drawing/2014/main" id="{73E23874-5EF3-C3D0-38C3-B5E8CE7DC832}"/>
              </a:ext>
            </a:extLst>
          </p:cNvPr>
          <p:cNvSpPr/>
          <p:nvPr/>
        </p:nvSpPr>
        <p:spPr>
          <a:xfrm>
            <a:off x="355600" y="7404100"/>
            <a:ext cx="6146800" cy="1473200"/>
          </a:xfrm>
          <a:prstGeom prst="rect">
            <a:avLst/>
          </a:prstGeom>
          <a:solidFill>
            <a:srgbClr val="FFF4BF"/>
          </a:solidFill>
          <a:ln w="1778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2F25B885-3AFE-B4DB-91EF-BF9AFCA86697}"/>
              </a:ext>
            </a:extLst>
          </p:cNvPr>
          <p:cNvSpPr/>
          <p:nvPr/>
        </p:nvSpPr>
        <p:spPr>
          <a:xfrm>
            <a:off x="520700" y="7670800"/>
            <a:ext cx="469900" cy="469900"/>
          </a:xfrm>
          <a:prstGeom prst="ellipse">
            <a:avLst/>
          </a:prstGeom>
          <a:solidFill>
            <a:srgbClr val="F2C700"/>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E573F19B-6B03-5346-DE5B-D31667A86243}"/>
              </a:ext>
            </a:extLst>
          </p:cNvPr>
          <p:cNvSpPr txBox="1"/>
          <p:nvPr/>
        </p:nvSpPr>
        <p:spPr>
          <a:xfrm>
            <a:off x="571500" y="7747000"/>
            <a:ext cx="3556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OK</a:t>
            </a:r>
          </a:p>
        </p:txBody>
      </p:sp>
      <p:sp>
        <p:nvSpPr>
          <p:cNvPr id="31" name="TextBox 30">
            <a:extLst>
              <a:ext uri="{FF2B5EF4-FFF2-40B4-BE49-F238E27FC236}">
                <a16:creationId xmlns:a16="http://schemas.microsoft.com/office/drawing/2014/main" id="{217198D1-F078-7AA8-51F7-8E7FBB5A34BF}"/>
              </a:ext>
            </a:extLst>
          </p:cNvPr>
          <p:cNvSpPr txBox="1"/>
          <p:nvPr/>
        </p:nvSpPr>
        <p:spPr>
          <a:xfrm>
            <a:off x="1155700" y="7543800"/>
            <a:ext cx="4953000" cy="230832"/>
          </a:xfrm>
          <a:prstGeom prst="rect">
            <a:avLst/>
          </a:prstGeom>
          <a:noFill/>
        </p:spPr>
        <p:txBody>
          <a:bodyPr vert="horz" wrap="square" lIns="63500" tIns="38100" rIns="63500" bIns="38100" rtlCol="0">
            <a:spAutoFit/>
          </a:bodyPr>
          <a:lstStyle/>
          <a:p>
            <a:r>
              <a:rPr lang="en-AU" sz="1000" b="1">
                <a:solidFill>
                  <a:srgbClr val="081F2F"/>
                </a:solidFill>
                <a:latin typeface="Arial" panose="020B0604020202020204" pitchFamily="34" charset="0"/>
              </a:rPr>
              <a:t>BEST PRACTICE STUDENT RESPONSE</a:t>
            </a:r>
          </a:p>
        </p:txBody>
      </p:sp>
      <p:sp>
        <p:nvSpPr>
          <p:cNvPr id="32" name="TextBox 31">
            <a:extLst>
              <a:ext uri="{FF2B5EF4-FFF2-40B4-BE49-F238E27FC236}">
                <a16:creationId xmlns:a16="http://schemas.microsoft.com/office/drawing/2014/main" id="{5CA86852-7D33-C7E9-842C-E8B0F032BDB6}"/>
              </a:ext>
            </a:extLst>
          </p:cNvPr>
          <p:cNvSpPr txBox="1"/>
          <p:nvPr/>
        </p:nvSpPr>
        <p:spPr>
          <a:xfrm>
            <a:off x="1155700" y="7835900"/>
            <a:ext cx="4953000" cy="446276"/>
          </a:xfrm>
          <a:prstGeom prst="rect">
            <a:avLst/>
          </a:prstGeom>
          <a:noFill/>
        </p:spPr>
        <p:txBody>
          <a:bodyPr vert="horz" wrap="square" lIns="63500" tIns="38100" rIns="63500" bIns="38100" rtlCol="0">
            <a:spAutoFit/>
          </a:bodyPr>
          <a:lstStyle/>
          <a:p>
            <a:r>
              <a:rPr lang="en-GB" sz="800">
                <a:solidFill>
                  <a:srgbClr val="081F2F"/>
                </a:solidFill>
                <a:latin typeface="Arial" panose="020B0604020202020204" pitchFamily="34" charset="0"/>
              </a:rPr>
              <a:t>Overall, our digger met the brief because it produced controlled boom, dipper and bucket movement. The strongest evidence is the test data, photos and operation video. This project taught me that small leaks, air bubbles and pivot friction can strongly affect hydraulic performance.</a:t>
            </a:r>
            <a:endParaRPr lang="en-AU" sz="800">
              <a:solidFill>
                <a:srgbClr val="081F2F"/>
              </a:solidFill>
              <a:latin typeface="Arial" panose="020B0604020202020204" pitchFamily="34" charset="0"/>
            </a:endParaRPr>
          </a:p>
        </p:txBody>
      </p:sp>
      <p:sp>
        <p:nvSpPr>
          <p:cNvPr id="33" name="Rectangle 32">
            <a:extLst>
              <a:ext uri="{FF2B5EF4-FFF2-40B4-BE49-F238E27FC236}">
                <a16:creationId xmlns:a16="http://schemas.microsoft.com/office/drawing/2014/main" id="{BA661D97-14FB-A458-AD61-14001F848CD2}"/>
              </a:ext>
            </a:extLst>
          </p:cNvPr>
          <p:cNvSpPr/>
          <p:nvPr/>
        </p:nvSpPr>
        <p:spPr>
          <a:xfrm>
            <a:off x="355600" y="9448800"/>
            <a:ext cx="6146800" cy="533400"/>
          </a:xfrm>
          <a:prstGeom prst="rect">
            <a:avLst/>
          </a:prstGeom>
          <a:solidFill>
            <a:srgbClr val="FFFFFF"/>
          </a:solidFill>
          <a:ln w="13970">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EC601EFD-68AC-A10F-80A1-064854F894BE}"/>
              </a:ext>
            </a:extLst>
          </p:cNvPr>
          <p:cNvSpPr txBox="1"/>
          <p:nvPr/>
        </p:nvSpPr>
        <p:spPr>
          <a:xfrm>
            <a:off x="469900" y="9499600"/>
            <a:ext cx="1168400" cy="323165"/>
          </a:xfrm>
          <a:prstGeom prst="rect">
            <a:avLst/>
          </a:prstGeom>
          <a:noFill/>
        </p:spPr>
        <p:txBody>
          <a:bodyPr vert="horz" wrap="square" lIns="63500" tIns="38100" rIns="63500" bIns="38100" rtlCol="0">
            <a:spAutoFit/>
          </a:bodyPr>
          <a:lstStyle/>
          <a:p>
            <a:r>
              <a:rPr lang="en-AU" sz="800" b="1">
                <a:solidFill>
                  <a:srgbClr val="081F2F"/>
                </a:solidFill>
                <a:latin typeface="Arial" panose="020B0604020202020204" pitchFamily="34" charset="0"/>
              </a:rPr>
              <a:t>BEFORE YOU TICK DONE</a:t>
            </a:r>
          </a:p>
        </p:txBody>
      </p:sp>
      <p:sp>
        <p:nvSpPr>
          <p:cNvPr id="35" name="Rectangle 34">
            <a:extLst>
              <a:ext uri="{FF2B5EF4-FFF2-40B4-BE49-F238E27FC236}">
                <a16:creationId xmlns:a16="http://schemas.microsoft.com/office/drawing/2014/main" id="{EEE73DED-7567-DCF0-B4D9-87FD64BC9029}"/>
              </a:ext>
            </a:extLst>
          </p:cNvPr>
          <p:cNvSpPr/>
          <p:nvPr/>
        </p:nvSpPr>
        <p:spPr>
          <a:xfrm>
            <a:off x="17399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a:extLst>
              <a:ext uri="{FF2B5EF4-FFF2-40B4-BE49-F238E27FC236}">
                <a16:creationId xmlns:a16="http://schemas.microsoft.com/office/drawing/2014/main" id="{E5BC2134-A983-BD25-15E4-3D5BBB4BA6D5}"/>
              </a:ext>
            </a:extLst>
          </p:cNvPr>
          <p:cNvSpPr txBox="1"/>
          <p:nvPr/>
        </p:nvSpPr>
        <p:spPr>
          <a:xfrm>
            <a:off x="18923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Judgement made</a:t>
            </a:r>
          </a:p>
        </p:txBody>
      </p:sp>
      <p:sp>
        <p:nvSpPr>
          <p:cNvPr id="37" name="Rectangle 36">
            <a:extLst>
              <a:ext uri="{FF2B5EF4-FFF2-40B4-BE49-F238E27FC236}">
                <a16:creationId xmlns:a16="http://schemas.microsoft.com/office/drawing/2014/main" id="{90991F61-1543-636A-3119-357D97436D16}"/>
              </a:ext>
            </a:extLst>
          </p:cNvPr>
          <p:cNvSpPr/>
          <p:nvPr/>
        </p:nvSpPr>
        <p:spPr>
          <a:xfrm>
            <a:off x="32385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89C1F698-DF78-D401-D263-109CB2938470}"/>
              </a:ext>
            </a:extLst>
          </p:cNvPr>
          <p:cNvSpPr txBox="1"/>
          <p:nvPr/>
        </p:nvSpPr>
        <p:spPr>
          <a:xfrm>
            <a:off x="33909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Evidence linked</a:t>
            </a:r>
          </a:p>
        </p:txBody>
      </p:sp>
      <p:sp>
        <p:nvSpPr>
          <p:cNvPr id="39" name="Rectangle 38">
            <a:extLst>
              <a:ext uri="{FF2B5EF4-FFF2-40B4-BE49-F238E27FC236}">
                <a16:creationId xmlns:a16="http://schemas.microsoft.com/office/drawing/2014/main" id="{2C044BD9-B916-87EC-A928-F7EF9DE246FD}"/>
              </a:ext>
            </a:extLst>
          </p:cNvPr>
          <p:cNvSpPr/>
          <p:nvPr/>
        </p:nvSpPr>
        <p:spPr>
          <a:xfrm>
            <a:off x="4737100" y="9702800"/>
            <a:ext cx="101600" cy="101600"/>
          </a:xfrm>
          <a:prstGeom prst="rect">
            <a:avLst/>
          </a:prstGeom>
          <a:solidFill>
            <a:srgbClr val="FFFFFF"/>
          </a:solidFill>
          <a:ln>
            <a:solidFill>
              <a:srgbClr val="3150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TextBox 39">
            <a:extLst>
              <a:ext uri="{FF2B5EF4-FFF2-40B4-BE49-F238E27FC236}">
                <a16:creationId xmlns:a16="http://schemas.microsoft.com/office/drawing/2014/main" id="{D75796B8-3803-E9E2-3E1C-DBE47287BFA3}"/>
              </a:ext>
            </a:extLst>
          </p:cNvPr>
          <p:cNvSpPr txBox="1"/>
          <p:nvPr/>
        </p:nvSpPr>
        <p:spPr>
          <a:xfrm>
            <a:off x="4889500" y="9639300"/>
            <a:ext cx="1333500" cy="169277"/>
          </a:xfrm>
          <a:prstGeom prst="rect">
            <a:avLst/>
          </a:prstGeom>
          <a:noFill/>
        </p:spPr>
        <p:txBody>
          <a:bodyPr vert="horz" wrap="square" lIns="63500" tIns="38100" rIns="63500" bIns="38100" rtlCol="0">
            <a:spAutoFit/>
          </a:bodyPr>
          <a:lstStyle/>
          <a:p>
            <a:r>
              <a:rPr lang="en-AU" sz="600">
                <a:solidFill>
                  <a:srgbClr val="081F2F"/>
                </a:solidFill>
                <a:latin typeface="Arial" panose="020B0604020202020204" pitchFamily="34" charset="0"/>
              </a:rPr>
              <a:t>Improvement named</a:t>
            </a:r>
          </a:p>
        </p:txBody>
      </p:sp>
    </p:spTree>
    <p:extLst>
      <p:ext uri="{BB962C8B-B14F-4D97-AF65-F5344CB8AC3E}">
        <p14:creationId xmlns:p14="http://schemas.microsoft.com/office/powerpoint/2010/main" val="1079603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1757</Words>
  <Application>Microsoft Office PowerPoint</Application>
  <PresentationFormat>Custom</PresentationFormat>
  <Paragraphs>328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Arial Narrow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NSW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Cowell</dc:creator>
  <cp:lastModifiedBy>Steve Cowell</cp:lastModifiedBy>
  <cp:revision>1</cp:revision>
  <dcterms:created xsi:type="dcterms:W3CDTF">2026-06-11T03:02:40Z</dcterms:created>
  <dcterms:modified xsi:type="dcterms:W3CDTF">2026-06-11T03:02:40Z</dcterms:modified>
</cp:coreProperties>
</file>